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Zielgruppe: Mitschüler mit Grundlagen der objektorientierten Programmierung. Für Erklärung und Demo etwa 12–15 Minuten vorsehen; danach 15–20 Minuten Übung. Das Kaffee-Beispiel wurde für das Projekt ausgewählt. Die Präsentation erklärt das objektorientierte Decorator-Muster.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 an die Klasse: Welche Klasse bräuchten wir für Espresso mit Milch und Sirup? Danach Sahne ergänzen. Die Zahl 16 bezieht sich auf Kombinationen inklusive ohne Zusatz, ohne Berücksichtigung der Reihenfolge und ohne doppelte Zusätze. Quelle: Prinzip der Klassenexplosion bei Philipp Hauer, Decorator Pattern.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Von innen nach außen erklären: Espresso wird zuerst mit Milch und dann mit Sirup umhüllt. Der Client arbeitet weiterhin mit Getraenk. Eine Hülle kann deshalb eine weitere Hülle aufnehmen. Quelle: Refactoring.Guru, Decorator in Java; Philipp Hauer, Beschreibung.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Getraenk ist ein Interface. Sowohl die Grundgetränke als auch die Dekorierer implementieren es. Die Rolle Decorator wird durch eine abstrakte Klasse umgesetzt. Im Java-Projekt enthalten die konkreten Dekorierer nur ihre Konfiguration im Konstruktor. Quelle: README.md und src/.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Vereinfachte Klassenstruktur, kein vollständiger UML-Export. Gestrichelte Pfeile: Implementierung des Interface. Linien der konkreten Zusätze zum Dekorierer: Vererbung. Der Dekorierer hält zusätzlich eine Referenz auf ein beliebiges Getraenk, also auch auf einen anderen Dekorierer. Das ausführliche, bearbeitbare UML-Diagramm liegt in Decorator_UML.drawio.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Sirup ruft getPreis() von Milch auf, Milch ruft Espresso auf. Auf dem Rückweg addiert Milch ihren Aufpreis, danach Sirup seinen. Bei getBeschreibung() wird analog der Text erweitert. Die ursprünglichen Grundpreise werden nicht verändert. Quelle: Java-Code in src/beilagen/GetraenkDekorierer.java.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Ausschnitte aus dem aktuellen Java-Projekt. Der Parameter g wurde für die Folienbreite verkürzt; im Repository heißt er getraenk. Milch erbt die Methoden zur Berechnung und Beschreibung. Das Beispiel verwendet eine gemeinsame parametrisierte Implementierung für alle gleichartigen Zusätze.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Live-Demo: In der IDE app.Main öffnen und die vorhandenen Beispiele ausführen. Die Klasse zeigt Espresso, Espresso mit Milch und Sirup sowie Filterkaffee mit Sahne. Für diese Folie bei Bedarf die Milch-Beispiele ergänzen. Versionshinweis: Die aktuelle Main-Methode ist parameterlos; die IDE muss einen Launcher verwenden, der diese Form unterstützt. Die hier gezeigten Ketten lassen sich unabhängig davon erläutern.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Quellen: Philipp Hauer, Vorteile und Nachteile; Wikipedia, Decorator, Objektidentität. Zusätzliche Objekte sind kein pauschaler Performance-Nachteil; auf dieser Folie geht es um die Komplexität des Aufbaus und der Fehlersuche. Details mit Links stehen in Vorteile_Nachteile.md.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Philipp Hauer nennt unter anderem Textkomponenten und Java-IO als Einsatzfälle. Refactoring.Guru zeigt die Kombination von Verschlüsselung und Komprimierung. Die Empfehlung für wenige feste Varianten ist eine Abwägung aus dem Zusatzaufwand des Musters, keine starre Regel.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Übungsmaterial: uebung_python/README.md und uebung_python/starter.py. Es werden nur Module der Python-Standardbibliothek benötigt. Die Musterlösung erst nach der Bearbeitung aufrufen. Die Startdatei enthält absichtlich NotImplementedError bei Karamell; zwei Grundbeispiele laufen bereits. Dieses Entwurfsmuster ist unabhängig von Pythons @-Dekorator-Syntax.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Auf der Folie stehen verkürzte Fehlermeldungen; der Startercode enthält ausführlichere Hinweise. Die zwei TODOs sollen den inneren Preis beziehungsweise den inneren Text abfragen, statt Espresso oder seinen Grundpreis fest einzubauen. Lernziel: Delegation verstehen und den Decorator beliebig kombinierbar halten.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Bearbeitungszeit hier starten beziehungsweise bei der Präsentation pausieren. Vor dem Weiterblättern Ergebnisse und Verständnisfragen besprechen. Auch doppelte Dekorierer müssen funktionieren. Musterlösung erst auf der nächsten Folie zeigen.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Klasse erbt den Konstruktor aus GetraenkDekorierer. Deshalb wird self._getraenk bereits dort gesetzt. Die konkreten Methoden delegieren und ergänzen dann Preis und Text. Vollständige ausführbare Lösung: uebung_python/musterloesung.py. Ergebnis: Espresso, Milch, Karamell: 2.90 Euro.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Titel sind anklickbare Quellenlinks. Die Quellen stammen aus der Projekt-README. Projektmaterialien: README.md, Decorator_UML.drawio, Vorteile_Nachteile.md und uebung_python/. Repository-Link laut Moodle-Board: https://github.com/dj-nic/decorator-design-pattern.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Abschluss: Gemeinsame Schnittstelle ermöglicht Verschachtelung. Komposition speichert die innere Komponente. Delegation führt bestehendes Verhalten aus, bevor oder nachdem die Erweiterung ihren Anteil ergänzt. Fragen sammeln und eigene Erweiterungsideen diskutieren.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hilipphauer.de/study/se/design-pattern/decorator.php" TargetMode="External"/><Relationship Id="rId3" Type="http://schemas.openxmlformats.org/officeDocument/2006/relationships/hyperlink" Target="https://de.wikipedia.org/wiki/Decorator_(Entwurfsmuster)" TargetMode="External"/><Relationship Id="rId4" Type="http://schemas.openxmlformats.org/officeDocument/2006/relationships/hyperlink" Target="https://refactoring.guru/design-patterns/decorator/java/example" TargetMode="External"/><Relationship Id="rId5" Type="http://schemas.openxmlformats.org/officeDocument/2006/relationships/hyperlink" Target="https://github.com/dj-nic/decorator-design-pattern" TargetMode="Externa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name="Slide 1">
    <p:bg>
      <p:bgPr>
        <a:solidFill>
          <a:srgbClr val="30241F"/>
        </a:solidFill>
      </p:bgPr>
    </p:bg>
    <p:spTree>
      <p:nvGrpSpPr>
        <p:cNvPr id="1" name=""/>
        <p:cNvGrpSpPr/>
        <p:nvPr/>
      </p:nvGrpSpPr>
      <p:grpSpPr>
        <a:xfrm>
          <a:off x="0" y="0"/>
          <a:ext cx="0" cy="0"/>
          <a:chOff x="0" y="0"/>
          <a:chExt cx="0" cy="0"/>
        </a:xfrm>
      </p:grpSpPr>
      <p:sp>
        <p:nvSpPr>
          <p:cNvPr id="2" name="Text 0"/>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E8D6C3"/>
                </a:solidFill>
                <a:latin typeface="Calibri" pitchFamily="34" charset="0"/>
                <a:ea typeface="Calibri" pitchFamily="34" charset="-122"/>
                <a:cs typeface="Calibri" pitchFamily="34" charset="-120"/>
              </a:rPr>
              <a:t>Kaffee mit Zusätzen · Java-Demo + Python-Übung</a:t>
            </a:r>
            <a:endParaRPr lang="en-US" sz="1000" dirty="0"/>
          </a:p>
        </p:txBody>
      </p:sp>
      <p:sp>
        <p:nvSpPr>
          <p:cNvPr id="3" name="Text 1"/>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E8D6C3"/>
                </a:solidFill>
                <a:latin typeface="Calibri" pitchFamily="34" charset="0"/>
                <a:ea typeface="Calibri" pitchFamily="34" charset="-122"/>
                <a:cs typeface="Calibri" pitchFamily="34" charset="-120"/>
              </a:rPr>
              <a:t>01</a:t>
            </a:r>
            <a:endParaRPr lang="en-US" sz="1200" dirty="0"/>
          </a:p>
        </p:txBody>
      </p:sp>
      <p:sp>
        <p:nvSpPr>
          <p:cNvPr id="4" name="Text 2"/>
          <p:cNvSpPr/>
          <p:nvPr/>
        </p:nvSpPr>
        <p:spPr>
          <a:xfrm>
            <a:off x="685800" y="640080"/>
            <a:ext cx="6400800" cy="256032"/>
          </a:xfrm>
          <a:prstGeom prst="rect">
            <a:avLst/>
          </a:prstGeom>
          <a:noFill/>
          <a:ln/>
        </p:spPr>
        <p:txBody>
          <a:bodyPr wrap="square" lIns="0" tIns="0" rIns="0" bIns="0" rtlCol="0" anchor="t"/>
          <a:lstStyle/>
          <a:p>
            <a:pPr indent="0" marL="0">
              <a:buNone/>
            </a:pPr>
            <a:r>
              <a:rPr lang="en-US" sz="1100" b="1" spc="180" kern="0" dirty="0">
                <a:solidFill>
                  <a:srgbClr val="E8D6C3"/>
                </a:solidFill>
                <a:latin typeface="Calibri" pitchFamily="34" charset="0"/>
                <a:ea typeface="Calibri" pitchFamily="34" charset="-122"/>
                <a:cs typeface="Calibri" pitchFamily="34" charset="-120"/>
              </a:rPr>
              <a:t>ENTWURFSMUSTER VERSTEHEN</a:t>
            </a:r>
            <a:endParaRPr lang="en-US" sz="1100" dirty="0"/>
          </a:p>
        </p:txBody>
      </p:sp>
      <p:sp>
        <p:nvSpPr>
          <p:cNvPr id="5" name="Text 3"/>
          <p:cNvSpPr/>
          <p:nvPr/>
        </p:nvSpPr>
        <p:spPr>
          <a:xfrm>
            <a:off x="685800" y="1298448"/>
            <a:ext cx="7406640" cy="786384"/>
          </a:xfrm>
          <a:prstGeom prst="rect">
            <a:avLst/>
          </a:prstGeom>
          <a:noFill/>
          <a:ln/>
        </p:spPr>
        <p:txBody>
          <a:bodyPr wrap="square" lIns="0" tIns="0" rIns="0" bIns="0" rtlCol="0" anchor="t"/>
          <a:lstStyle/>
          <a:p>
            <a:pPr indent="0" marL="0">
              <a:buNone/>
            </a:pPr>
            <a:r>
              <a:rPr lang="en-US" sz="4400" b="1" dirty="0">
                <a:solidFill>
                  <a:srgbClr val="F6F0E7"/>
                </a:solidFill>
                <a:latin typeface="Georgia" pitchFamily="34" charset="0"/>
                <a:ea typeface="Georgia" pitchFamily="34" charset="-122"/>
                <a:cs typeface="Georgia" pitchFamily="34" charset="-120"/>
              </a:rPr>
              <a:t>Decorator-Muster</a:t>
            </a:r>
            <a:endParaRPr lang="en-US" sz="4400" dirty="0"/>
          </a:p>
        </p:txBody>
      </p:sp>
      <p:sp>
        <p:nvSpPr>
          <p:cNvPr id="6" name="Text 4"/>
          <p:cNvSpPr/>
          <p:nvPr/>
        </p:nvSpPr>
        <p:spPr>
          <a:xfrm>
            <a:off x="713232" y="2350008"/>
            <a:ext cx="6949440" cy="640080"/>
          </a:xfrm>
          <a:prstGeom prst="rect">
            <a:avLst/>
          </a:prstGeom>
          <a:noFill/>
          <a:ln/>
        </p:spPr>
        <p:txBody>
          <a:bodyPr wrap="square" lIns="0" tIns="0" rIns="0" bIns="0" rtlCol="0" anchor="t"/>
          <a:lstStyle/>
          <a:p>
            <a:pPr indent="0" marL="0">
              <a:buNone/>
            </a:pPr>
            <a:r>
              <a:rPr lang="en-US" sz="3000" dirty="0">
                <a:solidFill>
                  <a:srgbClr val="E8D6C3"/>
                </a:solidFill>
                <a:latin typeface="Calibri" pitchFamily="34" charset="0"/>
                <a:ea typeface="Calibri" pitchFamily="34" charset="-122"/>
                <a:cs typeface="Calibri" pitchFamily="34" charset="-120"/>
              </a:rPr>
              <a:t>Kaffee mit Zusätzen</a:t>
            </a:r>
            <a:endParaRPr lang="en-US" sz="3000" dirty="0"/>
          </a:p>
        </p:txBody>
      </p:sp>
      <p:sp>
        <p:nvSpPr>
          <p:cNvPr id="7" name="Text 5"/>
          <p:cNvSpPr/>
          <p:nvPr/>
        </p:nvSpPr>
        <p:spPr>
          <a:xfrm>
            <a:off x="713232" y="3374136"/>
            <a:ext cx="6400800" cy="640080"/>
          </a:xfrm>
          <a:prstGeom prst="rect">
            <a:avLst/>
          </a:prstGeom>
          <a:noFill/>
          <a:ln/>
        </p:spPr>
        <p:txBody>
          <a:bodyPr wrap="square" lIns="0" tIns="0" rIns="0" bIns="0" rtlCol="0" anchor="t"/>
          <a:lstStyle/>
          <a:p>
            <a:pPr indent="0" marL="0">
              <a:buNone/>
            </a:pPr>
            <a:r>
              <a:rPr lang="en-US" sz="2200" dirty="0">
                <a:solidFill>
                  <a:srgbClr val="F6F0E7"/>
                </a:solidFill>
                <a:latin typeface="Calibri" pitchFamily="34" charset="0"/>
                <a:ea typeface="Calibri" pitchFamily="34" charset="-122"/>
                <a:cs typeface="Calibri" pitchFamily="34" charset="-120"/>
              </a:rPr>
              <a:t>Objekte einpacken. Verhalten kombinieren.</a:t>
            </a:r>
            <a:endParaRPr lang="en-US" sz="2200" dirty="0"/>
          </a:p>
        </p:txBody>
      </p:sp>
      <p:sp>
        <p:nvSpPr>
          <p:cNvPr id="8" name="Shape 6"/>
          <p:cNvSpPr/>
          <p:nvPr/>
        </p:nvSpPr>
        <p:spPr>
          <a:xfrm>
            <a:off x="713232" y="4800600"/>
            <a:ext cx="6309360" cy="731520"/>
          </a:xfrm>
          <a:prstGeom prst="rect">
            <a:avLst/>
          </a:prstGeom>
          <a:solidFill>
            <a:srgbClr val="45634D"/>
          </a:solidFill>
          <a:ln w="12700">
            <a:solidFill>
              <a:srgbClr val="45634D"/>
            </a:solidFill>
            <a:prstDash val="solid"/>
          </a:ln>
        </p:spPr>
      </p:sp>
      <p:sp>
        <p:nvSpPr>
          <p:cNvPr id="9" name="Text 7"/>
          <p:cNvSpPr/>
          <p:nvPr/>
        </p:nvSpPr>
        <p:spPr>
          <a:xfrm>
            <a:off x="932688" y="4992624"/>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Java-Demo  /  Python-Klassenübung</a:t>
            </a:r>
            <a:endParaRPr lang="en-US" sz="2000" dirty="0"/>
          </a:p>
        </p:txBody>
      </p:sp>
      <p:sp>
        <p:nvSpPr>
          <p:cNvPr id="10" name="Shape 8"/>
          <p:cNvSpPr/>
          <p:nvPr/>
        </p:nvSpPr>
        <p:spPr>
          <a:xfrm>
            <a:off x="9813798" y="3220517"/>
            <a:ext cx="864108" cy="1017727"/>
          </a:xfrm>
          <a:prstGeom prst="ellipse">
            <a:avLst/>
          </a:prstGeom>
          <a:solidFill>
            <a:srgbClr val="30241F">
              <a:alpha val="0"/>
            </a:srgbClr>
          </a:solidFill>
          <a:ln w="63500">
            <a:solidFill>
              <a:srgbClr val="E8D6C3"/>
            </a:solidFill>
            <a:prstDash val="solid"/>
          </a:ln>
        </p:spPr>
      </p:sp>
      <p:sp>
        <p:nvSpPr>
          <p:cNvPr id="11" name="Shape 9"/>
          <p:cNvSpPr/>
          <p:nvPr/>
        </p:nvSpPr>
        <p:spPr>
          <a:xfrm>
            <a:off x="8229600" y="2798064"/>
            <a:ext cx="1824228" cy="1632204"/>
          </a:xfrm>
          <a:prstGeom prst="rect">
            <a:avLst/>
          </a:prstGeom>
          <a:solidFill>
            <a:srgbClr val="E8D6C3"/>
          </a:solidFill>
          <a:ln w="12700">
            <a:solidFill>
              <a:srgbClr val="E8D6C3"/>
            </a:solidFill>
            <a:prstDash val="solid"/>
          </a:ln>
        </p:spPr>
      </p:sp>
      <p:sp>
        <p:nvSpPr>
          <p:cNvPr id="12" name="Shape 10"/>
          <p:cNvSpPr/>
          <p:nvPr/>
        </p:nvSpPr>
        <p:spPr>
          <a:xfrm>
            <a:off x="8383219" y="3009290"/>
            <a:ext cx="1516990" cy="240030"/>
          </a:xfrm>
          <a:prstGeom prst="rect">
            <a:avLst/>
          </a:prstGeom>
          <a:solidFill>
            <a:srgbClr val="A75B2A"/>
          </a:solidFill>
          <a:ln w="12700">
            <a:solidFill>
              <a:srgbClr val="A75B2A"/>
            </a:solidFill>
            <a:prstDash val="solid"/>
          </a:ln>
        </p:spPr>
      </p:sp>
      <p:sp>
        <p:nvSpPr>
          <p:cNvPr id="13" name="Shape 11"/>
          <p:cNvSpPr/>
          <p:nvPr/>
        </p:nvSpPr>
        <p:spPr>
          <a:xfrm>
            <a:off x="8056778" y="4583887"/>
            <a:ext cx="2208276" cy="76810"/>
          </a:xfrm>
          <a:prstGeom prst="rect">
            <a:avLst/>
          </a:prstGeom>
          <a:solidFill>
            <a:srgbClr val="A75B2A"/>
          </a:solidFill>
          <a:ln w="12700">
            <a:solidFill>
              <a:srgbClr val="A75B2A"/>
            </a:solidFill>
            <a:prstDash val="solid"/>
          </a:ln>
        </p:spPr>
      </p:sp>
      <p:sp>
        <p:nvSpPr>
          <p:cNvPr id="14" name="Shape 12"/>
          <p:cNvSpPr/>
          <p:nvPr/>
        </p:nvSpPr>
        <p:spPr>
          <a:xfrm rot="5400000">
            <a:off x="8421624" y="2049170"/>
            <a:ext cx="384048" cy="480060"/>
          </a:xfrm>
          <a:prstGeom prst="arc">
            <a:avLst/>
          </a:prstGeom>
          <a:noFill/>
          <a:ln w="25400">
            <a:solidFill>
              <a:srgbClr val="E8D6C3"/>
            </a:solidFill>
            <a:prstDash val="solid"/>
          </a:ln>
        </p:spPr>
      </p:sp>
      <p:sp>
        <p:nvSpPr>
          <p:cNvPr id="15" name="Shape 13"/>
          <p:cNvSpPr/>
          <p:nvPr/>
        </p:nvSpPr>
        <p:spPr>
          <a:xfrm rot="5400000">
            <a:off x="8949690" y="2049170"/>
            <a:ext cx="384048" cy="480060"/>
          </a:xfrm>
          <a:prstGeom prst="arc">
            <a:avLst/>
          </a:prstGeom>
          <a:noFill/>
          <a:ln w="25400">
            <a:solidFill>
              <a:srgbClr val="E8D6C3"/>
            </a:solidFill>
            <a:prstDash val="solid"/>
          </a:ln>
        </p:spPr>
      </p:sp>
      <p:sp>
        <p:nvSpPr>
          <p:cNvPr id="16" name="Shape 14"/>
          <p:cNvSpPr/>
          <p:nvPr/>
        </p:nvSpPr>
        <p:spPr>
          <a:xfrm rot="5400000">
            <a:off x="9477756" y="2049170"/>
            <a:ext cx="384048" cy="480060"/>
          </a:xfrm>
          <a:prstGeom prst="arc">
            <a:avLst/>
          </a:prstGeom>
          <a:noFill/>
          <a:ln w="25400">
            <a:solidFill>
              <a:srgbClr val="E8D6C3"/>
            </a:solidFill>
            <a:prstDash val="solid"/>
          </a:ln>
        </p:spPr>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Slide 2">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01 / Das Problem</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Für jede Bestellung eine eigene Klasse?</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02</a:t>
            </a:r>
            <a:endParaRPr lang="en-US" sz="1200" dirty="0"/>
          </a:p>
        </p:txBody>
      </p:sp>
      <p:sp>
        <p:nvSpPr>
          <p:cNvPr id="6" name="Shape 4"/>
          <p:cNvSpPr/>
          <p:nvPr/>
        </p:nvSpPr>
        <p:spPr>
          <a:xfrm>
            <a:off x="594360" y="1801368"/>
            <a:ext cx="2926080" cy="2029968"/>
          </a:xfrm>
          <a:prstGeom prst="rect">
            <a:avLst/>
          </a:prstGeom>
          <a:solidFill>
            <a:srgbClr val="FFFCF7"/>
          </a:solidFill>
          <a:ln w="12700">
            <a:solidFill>
              <a:srgbClr val="FFFCF7"/>
            </a:solidFill>
            <a:prstDash val="solid"/>
          </a:ln>
        </p:spPr>
      </p:sp>
      <p:sp>
        <p:nvSpPr>
          <p:cNvPr id="7" name="Text 5"/>
          <p:cNvSpPr/>
          <p:nvPr/>
        </p:nvSpPr>
        <p:spPr>
          <a:xfrm>
            <a:off x="822960" y="2020824"/>
            <a:ext cx="2468880" cy="548640"/>
          </a:xfrm>
          <a:prstGeom prst="rect">
            <a:avLst/>
          </a:prstGeom>
          <a:noFill/>
          <a:ln/>
        </p:spPr>
        <p:txBody>
          <a:bodyPr wrap="square" lIns="0" tIns="0" rIns="0" bIns="0" rtlCol="0" anchor="t"/>
          <a:lstStyle/>
          <a:p>
            <a:pPr indent="0" marL="0">
              <a:buNone/>
            </a:pPr>
            <a:r>
              <a:rPr lang="en-US" sz="2300" b="1" dirty="0">
                <a:solidFill>
                  <a:srgbClr val="30241F"/>
                </a:solidFill>
                <a:latin typeface="Calibri" pitchFamily="34" charset="0"/>
                <a:ea typeface="Calibri" pitchFamily="34" charset="-122"/>
                <a:cs typeface="Calibri" pitchFamily="34" charset="-120"/>
              </a:rPr>
              <a:t>Basisgetränke</a:t>
            </a:r>
            <a:endParaRPr lang="en-US" sz="2300" dirty="0"/>
          </a:p>
        </p:txBody>
      </p:sp>
      <p:sp>
        <p:nvSpPr>
          <p:cNvPr id="8" name="Text 6"/>
          <p:cNvSpPr/>
          <p:nvPr/>
        </p:nvSpPr>
        <p:spPr>
          <a:xfrm>
            <a:off x="822960" y="2715768"/>
            <a:ext cx="2468880" cy="978408"/>
          </a:xfrm>
          <a:prstGeom prst="rect">
            <a:avLst/>
          </a:prstGeom>
          <a:noFill/>
          <a:ln/>
        </p:spPr>
        <p:txBody>
          <a:bodyPr wrap="square" lIns="0" tIns="0" rIns="0" bIns="0" rtlCol="0" anchor="t"/>
          <a:lstStyle/>
          <a:p>
            <a:pPr indent="0" marL="0">
              <a:buNone/>
            </a:pPr>
            <a:r>
              <a:rPr lang="en-US" sz="1900" dirty="0">
                <a:solidFill>
                  <a:srgbClr val="30241F"/>
                </a:solidFill>
                <a:latin typeface="Calibri" pitchFamily="34" charset="0"/>
                <a:ea typeface="Calibri" pitchFamily="34" charset="-122"/>
                <a:cs typeface="Calibri" pitchFamily="34" charset="-120"/>
              </a:rPr>
              <a:t>Espresso</a:t>
            </a:r>
            <a:endParaRPr lang="en-US" sz="1900" dirty="0"/>
          </a:p>
          <a:p>
            <a:pPr indent="0" marL="0">
              <a:buNone/>
            </a:pPr>
            <a:r>
              <a:rPr lang="en-US" sz="1900" dirty="0">
                <a:solidFill>
                  <a:srgbClr val="30241F"/>
                </a:solidFill>
                <a:latin typeface="Calibri" pitchFamily="34" charset="0"/>
                <a:ea typeface="Calibri" pitchFamily="34" charset="-122"/>
                <a:cs typeface="Calibri" pitchFamily="34" charset="-120"/>
              </a:rPr>
              <a:t>Filterkaffee</a:t>
            </a:r>
            <a:endParaRPr lang="en-US" sz="1900" dirty="0"/>
          </a:p>
        </p:txBody>
      </p:sp>
      <p:sp>
        <p:nvSpPr>
          <p:cNvPr id="9" name="Shape 7"/>
          <p:cNvSpPr/>
          <p:nvPr/>
        </p:nvSpPr>
        <p:spPr>
          <a:xfrm>
            <a:off x="3794760" y="1801368"/>
            <a:ext cx="2926080" cy="2029968"/>
          </a:xfrm>
          <a:prstGeom prst="rect">
            <a:avLst/>
          </a:prstGeom>
          <a:solidFill>
            <a:srgbClr val="FFFCF7"/>
          </a:solidFill>
          <a:ln w="12700">
            <a:solidFill>
              <a:srgbClr val="FFFCF7"/>
            </a:solidFill>
            <a:prstDash val="solid"/>
          </a:ln>
        </p:spPr>
      </p:sp>
      <p:sp>
        <p:nvSpPr>
          <p:cNvPr id="10" name="Text 8"/>
          <p:cNvSpPr/>
          <p:nvPr/>
        </p:nvSpPr>
        <p:spPr>
          <a:xfrm>
            <a:off x="4023360" y="2020824"/>
            <a:ext cx="2468880" cy="548640"/>
          </a:xfrm>
          <a:prstGeom prst="rect">
            <a:avLst/>
          </a:prstGeom>
          <a:noFill/>
          <a:ln/>
        </p:spPr>
        <p:txBody>
          <a:bodyPr wrap="square" lIns="0" tIns="0" rIns="0" bIns="0" rtlCol="0" anchor="t"/>
          <a:lstStyle/>
          <a:p>
            <a:pPr indent="0" marL="0">
              <a:buNone/>
            </a:pPr>
            <a:r>
              <a:rPr lang="en-US" sz="2300" b="1" dirty="0">
                <a:solidFill>
                  <a:srgbClr val="30241F"/>
                </a:solidFill>
                <a:latin typeface="Calibri" pitchFamily="34" charset="0"/>
                <a:ea typeface="Calibri" pitchFamily="34" charset="-122"/>
                <a:cs typeface="Calibri" pitchFamily="34" charset="-120"/>
              </a:rPr>
              <a:t>Optionale Zusätze</a:t>
            </a:r>
            <a:endParaRPr lang="en-US" sz="2300" dirty="0"/>
          </a:p>
        </p:txBody>
      </p:sp>
      <p:sp>
        <p:nvSpPr>
          <p:cNvPr id="11" name="Text 9"/>
          <p:cNvSpPr/>
          <p:nvPr/>
        </p:nvSpPr>
        <p:spPr>
          <a:xfrm>
            <a:off x="4023360" y="2715768"/>
            <a:ext cx="2468880" cy="978408"/>
          </a:xfrm>
          <a:prstGeom prst="rect">
            <a:avLst/>
          </a:prstGeom>
          <a:noFill/>
          <a:ln/>
        </p:spPr>
        <p:txBody>
          <a:bodyPr wrap="square" lIns="0" tIns="0" rIns="0" bIns="0" rtlCol="0" anchor="t"/>
          <a:lstStyle/>
          <a:p>
            <a:pPr indent="0" marL="0">
              <a:buNone/>
            </a:pPr>
            <a:r>
              <a:rPr lang="en-US" sz="1900" dirty="0">
                <a:solidFill>
                  <a:srgbClr val="30241F"/>
                </a:solidFill>
                <a:latin typeface="Calibri" pitchFamily="34" charset="0"/>
                <a:ea typeface="Calibri" pitchFamily="34" charset="-122"/>
                <a:cs typeface="Calibri" pitchFamily="34" charset="-120"/>
              </a:rPr>
              <a:t>Milch</a:t>
            </a:r>
            <a:endParaRPr lang="en-US" sz="1900" dirty="0"/>
          </a:p>
          <a:p>
            <a:pPr indent="0" marL="0">
              <a:buNone/>
            </a:pPr>
            <a:r>
              <a:rPr lang="en-US" sz="1900" dirty="0">
                <a:solidFill>
                  <a:srgbClr val="30241F"/>
                </a:solidFill>
                <a:latin typeface="Calibri" pitchFamily="34" charset="0"/>
                <a:ea typeface="Calibri" pitchFamily="34" charset="-122"/>
                <a:cs typeface="Calibri" pitchFamily="34" charset="-120"/>
              </a:rPr>
              <a:t>Sirup</a:t>
            </a:r>
            <a:endParaRPr lang="en-US" sz="1900" dirty="0"/>
          </a:p>
          <a:p>
            <a:pPr indent="0" marL="0">
              <a:buNone/>
            </a:pPr>
            <a:r>
              <a:rPr lang="en-US" sz="1900" dirty="0">
                <a:solidFill>
                  <a:srgbClr val="30241F"/>
                </a:solidFill>
                <a:latin typeface="Calibri" pitchFamily="34" charset="0"/>
                <a:ea typeface="Calibri" pitchFamily="34" charset="-122"/>
                <a:cs typeface="Calibri" pitchFamily="34" charset="-120"/>
              </a:rPr>
              <a:t>Sahne</a:t>
            </a:r>
            <a:endParaRPr lang="en-US" sz="1900" dirty="0"/>
          </a:p>
        </p:txBody>
      </p:sp>
      <p:sp>
        <p:nvSpPr>
          <p:cNvPr id="12" name="Shape 10"/>
          <p:cNvSpPr/>
          <p:nvPr/>
        </p:nvSpPr>
        <p:spPr>
          <a:xfrm>
            <a:off x="7086600" y="1801368"/>
            <a:ext cx="4507992" cy="2029968"/>
          </a:xfrm>
          <a:prstGeom prst="rect">
            <a:avLst/>
          </a:prstGeom>
          <a:solidFill>
            <a:srgbClr val="45634D"/>
          </a:solidFill>
          <a:ln w="12700">
            <a:solidFill>
              <a:srgbClr val="45634D"/>
            </a:solidFill>
            <a:prstDash val="solid"/>
          </a:ln>
        </p:spPr>
      </p:sp>
      <p:sp>
        <p:nvSpPr>
          <p:cNvPr id="13" name="Text 11"/>
          <p:cNvSpPr/>
          <p:nvPr/>
        </p:nvSpPr>
        <p:spPr>
          <a:xfrm>
            <a:off x="7379208" y="2011680"/>
            <a:ext cx="3657600" cy="896112"/>
          </a:xfrm>
          <a:prstGeom prst="rect">
            <a:avLst/>
          </a:prstGeom>
          <a:noFill/>
          <a:ln/>
        </p:spPr>
        <p:txBody>
          <a:bodyPr wrap="square" lIns="0" tIns="0" rIns="0" bIns="0" rtlCol="0" anchor="t"/>
          <a:lstStyle/>
          <a:p>
            <a:pPr indent="0" marL="0">
              <a:buNone/>
            </a:pPr>
            <a:r>
              <a:rPr lang="en-US" sz="6400" b="1" dirty="0">
                <a:solidFill>
                  <a:srgbClr val="FFFFFF"/>
                </a:solidFill>
                <a:latin typeface="Calibri" pitchFamily="34" charset="0"/>
                <a:ea typeface="Calibri" pitchFamily="34" charset="-122"/>
                <a:cs typeface="Calibri" pitchFamily="34" charset="-120"/>
              </a:rPr>
              <a:t>16</a:t>
            </a:r>
            <a:endParaRPr lang="en-US" sz="6400" dirty="0"/>
          </a:p>
        </p:txBody>
      </p:sp>
      <p:sp>
        <p:nvSpPr>
          <p:cNvPr id="14" name="Text 12"/>
          <p:cNvSpPr/>
          <p:nvPr/>
        </p:nvSpPr>
        <p:spPr>
          <a:xfrm>
            <a:off x="7424928" y="3072384"/>
            <a:ext cx="3749040" cy="384048"/>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mögliche Varianten</a:t>
            </a:r>
            <a:endParaRPr lang="en-US" sz="2100" dirty="0"/>
          </a:p>
        </p:txBody>
      </p:sp>
      <p:sp>
        <p:nvSpPr>
          <p:cNvPr id="15" name="Text 13"/>
          <p:cNvSpPr/>
          <p:nvPr/>
        </p:nvSpPr>
        <p:spPr>
          <a:xfrm>
            <a:off x="685800" y="4251960"/>
            <a:ext cx="10789920" cy="548640"/>
          </a:xfrm>
          <a:prstGeom prst="rect">
            <a:avLst/>
          </a:prstGeom>
          <a:noFill/>
          <a:ln/>
        </p:spPr>
        <p:txBody>
          <a:bodyPr wrap="square" lIns="0" tIns="0" rIns="0" bIns="0" rtlCol="0" anchor="t"/>
          <a:lstStyle/>
          <a:p>
            <a:pPr indent="0" marL="0">
              <a:buNone/>
            </a:pPr>
            <a:r>
              <a:rPr lang="en-US" sz="2500" b="1" dirty="0">
                <a:solidFill>
                  <a:srgbClr val="30241F"/>
                </a:solidFill>
                <a:latin typeface="Calibri" pitchFamily="34" charset="0"/>
                <a:ea typeface="Calibri" pitchFamily="34" charset="-122"/>
                <a:cs typeface="Calibri" pitchFamily="34" charset="-120"/>
              </a:rPr>
              <a:t>2 Basisgetränke × 2³ Zusatzkombinationen</a:t>
            </a:r>
            <a:endParaRPr lang="en-US" sz="2500" dirty="0"/>
          </a:p>
        </p:txBody>
      </p:sp>
      <p:sp>
        <p:nvSpPr>
          <p:cNvPr id="16" name="Text 14"/>
          <p:cNvSpPr/>
          <p:nvPr/>
        </p:nvSpPr>
        <p:spPr>
          <a:xfrm>
            <a:off x="685800" y="4974336"/>
            <a:ext cx="10698480" cy="868680"/>
          </a:xfrm>
          <a:prstGeom prst="rect">
            <a:avLst/>
          </a:prstGeom>
          <a:noFill/>
          <a:ln/>
        </p:spPr>
        <p:txBody>
          <a:bodyPr wrap="square" lIns="0" tIns="0" rIns="0" bIns="0" rtlCol="0" anchor="t"/>
          <a:lstStyle/>
          <a:p>
            <a:pPr indent="0" marL="0">
              <a:buNone/>
            </a:pPr>
            <a:r>
              <a:rPr lang="en-US" sz="2000" dirty="0">
                <a:solidFill>
                  <a:srgbClr val="76665B"/>
                </a:solidFill>
                <a:latin typeface="Calibri" pitchFamily="34" charset="0"/>
                <a:ea typeface="Calibri" pitchFamily="34" charset="-122"/>
                <a:cs typeface="Calibri" pitchFamily="34" charset="-120"/>
              </a:rPr>
              <a:t>Annahme: Jeder der drei Zusätze wird höchstens einmal gewählt.</a:t>
            </a:r>
            <a:endParaRPr lang="en-US" sz="2000" dirty="0"/>
          </a:p>
          <a:p>
            <a:pPr indent="0" marL="0">
              <a:buNone/>
            </a:pPr>
            <a:r>
              <a:rPr lang="en-US" sz="2000" dirty="0">
                <a:solidFill>
                  <a:srgbClr val="76665B"/>
                </a:solidFill>
                <a:latin typeface="Calibri" pitchFamily="34" charset="0"/>
                <a:ea typeface="Calibri" pitchFamily="34" charset="-122"/>
                <a:cs typeface="Calibri" pitchFamily="34" charset="-120"/>
              </a:rPr>
              <a:t>Eine Klasse je Variante würde den Code schnell aufblähen.</a:t>
            </a:r>
            <a:endParaRPr lang="en-US" sz="20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Slide 3">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02 / Die Grundidee</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Eine Bestellung besteht aus Hüllen</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03</a:t>
            </a:r>
            <a:endParaRPr lang="en-US" sz="1200" dirty="0"/>
          </a:p>
        </p:txBody>
      </p:sp>
      <p:sp>
        <p:nvSpPr>
          <p:cNvPr id="6" name="Shape 4"/>
          <p:cNvSpPr/>
          <p:nvPr/>
        </p:nvSpPr>
        <p:spPr>
          <a:xfrm>
            <a:off x="640080" y="1737360"/>
            <a:ext cx="6903720" cy="4251960"/>
          </a:xfrm>
          <a:prstGeom prst="rect">
            <a:avLst/>
          </a:prstGeom>
          <a:solidFill>
            <a:srgbClr val="E8D6C3"/>
          </a:solidFill>
          <a:ln w="12700">
            <a:solidFill>
              <a:srgbClr val="E8D6C3"/>
            </a:solidFill>
            <a:prstDash val="solid"/>
          </a:ln>
        </p:spPr>
      </p:sp>
      <p:sp>
        <p:nvSpPr>
          <p:cNvPr id="7" name="Text 5"/>
          <p:cNvSpPr/>
          <p:nvPr/>
        </p:nvSpPr>
        <p:spPr>
          <a:xfrm>
            <a:off x="914400" y="1993392"/>
            <a:ext cx="5486400" cy="256032"/>
          </a:xfrm>
          <a:prstGeom prst="rect">
            <a:avLst/>
          </a:prstGeom>
          <a:noFill/>
          <a:ln/>
        </p:spPr>
        <p:txBody>
          <a:bodyPr wrap="square" lIns="0" tIns="0" rIns="0" bIns="0" rtlCol="0" anchor="t"/>
          <a:lstStyle/>
          <a:p>
            <a:pPr indent="0" marL="0">
              <a:buNone/>
            </a:pPr>
            <a:r>
              <a:rPr lang="en-US" sz="1100" b="1" spc="180" kern="0" dirty="0">
                <a:solidFill>
                  <a:srgbClr val="30241F"/>
                </a:solidFill>
                <a:latin typeface="Calibri" pitchFamily="34" charset="0"/>
                <a:ea typeface="Calibri" pitchFamily="34" charset="-122"/>
                <a:cs typeface="Calibri" pitchFamily="34" charset="-120"/>
              </a:rPr>
              <a:t>SIRUP-DEKORIERER</a:t>
            </a:r>
            <a:endParaRPr lang="en-US" sz="1100" dirty="0"/>
          </a:p>
        </p:txBody>
      </p:sp>
      <p:sp>
        <p:nvSpPr>
          <p:cNvPr id="8" name="Shape 6"/>
          <p:cNvSpPr/>
          <p:nvPr/>
        </p:nvSpPr>
        <p:spPr>
          <a:xfrm>
            <a:off x="1097280" y="2532888"/>
            <a:ext cx="5943600" cy="2944368"/>
          </a:xfrm>
          <a:prstGeom prst="rect">
            <a:avLst/>
          </a:prstGeom>
          <a:solidFill>
            <a:srgbClr val="FFFCF7"/>
          </a:solidFill>
          <a:ln w="12700">
            <a:solidFill>
              <a:srgbClr val="FFFCF7"/>
            </a:solidFill>
            <a:prstDash val="solid"/>
          </a:ln>
        </p:spPr>
      </p:sp>
      <p:sp>
        <p:nvSpPr>
          <p:cNvPr id="9" name="Text 7"/>
          <p:cNvSpPr/>
          <p:nvPr/>
        </p:nvSpPr>
        <p:spPr>
          <a:xfrm>
            <a:off x="1371600" y="2798064"/>
            <a:ext cx="4572000" cy="256032"/>
          </a:xfrm>
          <a:prstGeom prst="rect">
            <a:avLst/>
          </a:prstGeom>
          <a:noFill/>
          <a:ln/>
        </p:spPr>
        <p:txBody>
          <a:bodyPr wrap="square" lIns="0" tIns="0" rIns="0" bIns="0" rtlCol="0" anchor="t"/>
          <a:lstStyle/>
          <a:p>
            <a:pPr indent="0" marL="0">
              <a:buNone/>
            </a:pPr>
            <a:r>
              <a:rPr lang="en-US" sz="1100" b="1" spc="180" kern="0" dirty="0">
                <a:solidFill>
                  <a:srgbClr val="30241F"/>
                </a:solidFill>
                <a:latin typeface="Calibri" pitchFamily="34" charset="0"/>
                <a:ea typeface="Calibri" pitchFamily="34" charset="-122"/>
                <a:cs typeface="Calibri" pitchFamily="34" charset="-120"/>
              </a:rPr>
              <a:t>MILCH-DEKORIERER</a:t>
            </a:r>
            <a:endParaRPr lang="en-US" sz="1100" dirty="0"/>
          </a:p>
        </p:txBody>
      </p:sp>
      <p:sp>
        <p:nvSpPr>
          <p:cNvPr id="10" name="Shape 8"/>
          <p:cNvSpPr/>
          <p:nvPr/>
        </p:nvSpPr>
        <p:spPr>
          <a:xfrm>
            <a:off x="1645920" y="3337560"/>
            <a:ext cx="4846320" cy="1609344"/>
          </a:xfrm>
          <a:prstGeom prst="rect">
            <a:avLst/>
          </a:prstGeom>
          <a:solidFill>
            <a:srgbClr val="45634D"/>
          </a:solidFill>
          <a:ln w="12700">
            <a:solidFill>
              <a:srgbClr val="45634D"/>
            </a:solidFill>
            <a:prstDash val="solid"/>
          </a:ln>
        </p:spPr>
      </p:sp>
      <p:sp>
        <p:nvSpPr>
          <p:cNvPr id="11" name="Text 9"/>
          <p:cNvSpPr/>
          <p:nvPr/>
        </p:nvSpPr>
        <p:spPr>
          <a:xfrm>
            <a:off x="1920240" y="3776472"/>
            <a:ext cx="4297680" cy="5486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Espresso</a:t>
            </a:r>
            <a:endParaRPr lang="en-US" sz="3000" dirty="0"/>
          </a:p>
        </p:txBody>
      </p:sp>
      <p:sp>
        <p:nvSpPr>
          <p:cNvPr id="12" name="Text 10"/>
          <p:cNvSpPr/>
          <p:nvPr/>
        </p:nvSpPr>
        <p:spPr>
          <a:xfrm>
            <a:off x="8092440" y="2194560"/>
            <a:ext cx="3447288" cy="1097280"/>
          </a:xfrm>
          <a:prstGeom prst="rect">
            <a:avLst/>
          </a:prstGeom>
          <a:noFill/>
          <a:ln/>
        </p:spPr>
        <p:txBody>
          <a:bodyPr wrap="square" lIns="0" tIns="0" rIns="0" bIns="0" rtlCol="0" anchor="t"/>
          <a:lstStyle/>
          <a:p>
            <a:pPr indent="0" marL="0">
              <a:buNone/>
            </a:pPr>
            <a:r>
              <a:rPr lang="en-US" sz="2800" b="1" dirty="0">
                <a:solidFill>
                  <a:srgbClr val="30241F"/>
                </a:solidFill>
                <a:latin typeface="Calibri" pitchFamily="34" charset="0"/>
                <a:ea typeface="Calibri" pitchFamily="34" charset="-122"/>
                <a:cs typeface="Calibri" pitchFamily="34" charset="-120"/>
              </a:rPr>
              <a:t>Jede Hülle enthält</a:t>
            </a:r>
            <a:endParaRPr lang="en-US" sz="2800" dirty="0"/>
          </a:p>
          <a:p>
            <a:pPr indent="0" marL="0">
              <a:buNone/>
            </a:pPr>
            <a:r>
              <a:rPr lang="en-US" sz="2800" b="1" dirty="0">
                <a:solidFill>
                  <a:srgbClr val="30241F"/>
                </a:solidFill>
                <a:latin typeface="Calibri" pitchFamily="34" charset="0"/>
                <a:ea typeface="Calibri" pitchFamily="34" charset="-122"/>
                <a:cs typeface="Calibri" pitchFamily="34" charset="-120"/>
              </a:rPr>
              <a:t>ein Getraenk.</a:t>
            </a:r>
            <a:endParaRPr lang="en-US" sz="2800" dirty="0"/>
          </a:p>
        </p:txBody>
      </p:sp>
      <p:sp>
        <p:nvSpPr>
          <p:cNvPr id="13" name="Text 11"/>
          <p:cNvSpPr/>
          <p:nvPr/>
        </p:nvSpPr>
        <p:spPr>
          <a:xfrm>
            <a:off x="8092440" y="3785616"/>
            <a:ext cx="3474720" cy="1371600"/>
          </a:xfrm>
          <a:prstGeom prst="rect">
            <a:avLst/>
          </a:prstGeom>
          <a:noFill/>
          <a:ln/>
        </p:spPr>
        <p:txBody>
          <a:bodyPr wrap="square" lIns="0" tIns="0" rIns="0" bIns="0" rtlCol="0" anchor="t"/>
          <a:lstStyle/>
          <a:p>
            <a:pPr indent="0" marL="0">
              <a:buNone/>
            </a:pPr>
            <a:r>
              <a:rPr lang="en-US" sz="2000" dirty="0">
                <a:solidFill>
                  <a:srgbClr val="30241F"/>
                </a:solidFill>
                <a:latin typeface="Calibri" pitchFamily="34" charset="0"/>
                <a:ea typeface="Calibri" pitchFamily="34" charset="-122"/>
                <a:cs typeface="Calibri" pitchFamily="34" charset="-120"/>
              </a:rPr>
              <a:t>Gleiche Schnittstelle</a:t>
            </a:r>
            <a:endParaRPr lang="en-US" sz="2000" dirty="0"/>
          </a:p>
          <a:p>
            <a:pPr indent="0" marL="0">
              <a:buNone/>
            </a:pPr>
            <a:r>
              <a:rPr lang="en-US" sz="2000" dirty="0">
                <a:solidFill>
                  <a:srgbClr val="30241F"/>
                </a:solidFill>
                <a:latin typeface="Calibri" pitchFamily="34" charset="0"/>
                <a:ea typeface="Calibri" pitchFamily="34" charset="-122"/>
                <a:cs typeface="Calibri" pitchFamily="34" charset="-120"/>
              </a:rPr>
              <a:t>+ eigenes Zusatzverhalten</a:t>
            </a:r>
            <a:endParaRPr lang="en-US" sz="2000" dirty="0"/>
          </a:p>
          <a:p>
            <a:pPr indent="0" marL="0">
              <a:buNone/>
            </a:pPr>
            <a:r>
              <a:rPr lang="en-US" sz="2000" dirty="0">
                <a:solidFill>
                  <a:srgbClr val="30241F"/>
                </a:solidFill>
                <a:latin typeface="Calibri" pitchFamily="34" charset="0"/>
                <a:ea typeface="Calibri" pitchFamily="34" charset="-122"/>
                <a:cs typeface="Calibri" pitchFamily="34" charset="-120"/>
              </a:rPr>
              <a:t>+ Weiterleitung nach innen</a:t>
            </a:r>
            <a:endParaRPr lang="en-US" sz="20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Slide 4">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02 / Begriffe</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Vier Rollen – eine gemeinsame Schnittstelle</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04</a:t>
            </a:r>
            <a:endParaRPr lang="en-US" sz="1200" dirty="0"/>
          </a:p>
        </p:txBody>
      </p:sp>
      <p:sp>
        <p:nvSpPr>
          <p:cNvPr id="6" name="Shape 4"/>
          <p:cNvSpPr/>
          <p:nvPr/>
        </p:nvSpPr>
        <p:spPr>
          <a:xfrm>
            <a:off x="640080" y="1691640"/>
            <a:ext cx="612648" cy="612648"/>
          </a:xfrm>
          <a:prstGeom prst="rect">
            <a:avLst/>
          </a:prstGeom>
          <a:solidFill>
            <a:srgbClr val="45634D"/>
          </a:solidFill>
          <a:ln w="12700">
            <a:solidFill>
              <a:srgbClr val="45634D"/>
            </a:solidFill>
            <a:prstDash val="solid"/>
          </a:ln>
        </p:spPr>
      </p:sp>
      <p:sp>
        <p:nvSpPr>
          <p:cNvPr id="7" name="Text 5"/>
          <p:cNvSpPr/>
          <p:nvPr/>
        </p:nvSpPr>
        <p:spPr>
          <a:xfrm>
            <a:off x="804672" y="1783080"/>
            <a:ext cx="320040" cy="3657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6"/>
          <p:cNvSpPr/>
          <p:nvPr/>
        </p:nvSpPr>
        <p:spPr>
          <a:xfrm>
            <a:off x="1490472" y="1691640"/>
            <a:ext cx="4297680" cy="411480"/>
          </a:xfrm>
          <a:prstGeom prst="rect">
            <a:avLst/>
          </a:prstGeom>
          <a:noFill/>
          <a:ln/>
        </p:spPr>
        <p:txBody>
          <a:bodyPr wrap="square" lIns="0" tIns="0" rIns="0" bIns="0" rtlCol="0" anchor="t"/>
          <a:lstStyle/>
          <a:p>
            <a:pPr indent="0" marL="0">
              <a:buNone/>
            </a:pPr>
            <a:r>
              <a:rPr lang="en-US" sz="2400" b="1" dirty="0">
                <a:solidFill>
                  <a:srgbClr val="30241F"/>
                </a:solidFill>
                <a:latin typeface="Calibri" pitchFamily="34" charset="0"/>
                <a:ea typeface="Calibri" pitchFamily="34" charset="-122"/>
                <a:cs typeface="Calibri" pitchFamily="34" charset="-120"/>
              </a:rPr>
              <a:t>Component</a:t>
            </a:r>
            <a:endParaRPr lang="en-US" sz="2400" dirty="0"/>
          </a:p>
        </p:txBody>
      </p:sp>
      <p:sp>
        <p:nvSpPr>
          <p:cNvPr id="9" name="Text 7"/>
          <p:cNvSpPr/>
          <p:nvPr/>
        </p:nvSpPr>
        <p:spPr>
          <a:xfrm>
            <a:off x="5715000" y="1691640"/>
            <a:ext cx="5486400" cy="41148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Getraenk</a:t>
            </a:r>
            <a:endParaRPr lang="en-US" sz="2200" dirty="0"/>
          </a:p>
        </p:txBody>
      </p:sp>
      <p:sp>
        <p:nvSpPr>
          <p:cNvPr id="10" name="Text 8"/>
          <p:cNvSpPr/>
          <p:nvPr/>
        </p:nvSpPr>
        <p:spPr>
          <a:xfrm>
            <a:off x="5715000" y="2130552"/>
            <a:ext cx="5486400" cy="438912"/>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Gemeinsame Methoden für Preis und Beschreibung</a:t>
            </a:r>
            <a:endParaRPr lang="en-US" sz="1700" dirty="0"/>
          </a:p>
        </p:txBody>
      </p:sp>
      <p:sp>
        <p:nvSpPr>
          <p:cNvPr id="11" name="Shape 9"/>
          <p:cNvSpPr/>
          <p:nvPr/>
        </p:nvSpPr>
        <p:spPr>
          <a:xfrm>
            <a:off x="640080" y="2697480"/>
            <a:ext cx="612648" cy="612648"/>
          </a:xfrm>
          <a:prstGeom prst="rect">
            <a:avLst/>
          </a:prstGeom>
          <a:solidFill>
            <a:srgbClr val="45634D"/>
          </a:solidFill>
          <a:ln w="12700">
            <a:solidFill>
              <a:srgbClr val="45634D"/>
            </a:solidFill>
            <a:prstDash val="solid"/>
          </a:ln>
        </p:spPr>
      </p:sp>
      <p:sp>
        <p:nvSpPr>
          <p:cNvPr id="12" name="Text 10"/>
          <p:cNvSpPr/>
          <p:nvPr/>
        </p:nvSpPr>
        <p:spPr>
          <a:xfrm>
            <a:off x="804672" y="2788920"/>
            <a:ext cx="320040" cy="3657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1490472" y="2697480"/>
            <a:ext cx="4297680" cy="411480"/>
          </a:xfrm>
          <a:prstGeom prst="rect">
            <a:avLst/>
          </a:prstGeom>
          <a:noFill/>
          <a:ln/>
        </p:spPr>
        <p:txBody>
          <a:bodyPr wrap="square" lIns="0" tIns="0" rIns="0" bIns="0" rtlCol="0" anchor="t"/>
          <a:lstStyle/>
          <a:p>
            <a:pPr indent="0" marL="0">
              <a:buNone/>
            </a:pPr>
            <a:r>
              <a:rPr lang="en-US" sz="2400" b="1" dirty="0">
                <a:solidFill>
                  <a:srgbClr val="30241F"/>
                </a:solidFill>
                <a:latin typeface="Calibri" pitchFamily="34" charset="0"/>
                <a:ea typeface="Calibri" pitchFamily="34" charset="-122"/>
                <a:cs typeface="Calibri" pitchFamily="34" charset="-120"/>
              </a:rPr>
              <a:t>Concrete Component</a:t>
            </a:r>
            <a:endParaRPr lang="en-US" sz="2400" dirty="0"/>
          </a:p>
        </p:txBody>
      </p:sp>
      <p:sp>
        <p:nvSpPr>
          <p:cNvPr id="14" name="Text 12"/>
          <p:cNvSpPr/>
          <p:nvPr/>
        </p:nvSpPr>
        <p:spPr>
          <a:xfrm>
            <a:off x="5715000" y="2697480"/>
            <a:ext cx="5486400" cy="41148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Espresso / Filterkaffee</a:t>
            </a:r>
            <a:endParaRPr lang="en-US" sz="2200" dirty="0"/>
          </a:p>
        </p:txBody>
      </p:sp>
      <p:sp>
        <p:nvSpPr>
          <p:cNvPr id="15" name="Text 13"/>
          <p:cNvSpPr/>
          <p:nvPr/>
        </p:nvSpPr>
        <p:spPr>
          <a:xfrm>
            <a:off x="5715000" y="3136392"/>
            <a:ext cx="5486400" cy="438912"/>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Liefert das Grundverhalten</a:t>
            </a:r>
            <a:endParaRPr lang="en-US" sz="1700" dirty="0"/>
          </a:p>
        </p:txBody>
      </p:sp>
      <p:sp>
        <p:nvSpPr>
          <p:cNvPr id="16" name="Shape 14"/>
          <p:cNvSpPr/>
          <p:nvPr/>
        </p:nvSpPr>
        <p:spPr>
          <a:xfrm>
            <a:off x="640080" y="3703320"/>
            <a:ext cx="612648" cy="612648"/>
          </a:xfrm>
          <a:prstGeom prst="rect">
            <a:avLst/>
          </a:prstGeom>
          <a:solidFill>
            <a:srgbClr val="45634D"/>
          </a:solidFill>
          <a:ln w="12700">
            <a:solidFill>
              <a:srgbClr val="45634D"/>
            </a:solidFill>
            <a:prstDash val="solid"/>
          </a:ln>
        </p:spPr>
      </p:sp>
      <p:sp>
        <p:nvSpPr>
          <p:cNvPr id="17" name="Text 15"/>
          <p:cNvSpPr/>
          <p:nvPr/>
        </p:nvSpPr>
        <p:spPr>
          <a:xfrm>
            <a:off x="804672" y="3794760"/>
            <a:ext cx="320040" cy="3657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6"/>
          <p:cNvSpPr/>
          <p:nvPr/>
        </p:nvSpPr>
        <p:spPr>
          <a:xfrm>
            <a:off x="1490472" y="3703320"/>
            <a:ext cx="4297680" cy="411480"/>
          </a:xfrm>
          <a:prstGeom prst="rect">
            <a:avLst/>
          </a:prstGeom>
          <a:noFill/>
          <a:ln/>
        </p:spPr>
        <p:txBody>
          <a:bodyPr wrap="square" lIns="0" tIns="0" rIns="0" bIns="0" rtlCol="0" anchor="t"/>
          <a:lstStyle/>
          <a:p>
            <a:pPr indent="0" marL="0">
              <a:buNone/>
            </a:pPr>
            <a:r>
              <a:rPr lang="en-US" sz="2400" b="1" dirty="0">
                <a:solidFill>
                  <a:srgbClr val="30241F"/>
                </a:solidFill>
                <a:latin typeface="Calibri" pitchFamily="34" charset="0"/>
                <a:ea typeface="Calibri" pitchFamily="34" charset="-122"/>
                <a:cs typeface="Calibri" pitchFamily="34" charset="-120"/>
              </a:rPr>
              <a:t>Decorator</a:t>
            </a:r>
            <a:endParaRPr lang="en-US" sz="2400" dirty="0"/>
          </a:p>
        </p:txBody>
      </p:sp>
      <p:sp>
        <p:nvSpPr>
          <p:cNvPr id="19" name="Text 17"/>
          <p:cNvSpPr/>
          <p:nvPr/>
        </p:nvSpPr>
        <p:spPr>
          <a:xfrm>
            <a:off x="5715000" y="3703320"/>
            <a:ext cx="5486400" cy="41148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GetraenkDekorierer</a:t>
            </a:r>
            <a:endParaRPr lang="en-US" sz="2200" dirty="0"/>
          </a:p>
        </p:txBody>
      </p:sp>
      <p:sp>
        <p:nvSpPr>
          <p:cNvPr id="20" name="Text 18"/>
          <p:cNvSpPr/>
          <p:nvPr/>
        </p:nvSpPr>
        <p:spPr>
          <a:xfrm>
            <a:off x="5715000" y="4142232"/>
            <a:ext cx="5486400" cy="438912"/>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Enthält eine Referenz auf ein Getraenk</a:t>
            </a:r>
            <a:endParaRPr lang="en-US" sz="1700" dirty="0"/>
          </a:p>
        </p:txBody>
      </p:sp>
      <p:sp>
        <p:nvSpPr>
          <p:cNvPr id="21" name="Shape 19"/>
          <p:cNvSpPr/>
          <p:nvPr/>
        </p:nvSpPr>
        <p:spPr>
          <a:xfrm>
            <a:off x="640080" y="4709160"/>
            <a:ext cx="612648" cy="612648"/>
          </a:xfrm>
          <a:prstGeom prst="rect">
            <a:avLst/>
          </a:prstGeom>
          <a:solidFill>
            <a:srgbClr val="45634D"/>
          </a:solidFill>
          <a:ln w="12700">
            <a:solidFill>
              <a:srgbClr val="45634D"/>
            </a:solidFill>
            <a:prstDash val="solid"/>
          </a:ln>
        </p:spPr>
      </p:sp>
      <p:sp>
        <p:nvSpPr>
          <p:cNvPr id="22" name="Text 20"/>
          <p:cNvSpPr/>
          <p:nvPr/>
        </p:nvSpPr>
        <p:spPr>
          <a:xfrm>
            <a:off x="804672" y="4800600"/>
            <a:ext cx="320040" cy="3657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3" name="Text 21"/>
          <p:cNvSpPr/>
          <p:nvPr/>
        </p:nvSpPr>
        <p:spPr>
          <a:xfrm>
            <a:off x="1490472" y="4709160"/>
            <a:ext cx="4297680" cy="411480"/>
          </a:xfrm>
          <a:prstGeom prst="rect">
            <a:avLst/>
          </a:prstGeom>
          <a:noFill/>
          <a:ln/>
        </p:spPr>
        <p:txBody>
          <a:bodyPr wrap="square" lIns="0" tIns="0" rIns="0" bIns="0" rtlCol="0" anchor="t"/>
          <a:lstStyle/>
          <a:p>
            <a:pPr indent="0" marL="0">
              <a:buNone/>
            </a:pPr>
            <a:r>
              <a:rPr lang="en-US" sz="2400" b="1" dirty="0">
                <a:solidFill>
                  <a:srgbClr val="30241F"/>
                </a:solidFill>
                <a:latin typeface="Calibri" pitchFamily="34" charset="0"/>
                <a:ea typeface="Calibri" pitchFamily="34" charset="-122"/>
                <a:cs typeface="Calibri" pitchFamily="34" charset="-120"/>
              </a:rPr>
              <a:t>Concrete Decorator</a:t>
            </a:r>
            <a:endParaRPr lang="en-US" sz="2400" dirty="0"/>
          </a:p>
        </p:txBody>
      </p:sp>
      <p:sp>
        <p:nvSpPr>
          <p:cNvPr id="24" name="Text 22"/>
          <p:cNvSpPr/>
          <p:nvPr/>
        </p:nvSpPr>
        <p:spPr>
          <a:xfrm>
            <a:off x="5715000" y="4709160"/>
            <a:ext cx="5486400" cy="41148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Milch / Sirup / Sahne</a:t>
            </a:r>
            <a:endParaRPr lang="en-US" sz="2200" dirty="0"/>
          </a:p>
        </p:txBody>
      </p:sp>
      <p:sp>
        <p:nvSpPr>
          <p:cNvPr id="25" name="Text 23"/>
          <p:cNvSpPr/>
          <p:nvPr/>
        </p:nvSpPr>
        <p:spPr>
          <a:xfrm>
            <a:off x="5715000" y="5148072"/>
            <a:ext cx="5486400" cy="438912"/>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Ergänzt das Getränk um einen Zusatz</a:t>
            </a:r>
            <a:endParaRPr lang="en-US" sz="17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Slide 5">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02 / Klassenstruktur</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Vererbung trifft Komposition</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05</a:t>
            </a:r>
            <a:endParaRPr lang="en-US" sz="1200" dirty="0"/>
          </a:p>
        </p:txBody>
      </p:sp>
      <p:sp>
        <p:nvSpPr>
          <p:cNvPr id="6" name="Shape 4"/>
          <p:cNvSpPr/>
          <p:nvPr/>
        </p:nvSpPr>
        <p:spPr>
          <a:xfrm>
            <a:off x="3749040" y="1600200"/>
            <a:ext cx="4480560" cy="1024128"/>
          </a:xfrm>
          <a:prstGeom prst="rect">
            <a:avLst/>
          </a:prstGeom>
          <a:solidFill>
            <a:srgbClr val="45634D"/>
          </a:solidFill>
          <a:ln w="12700">
            <a:solidFill>
              <a:srgbClr val="45634D"/>
            </a:solidFill>
            <a:prstDash val="solid"/>
          </a:ln>
        </p:spPr>
      </p:sp>
      <p:sp>
        <p:nvSpPr>
          <p:cNvPr id="7" name="Text 5"/>
          <p:cNvSpPr/>
          <p:nvPr/>
        </p:nvSpPr>
        <p:spPr>
          <a:xfrm>
            <a:off x="3959352" y="1719072"/>
            <a:ext cx="4069080" cy="347472"/>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«interface» Getraenk</a:t>
            </a:r>
            <a:endParaRPr lang="en-US" sz="2200" dirty="0"/>
          </a:p>
        </p:txBody>
      </p:sp>
      <p:sp>
        <p:nvSpPr>
          <p:cNvPr id="8" name="Text 6"/>
          <p:cNvSpPr/>
          <p:nvPr/>
        </p:nvSpPr>
        <p:spPr>
          <a:xfrm>
            <a:off x="3959352" y="2157984"/>
            <a:ext cx="4069080" cy="292608"/>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getPreis()  ·  getBeschreibung()</a:t>
            </a:r>
            <a:endParaRPr lang="en-US" sz="1600" dirty="0"/>
          </a:p>
        </p:txBody>
      </p:sp>
      <p:sp>
        <p:nvSpPr>
          <p:cNvPr id="9" name="Shape 7"/>
          <p:cNvSpPr/>
          <p:nvPr/>
        </p:nvSpPr>
        <p:spPr>
          <a:xfrm>
            <a:off x="640080" y="3108960"/>
            <a:ext cx="3063240" cy="1261872"/>
          </a:xfrm>
          <a:prstGeom prst="rect">
            <a:avLst/>
          </a:prstGeom>
          <a:solidFill>
            <a:srgbClr val="FFFCF7"/>
          </a:solidFill>
          <a:ln w="12700">
            <a:solidFill>
              <a:srgbClr val="FFFCF7"/>
            </a:solidFill>
            <a:prstDash val="solid"/>
          </a:ln>
        </p:spPr>
      </p:sp>
      <p:sp>
        <p:nvSpPr>
          <p:cNvPr id="10" name="Text 8"/>
          <p:cNvSpPr/>
          <p:nvPr/>
        </p:nvSpPr>
        <p:spPr>
          <a:xfrm>
            <a:off x="850392" y="3337560"/>
            <a:ext cx="2651760" cy="54864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Espresso / Filterkaffee</a:t>
            </a:r>
            <a:endParaRPr lang="en-US" sz="2200" dirty="0"/>
          </a:p>
        </p:txBody>
      </p:sp>
      <p:sp>
        <p:nvSpPr>
          <p:cNvPr id="11" name="Shape 9"/>
          <p:cNvSpPr/>
          <p:nvPr/>
        </p:nvSpPr>
        <p:spPr>
          <a:xfrm>
            <a:off x="5577840" y="3108960"/>
            <a:ext cx="5486400" cy="1261872"/>
          </a:xfrm>
          <a:prstGeom prst="rect">
            <a:avLst/>
          </a:prstGeom>
          <a:solidFill>
            <a:srgbClr val="FFFCF7"/>
          </a:solidFill>
          <a:ln w="12700">
            <a:solidFill>
              <a:srgbClr val="FFFCF7"/>
            </a:solidFill>
            <a:prstDash val="solid"/>
          </a:ln>
        </p:spPr>
      </p:sp>
      <p:sp>
        <p:nvSpPr>
          <p:cNvPr id="12" name="Text 10"/>
          <p:cNvSpPr/>
          <p:nvPr/>
        </p:nvSpPr>
        <p:spPr>
          <a:xfrm>
            <a:off x="5806440" y="3273552"/>
            <a:ext cx="5029200" cy="438912"/>
          </a:xfrm>
          <a:prstGeom prst="rect">
            <a:avLst/>
          </a:prstGeom>
          <a:noFill/>
          <a:ln/>
        </p:spPr>
        <p:txBody>
          <a:bodyPr wrap="square" lIns="0" tIns="0" rIns="0" bIns="0" rtlCol="0" anchor="t"/>
          <a:lstStyle/>
          <a:p>
            <a:pPr indent="0" marL="0">
              <a:buNone/>
            </a:pPr>
            <a:r>
              <a:rPr lang="en-US" sz="2300" b="1" dirty="0">
                <a:solidFill>
                  <a:srgbClr val="30241F"/>
                </a:solidFill>
                <a:latin typeface="Calibri" pitchFamily="34" charset="0"/>
                <a:ea typeface="Calibri" pitchFamily="34" charset="-122"/>
                <a:cs typeface="Calibri" pitchFamily="34" charset="-120"/>
              </a:rPr>
              <a:t>GetraenkDekorierer</a:t>
            </a:r>
            <a:endParaRPr lang="en-US" sz="2300" dirty="0"/>
          </a:p>
        </p:txBody>
      </p:sp>
      <p:sp>
        <p:nvSpPr>
          <p:cNvPr id="13" name="Text 11"/>
          <p:cNvSpPr/>
          <p:nvPr/>
        </p:nvSpPr>
        <p:spPr>
          <a:xfrm>
            <a:off x="5806440" y="3794760"/>
            <a:ext cx="5029200" cy="338328"/>
          </a:xfrm>
          <a:prstGeom prst="rect">
            <a:avLst/>
          </a:prstGeom>
          <a:noFill/>
          <a:ln/>
        </p:spPr>
        <p:txBody>
          <a:bodyPr wrap="square" lIns="0" tIns="0" rIns="0" bIns="0" rtlCol="0" anchor="t"/>
          <a:lstStyle/>
          <a:p>
            <a:pPr indent="0" marL="0">
              <a:buNone/>
            </a:pPr>
            <a:r>
              <a:rPr lang="en-US" sz="1800" dirty="0">
                <a:solidFill>
                  <a:srgbClr val="76665B"/>
                </a:solidFill>
                <a:latin typeface="Calibri" pitchFamily="34" charset="0"/>
                <a:ea typeface="Calibri" pitchFamily="34" charset="-122"/>
                <a:cs typeface="Calibri" pitchFamily="34" charset="-120"/>
              </a:rPr>
              <a:t>− getraenk: Getraenk</a:t>
            </a:r>
            <a:endParaRPr lang="en-US" sz="1800" dirty="0"/>
          </a:p>
        </p:txBody>
      </p:sp>
      <p:sp>
        <p:nvSpPr>
          <p:cNvPr id="14" name="Shape 12"/>
          <p:cNvSpPr/>
          <p:nvPr/>
        </p:nvSpPr>
        <p:spPr>
          <a:xfrm flipV="1">
            <a:off x="2194560" y="2633472"/>
            <a:ext cx="1691640" cy="466344"/>
          </a:xfrm>
          <a:prstGeom prst="line">
            <a:avLst/>
          </a:prstGeom>
          <a:noFill/>
          <a:ln w="22860">
            <a:solidFill>
              <a:srgbClr val="76665B"/>
            </a:solidFill>
            <a:prstDash val="dash"/>
            <a:headEnd type="none"/>
            <a:tailEnd type="triangle"/>
          </a:ln>
        </p:spPr>
      </p:sp>
      <p:sp>
        <p:nvSpPr>
          <p:cNvPr id="15" name="Shape 13"/>
          <p:cNvSpPr/>
          <p:nvPr/>
        </p:nvSpPr>
        <p:spPr>
          <a:xfrm flipH="1" flipV="1">
            <a:off x="7040880" y="2633472"/>
            <a:ext cx="411480" cy="466344"/>
          </a:xfrm>
          <a:prstGeom prst="line">
            <a:avLst/>
          </a:prstGeom>
          <a:noFill/>
          <a:ln w="22860">
            <a:solidFill>
              <a:srgbClr val="76665B"/>
            </a:solidFill>
            <a:prstDash val="dash"/>
            <a:headEnd type="none"/>
            <a:tailEnd type="triangle"/>
          </a:ln>
        </p:spPr>
      </p:sp>
      <p:sp>
        <p:nvSpPr>
          <p:cNvPr id="16" name="Text 14"/>
          <p:cNvSpPr/>
          <p:nvPr/>
        </p:nvSpPr>
        <p:spPr>
          <a:xfrm>
            <a:off x="822960" y="2587752"/>
            <a:ext cx="2194560" cy="274320"/>
          </a:xfrm>
          <a:prstGeom prst="rect">
            <a:avLst/>
          </a:prstGeom>
          <a:noFill/>
          <a:ln/>
        </p:spPr>
        <p:txBody>
          <a:bodyPr wrap="square" lIns="0" tIns="0" rIns="0" bIns="0" rtlCol="0" anchor="t"/>
          <a:lstStyle/>
          <a:p>
            <a:pPr indent="0" marL="0">
              <a:buNone/>
            </a:pPr>
            <a:r>
              <a:rPr lang="en-US" sz="1400" dirty="0">
                <a:solidFill>
                  <a:srgbClr val="76665B"/>
                </a:solidFill>
                <a:latin typeface="Calibri" pitchFamily="34" charset="0"/>
                <a:ea typeface="Calibri" pitchFamily="34" charset="-122"/>
                <a:cs typeface="Calibri" pitchFamily="34" charset="-120"/>
              </a:rPr>
              <a:t>implementiert</a:t>
            </a:r>
            <a:endParaRPr lang="en-US" sz="1400" dirty="0"/>
          </a:p>
        </p:txBody>
      </p:sp>
      <p:sp>
        <p:nvSpPr>
          <p:cNvPr id="17" name="Text 15"/>
          <p:cNvSpPr/>
          <p:nvPr/>
        </p:nvSpPr>
        <p:spPr>
          <a:xfrm>
            <a:off x="8229600" y="2670048"/>
            <a:ext cx="2286000" cy="274320"/>
          </a:xfrm>
          <a:prstGeom prst="rect">
            <a:avLst/>
          </a:prstGeom>
          <a:noFill/>
          <a:ln/>
        </p:spPr>
        <p:txBody>
          <a:bodyPr wrap="square" lIns="0" tIns="0" rIns="0" bIns="0" rtlCol="0" anchor="t"/>
          <a:lstStyle/>
          <a:p>
            <a:pPr indent="0" marL="0">
              <a:buNone/>
            </a:pPr>
            <a:r>
              <a:rPr lang="en-US" sz="1400" dirty="0">
                <a:solidFill>
                  <a:srgbClr val="76665B"/>
                </a:solidFill>
                <a:latin typeface="Calibri" pitchFamily="34" charset="0"/>
                <a:ea typeface="Calibri" pitchFamily="34" charset="-122"/>
                <a:cs typeface="Calibri" pitchFamily="34" charset="-120"/>
              </a:rPr>
              <a:t>implementiert</a:t>
            </a:r>
            <a:endParaRPr lang="en-US" sz="1400" dirty="0"/>
          </a:p>
        </p:txBody>
      </p:sp>
      <p:sp>
        <p:nvSpPr>
          <p:cNvPr id="18" name="Shape 16"/>
          <p:cNvSpPr/>
          <p:nvPr/>
        </p:nvSpPr>
        <p:spPr>
          <a:xfrm>
            <a:off x="4800600" y="4069080"/>
            <a:ext cx="777240" cy="0"/>
          </a:xfrm>
          <a:prstGeom prst="line">
            <a:avLst/>
          </a:prstGeom>
          <a:noFill/>
          <a:ln w="22860">
            <a:solidFill>
              <a:srgbClr val="A75B2A"/>
            </a:solidFill>
            <a:prstDash val="solid"/>
          </a:ln>
        </p:spPr>
      </p:sp>
      <p:sp>
        <p:nvSpPr>
          <p:cNvPr id="19" name="Shape 17"/>
          <p:cNvSpPr/>
          <p:nvPr/>
        </p:nvSpPr>
        <p:spPr>
          <a:xfrm flipV="1">
            <a:off x="4800600" y="2651760"/>
            <a:ext cx="0" cy="1417320"/>
          </a:xfrm>
          <a:prstGeom prst="line">
            <a:avLst/>
          </a:prstGeom>
          <a:noFill/>
          <a:ln w="22860">
            <a:solidFill>
              <a:srgbClr val="A75B2A"/>
            </a:solidFill>
            <a:prstDash val="solid"/>
            <a:headEnd type="none"/>
            <a:tailEnd type="triangle"/>
          </a:ln>
        </p:spPr>
      </p:sp>
      <p:sp>
        <p:nvSpPr>
          <p:cNvPr id="20" name="Text 18"/>
          <p:cNvSpPr/>
          <p:nvPr/>
        </p:nvSpPr>
        <p:spPr>
          <a:xfrm>
            <a:off x="3767328" y="4242816"/>
            <a:ext cx="1645920" cy="658368"/>
          </a:xfrm>
          <a:prstGeom prst="rect">
            <a:avLst/>
          </a:prstGeom>
          <a:noFill/>
          <a:ln/>
        </p:spPr>
        <p:txBody>
          <a:bodyPr wrap="square" lIns="0" tIns="0" rIns="0" bIns="0" rtlCol="0" anchor="t"/>
          <a:lstStyle/>
          <a:p>
            <a:pPr indent="0" marL="0">
              <a:buNone/>
            </a:pPr>
            <a:r>
              <a:rPr lang="en-US" sz="1400" dirty="0">
                <a:solidFill>
                  <a:srgbClr val="A75B2A"/>
                </a:solidFill>
                <a:latin typeface="Calibri" pitchFamily="34" charset="0"/>
                <a:ea typeface="Calibri" pitchFamily="34" charset="-122"/>
                <a:cs typeface="Calibri" pitchFamily="34" charset="-120"/>
              </a:rPr>
              <a:t>enthält</a:t>
            </a:r>
            <a:endParaRPr lang="en-US" sz="1400" dirty="0"/>
          </a:p>
          <a:p>
            <a:pPr indent="0" marL="0">
              <a:buNone/>
            </a:pPr>
            <a:r>
              <a:rPr lang="en-US" sz="1400" dirty="0">
                <a:solidFill>
                  <a:srgbClr val="A75B2A"/>
                </a:solidFill>
                <a:latin typeface="Calibri" pitchFamily="34" charset="0"/>
                <a:ea typeface="Calibri" pitchFamily="34" charset="-122"/>
                <a:cs typeface="Calibri" pitchFamily="34" charset="-120"/>
              </a:rPr>
              <a:t>Getraenk</a:t>
            </a:r>
            <a:endParaRPr lang="en-US" sz="1400" dirty="0"/>
          </a:p>
        </p:txBody>
      </p:sp>
      <p:sp>
        <p:nvSpPr>
          <p:cNvPr id="21" name="Shape 19"/>
          <p:cNvSpPr/>
          <p:nvPr/>
        </p:nvSpPr>
        <p:spPr>
          <a:xfrm>
            <a:off x="4572000" y="5193792"/>
            <a:ext cx="2139696" cy="640080"/>
          </a:xfrm>
          <a:prstGeom prst="rect">
            <a:avLst/>
          </a:prstGeom>
          <a:solidFill>
            <a:srgbClr val="E8D6C3"/>
          </a:solidFill>
          <a:ln w="12700">
            <a:solidFill>
              <a:srgbClr val="E8D6C3"/>
            </a:solidFill>
            <a:prstDash val="solid"/>
          </a:ln>
        </p:spPr>
      </p:sp>
      <p:sp>
        <p:nvSpPr>
          <p:cNvPr id="22" name="Text 20"/>
          <p:cNvSpPr/>
          <p:nvPr/>
        </p:nvSpPr>
        <p:spPr>
          <a:xfrm>
            <a:off x="4736592" y="5367528"/>
            <a:ext cx="1828800" cy="365760"/>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Milch</a:t>
            </a:r>
            <a:endParaRPr lang="en-US" sz="2100" dirty="0"/>
          </a:p>
        </p:txBody>
      </p:sp>
      <p:sp>
        <p:nvSpPr>
          <p:cNvPr id="23" name="Shape 21"/>
          <p:cNvSpPr/>
          <p:nvPr/>
        </p:nvSpPr>
        <p:spPr>
          <a:xfrm flipV="1">
            <a:off x="5641848" y="4389120"/>
            <a:ext cx="2542032" cy="777240"/>
          </a:xfrm>
          <a:prstGeom prst="line">
            <a:avLst/>
          </a:prstGeom>
          <a:noFill/>
          <a:ln w="22860">
            <a:solidFill>
              <a:srgbClr val="76665B"/>
            </a:solidFill>
            <a:prstDash val="solid"/>
            <a:headEnd type="none"/>
            <a:tailEnd type="triangle"/>
          </a:ln>
        </p:spPr>
      </p:sp>
      <p:sp>
        <p:nvSpPr>
          <p:cNvPr id="24" name="Shape 22"/>
          <p:cNvSpPr/>
          <p:nvPr/>
        </p:nvSpPr>
        <p:spPr>
          <a:xfrm>
            <a:off x="6986016" y="5193792"/>
            <a:ext cx="2139696" cy="640080"/>
          </a:xfrm>
          <a:prstGeom prst="rect">
            <a:avLst/>
          </a:prstGeom>
          <a:solidFill>
            <a:srgbClr val="E8D6C3"/>
          </a:solidFill>
          <a:ln w="12700">
            <a:solidFill>
              <a:srgbClr val="E8D6C3"/>
            </a:solidFill>
            <a:prstDash val="solid"/>
          </a:ln>
        </p:spPr>
      </p:sp>
      <p:sp>
        <p:nvSpPr>
          <p:cNvPr id="25" name="Text 23"/>
          <p:cNvSpPr/>
          <p:nvPr/>
        </p:nvSpPr>
        <p:spPr>
          <a:xfrm>
            <a:off x="7150608" y="5367528"/>
            <a:ext cx="1828800" cy="365760"/>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Sirup</a:t>
            </a:r>
            <a:endParaRPr lang="en-US" sz="2100" dirty="0"/>
          </a:p>
        </p:txBody>
      </p:sp>
      <p:sp>
        <p:nvSpPr>
          <p:cNvPr id="26" name="Shape 24"/>
          <p:cNvSpPr/>
          <p:nvPr/>
        </p:nvSpPr>
        <p:spPr>
          <a:xfrm flipV="1">
            <a:off x="8055864" y="4389120"/>
            <a:ext cx="128016" cy="777240"/>
          </a:xfrm>
          <a:prstGeom prst="line">
            <a:avLst/>
          </a:prstGeom>
          <a:noFill/>
          <a:ln w="22860">
            <a:solidFill>
              <a:srgbClr val="76665B"/>
            </a:solidFill>
            <a:prstDash val="solid"/>
            <a:headEnd type="none"/>
            <a:tailEnd type="triangle"/>
          </a:ln>
        </p:spPr>
      </p:sp>
      <p:sp>
        <p:nvSpPr>
          <p:cNvPr id="27" name="Shape 25"/>
          <p:cNvSpPr/>
          <p:nvPr/>
        </p:nvSpPr>
        <p:spPr>
          <a:xfrm>
            <a:off x="9400032" y="5193792"/>
            <a:ext cx="2139696" cy="640080"/>
          </a:xfrm>
          <a:prstGeom prst="rect">
            <a:avLst/>
          </a:prstGeom>
          <a:solidFill>
            <a:srgbClr val="E8D6C3"/>
          </a:solidFill>
          <a:ln w="12700">
            <a:solidFill>
              <a:srgbClr val="E8D6C3"/>
            </a:solidFill>
            <a:prstDash val="solid"/>
          </a:ln>
        </p:spPr>
      </p:sp>
      <p:sp>
        <p:nvSpPr>
          <p:cNvPr id="28" name="Text 26"/>
          <p:cNvSpPr/>
          <p:nvPr/>
        </p:nvSpPr>
        <p:spPr>
          <a:xfrm>
            <a:off x="9564624" y="5367528"/>
            <a:ext cx="1828800" cy="365760"/>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Sahne</a:t>
            </a:r>
            <a:endParaRPr lang="en-US" sz="2100" dirty="0"/>
          </a:p>
        </p:txBody>
      </p:sp>
      <p:sp>
        <p:nvSpPr>
          <p:cNvPr id="29" name="Shape 27"/>
          <p:cNvSpPr/>
          <p:nvPr/>
        </p:nvSpPr>
        <p:spPr>
          <a:xfrm flipH="1" flipV="1">
            <a:off x="8183880" y="4389120"/>
            <a:ext cx="2286000" cy="777240"/>
          </a:xfrm>
          <a:prstGeom prst="line">
            <a:avLst/>
          </a:prstGeom>
          <a:noFill/>
          <a:ln w="22860">
            <a:solidFill>
              <a:srgbClr val="76665B"/>
            </a:solidFill>
            <a:prstDash val="solid"/>
            <a:headEnd type="none"/>
            <a:tailEnd type="triangle"/>
          </a:ln>
        </p:spPr>
      </p:sp>
      <p:sp>
        <p:nvSpPr>
          <p:cNvPr id="30" name="Text 28"/>
          <p:cNvSpPr/>
          <p:nvPr/>
        </p:nvSpPr>
        <p:spPr>
          <a:xfrm>
            <a:off x="731520" y="4956048"/>
            <a:ext cx="3246120" cy="914400"/>
          </a:xfrm>
          <a:prstGeom prst="rect">
            <a:avLst/>
          </a:prstGeom>
          <a:noFill/>
          <a:ln/>
        </p:spPr>
        <p:txBody>
          <a:bodyPr wrap="square" lIns="0" tIns="0" rIns="0" bIns="0" rtlCol="0" anchor="t"/>
          <a:lstStyle/>
          <a:p>
            <a:pPr indent="0" marL="0">
              <a:buNone/>
            </a:pPr>
            <a:r>
              <a:rPr lang="en-US" sz="2000" dirty="0">
                <a:solidFill>
                  <a:srgbClr val="30241F"/>
                </a:solidFill>
                <a:latin typeface="Calibri" pitchFamily="34" charset="0"/>
                <a:ea typeface="Calibri" pitchFamily="34" charset="-122"/>
                <a:cs typeface="Calibri" pitchFamily="34" charset="-120"/>
              </a:rPr>
              <a:t>Die Zusätze erben vom GetraenkDekorierer.</a:t>
            </a:r>
            <a:endParaRPr lang="en-US" sz="20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Slide 6">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02 / Delegation</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Preisberechnung durch die Objektkette</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06</a:t>
            </a:r>
            <a:endParaRPr lang="en-US" sz="1200" dirty="0"/>
          </a:p>
        </p:txBody>
      </p:sp>
      <p:sp>
        <p:nvSpPr>
          <p:cNvPr id="6" name="Text 4"/>
          <p:cNvSpPr/>
          <p:nvPr/>
        </p:nvSpPr>
        <p:spPr>
          <a:xfrm>
            <a:off x="685800" y="1691640"/>
            <a:ext cx="91440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AUFRUF: GETPREIS()</a:t>
            </a:r>
            <a:endParaRPr lang="en-US" sz="1100" dirty="0"/>
          </a:p>
        </p:txBody>
      </p:sp>
      <p:sp>
        <p:nvSpPr>
          <p:cNvPr id="7" name="Shape 5"/>
          <p:cNvSpPr/>
          <p:nvPr/>
        </p:nvSpPr>
        <p:spPr>
          <a:xfrm>
            <a:off x="685800" y="2258568"/>
            <a:ext cx="3246120" cy="941832"/>
          </a:xfrm>
          <a:prstGeom prst="rect">
            <a:avLst/>
          </a:prstGeom>
          <a:solidFill>
            <a:srgbClr val="FFFCF7"/>
          </a:solidFill>
          <a:ln w="12700">
            <a:solidFill>
              <a:srgbClr val="FFFCF7"/>
            </a:solidFill>
            <a:prstDash val="solid"/>
          </a:ln>
        </p:spPr>
      </p:sp>
      <p:sp>
        <p:nvSpPr>
          <p:cNvPr id="8" name="Text 6"/>
          <p:cNvSpPr/>
          <p:nvPr/>
        </p:nvSpPr>
        <p:spPr>
          <a:xfrm>
            <a:off x="914400" y="2542032"/>
            <a:ext cx="2743200" cy="457200"/>
          </a:xfrm>
          <a:prstGeom prst="rect">
            <a:avLst/>
          </a:prstGeom>
          <a:noFill/>
          <a:ln/>
        </p:spPr>
        <p:txBody>
          <a:bodyPr wrap="square" lIns="0" tIns="0" rIns="0" bIns="0" rtlCol="0" anchor="t"/>
          <a:lstStyle/>
          <a:p>
            <a:pPr indent="0" marL="0">
              <a:buNone/>
            </a:pPr>
            <a:r>
              <a:rPr lang="en-US" sz="2600" b="1" dirty="0">
                <a:solidFill>
                  <a:srgbClr val="30241F"/>
                </a:solidFill>
                <a:latin typeface="Calibri" pitchFamily="34" charset="0"/>
                <a:ea typeface="Calibri" pitchFamily="34" charset="-122"/>
                <a:cs typeface="Calibri" pitchFamily="34" charset="-120"/>
              </a:rPr>
              <a:t>Sirup</a:t>
            </a:r>
            <a:endParaRPr lang="en-US" sz="2600" dirty="0"/>
          </a:p>
        </p:txBody>
      </p:sp>
      <p:sp>
        <p:nvSpPr>
          <p:cNvPr id="9" name="Shape 7"/>
          <p:cNvSpPr/>
          <p:nvPr/>
        </p:nvSpPr>
        <p:spPr>
          <a:xfrm>
            <a:off x="4434840" y="2258568"/>
            <a:ext cx="3246120" cy="941832"/>
          </a:xfrm>
          <a:prstGeom prst="rect">
            <a:avLst/>
          </a:prstGeom>
          <a:solidFill>
            <a:srgbClr val="FFFCF7"/>
          </a:solidFill>
          <a:ln w="12700">
            <a:solidFill>
              <a:srgbClr val="FFFCF7"/>
            </a:solidFill>
            <a:prstDash val="solid"/>
          </a:ln>
        </p:spPr>
      </p:sp>
      <p:sp>
        <p:nvSpPr>
          <p:cNvPr id="10" name="Text 8"/>
          <p:cNvSpPr/>
          <p:nvPr/>
        </p:nvSpPr>
        <p:spPr>
          <a:xfrm>
            <a:off x="4663440" y="2542032"/>
            <a:ext cx="2743200" cy="457200"/>
          </a:xfrm>
          <a:prstGeom prst="rect">
            <a:avLst/>
          </a:prstGeom>
          <a:noFill/>
          <a:ln/>
        </p:spPr>
        <p:txBody>
          <a:bodyPr wrap="square" lIns="0" tIns="0" rIns="0" bIns="0" rtlCol="0" anchor="t"/>
          <a:lstStyle/>
          <a:p>
            <a:pPr indent="0" marL="0">
              <a:buNone/>
            </a:pPr>
            <a:r>
              <a:rPr lang="en-US" sz="2600" b="1" dirty="0">
                <a:solidFill>
                  <a:srgbClr val="30241F"/>
                </a:solidFill>
                <a:latin typeface="Calibri" pitchFamily="34" charset="0"/>
                <a:ea typeface="Calibri" pitchFamily="34" charset="-122"/>
                <a:cs typeface="Calibri" pitchFamily="34" charset="-120"/>
              </a:rPr>
              <a:t>Milch</a:t>
            </a:r>
            <a:endParaRPr lang="en-US" sz="2600" dirty="0"/>
          </a:p>
        </p:txBody>
      </p:sp>
      <p:sp>
        <p:nvSpPr>
          <p:cNvPr id="11" name="Shape 9"/>
          <p:cNvSpPr/>
          <p:nvPr/>
        </p:nvSpPr>
        <p:spPr>
          <a:xfrm>
            <a:off x="8183880" y="2258568"/>
            <a:ext cx="3246120" cy="941832"/>
          </a:xfrm>
          <a:prstGeom prst="rect">
            <a:avLst/>
          </a:prstGeom>
          <a:solidFill>
            <a:srgbClr val="45634D"/>
          </a:solidFill>
          <a:ln w="12700">
            <a:solidFill>
              <a:srgbClr val="45634D"/>
            </a:solidFill>
            <a:prstDash val="solid"/>
          </a:ln>
        </p:spPr>
      </p:sp>
      <p:sp>
        <p:nvSpPr>
          <p:cNvPr id="12" name="Text 10"/>
          <p:cNvSpPr/>
          <p:nvPr/>
        </p:nvSpPr>
        <p:spPr>
          <a:xfrm>
            <a:off x="8412480" y="2542032"/>
            <a:ext cx="2743200" cy="45720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Espresso</a:t>
            </a:r>
            <a:endParaRPr lang="en-US" sz="2600" dirty="0"/>
          </a:p>
        </p:txBody>
      </p:sp>
      <p:sp>
        <p:nvSpPr>
          <p:cNvPr id="13" name="Shape 11"/>
          <p:cNvSpPr/>
          <p:nvPr/>
        </p:nvSpPr>
        <p:spPr>
          <a:xfrm>
            <a:off x="3959352" y="2724912"/>
            <a:ext cx="429768" cy="0"/>
          </a:xfrm>
          <a:prstGeom prst="line">
            <a:avLst/>
          </a:prstGeom>
          <a:noFill/>
          <a:ln w="22860">
            <a:solidFill>
              <a:srgbClr val="A75B2A"/>
            </a:solidFill>
            <a:prstDash val="solid"/>
            <a:headEnd type="none"/>
            <a:tailEnd type="triangle"/>
          </a:ln>
        </p:spPr>
      </p:sp>
      <p:sp>
        <p:nvSpPr>
          <p:cNvPr id="14" name="Shape 12"/>
          <p:cNvSpPr/>
          <p:nvPr/>
        </p:nvSpPr>
        <p:spPr>
          <a:xfrm>
            <a:off x="7708392" y="2724912"/>
            <a:ext cx="429768" cy="0"/>
          </a:xfrm>
          <a:prstGeom prst="line">
            <a:avLst/>
          </a:prstGeom>
          <a:noFill/>
          <a:ln w="22860">
            <a:solidFill>
              <a:srgbClr val="A75B2A"/>
            </a:solidFill>
            <a:prstDash val="solid"/>
            <a:headEnd type="none"/>
            <a:tailEnd type="triangle"/>
          </a:ln>
        </p:spPr>
      </p:sp>
      <p:sp>
        <p:nvSpPr>
          <p:cNvPr id="15" name="Text 13"/>
          <p:cNvSpPr/>
          <p:nvPr/>
        </p:nvSpPr>
        <p:spPr>
          <a:xfrm>
            <a:off x="914400" y="3648456"/>
            <a:ext cx="2743200" cy="512064"/>
          </a:xfrm>
          <a:prstGeom prst="rect">
            <a:avLst/>
          </a:prstGeom>
          <a:noFill/>
          <a:ln/>
        </p:spPr>
        <p:txBody>
          <a:bodyPr wrap="square" lIns="0" tIns="0" rIns="0" bIns="0" rtlCol="0" anchor="t"/>
          <a:lstStyle/>
          <a:p>
            <a:pPr indent="0" marL="0">
              <a:buNone/>
            </a:pPr>
            <a:r>
              <a:rPr lang="en-US" sz="3000" b="1" dirty="0">
                <a:solidFill>
                  <a:srgbClr val="30241F"/>
                </a:solidFill>
                <a:latin typeface="Calibri" pitchFamily="34" charset="0"/>
                <a:ea typeface="Calibri" pitchFamily="34" charset="-122"/>
                <a:cs typeface="Calibri" pitchFamily="34" charset="-120"/>
              </a:rPr>
              <a:t>3,20 Euro</a:t>
            </a:r>
            <a:endParaRPr lang="en-US" sz="3000" dirty="0"/>
          </a:p>
        </p:txBody>
      </p:sp>
      <p:sp>
        <p:nvSpPr>
          <p:cNvPr id="16" name="Text 14"/>
          <p:cNvSpPr/>
          <p:nvPr/>
        </p:nvSpPr>
        <p:spPr>
          <a:xfrm>
            <a:off x="4663440" y="3648456"/>
            <a:ext cx="2743200" cy="512064"/>
          </a:xfrm>
          <a:prstGeom prst="rect">
            <a:avLst/>
          </a:prstGeom>
          <a:noFill/>
          <a:ln/>
        </p:spPr>
        <p:txBody>
          <a:bodyPr wrap="square" lIns="0" tIns="0" rIns="0" bIns="0" rtlCol="0" anchor="t"/>
          <a:lstStyle/>
          <a:p>
            <a:pPr indent="0" marL="0">
              <a:buNone/>
            </a:pPr>
            <a:r>
              <a:rPr lang="en-US" sz="3000" b="1" dirty="0">
                <a:solidFill>
                  <a:srgbClr val="30241F"/>
                </a:solidFill>
                <a:latin typeface="Calibri" pitchFamily="34" charset="0"/>
                <a:ea typeface="Calibri" pitchFamily="34" charset="-122"/>
                <a:cs typeface="Calibri" pitchFamily="34" charset="-120"/>
              </a:rPr>
              <a:t>2,50 Euro</a:t>
            </a:r>
            <a:endParaRPr lang="en-US" sz="3000" dirty="0"/>
          </a:p>
        </p:txBody>
      </p:sp>
      <p:sp>
        <p:nvSpPr>
          <p:cNvPr id="17" name="Text 15"/>
          <p:cNvSpPr/>
          <p:nvPr/>
        </p:nvSpPr>
        <p:spPr>
          <a:xfrm>
            <a:off x="8412480" y="3648456"/>
            <a:ext cx="2743200" cy="512064"/>
          </a:xfrm>
          <a:prstGeom prst="rect">
            <a:avLst/>
          </a:prstGeom>
          <a:noFill/>
          <a:ln/>
        </p:spPr>
        <p:txBody>
          <a:bodyPr wrap="square" lIns="0" tIns="0" rIns="0" bIns="0" rtlCol="0" anchor="t"/>
          <a:lstStyle/>
          <a:p>
            <a:pPr indent="0" marL="0">
              <a:buNone/>
            </a:pPr>
            <a:r>
              <a:rPr lang="en-US" sz="3000" b="1" dirty="0">
                <a:solidFill>
                  <a:srgbClr val="30241F"/>
                </a:solidFill>
                <a:latin typeface="Calibri" pitchFamily="34" charset="0"/>
                <a:ea typeface="Calibri" pitchFamily="34" charset="-122"/>
                <a:cs typeface="Calibri" pitchFamily="34" charset="-120"/>
              </a:rPr>
              <a:t>2,00 Euro</a:t>
            </a:r>
            <a:endParaRPr lang="en-US" sz="3000" dirty="0"/>
          </a:p>
        </p:txBody>
      </p:sp>
      <p:sp>
        <p:nvSpPr>
          <p:cNvPr id="18" name="Shape 16"/>
          <p:cNvSpPr/>
          <p:nvPr/>
        </p:nvSpPr>
        <p:spPr>
          <a:xfrm flipH="1">
            <a:off x="7680960" y="3886200"/>
            <a:ext cx="365760" cy="0"/>
          </a:xfrm>
          <a:prstGeom prst="line">
            <a:avLst/>
          </a:prstGeom>
          <a:noFill/>
          <a:ln w="22860">
            <a:solidFill>
              <a:srgbClr val="45634D"/>
            </a:solidFill>
            <a:prstDash val="solid"/>
            <a:headEnd type="none"/>
            <a:tailEnd type="triangle"/>
          </a:ln>
        </p:spPr>
      </p:sp>
      <p:sp>
        <p:nvSpPr>
          <p:cNvPr id="19" name="Shape 17"/>
          <p:cNvSpPr/>
          <p:nvPr/>
        </p:nvSpPr>
        <p:spPr>
          <a:xfrm flipH="1">
            <a:off x="3931920" y="3886200"/>
            <a:ext cx="365760" cy="0"/>
          </a:xfrm>
          <a:prstGeom prst="line">
            <a:avLst/>
          </a:prstGeom>
          <a:noFill/>
          <a:ln w="22860">
            <a:solidFill>
              <a:srgbClr val="45634D"/>
            </a:solidFill>
            <a:prstDash val="solid"/>
            <a:headEnd type="none"/>
            <a:tailEnd type="triangle"/>
          </a:ln>
        </p:spPr>
      </p:sp>
      <p:sp>
        <p:nvSpPr>
          <p:cNvPr id="20" name="Text 18"/>
          <p:cNvSpPr/>
          <p:nvPr/>
        </p:nvSpPr>
        <p:spPr>
          <a:xfrm>
            <a:off x="914400" y="4315968"/>
            <a:ext cx="2743200" cy="365760"/>
          </a:xfrm>
          <a:prstGeom prst="rect">
            <a:avLst/>
          </a:prstGeom>
          <a:noFill/>
          <a:ln/>
        </p:spPr>
        <p:txBody>
          <a:bodyPr wrap="square" lIns="0" tIns="0" rIns="0" bIns="0" rtlCol="0" anchor="t"/>
          <a:lstStyle/>
          <a:p>
            <a:pPr indent="0" marL="0">
              <a:buNone/>
            </a:pPr>
            <a:r>
              <a:rPr lang="en-US" sz="2000" dirty="0">
                <a:solidFill>
                  <a:srgbClr val="76665B"/>
                </a:solidFill>
                <a:latin typeface="Calibri" pitchFamily="34" charset="0"/>
                <a:ea typeface="Calibri" pitchFamily="34" charset="-122"/>
                <a:cs typeface="Calibri" pitchFamily="34" charset="-120"/>
              </a:rPr>
              <a:t>+ 0,70 Euro</a:t>
            </a:r>
            <a:endParaRPr lang="en-US" sz="2000" dirty="0"/>
          </a:p>
        </p:txBody>
      </p:sp>
      <p:sp>
        <p:nvSpPr>
          <p:cNvPr id="21" name="Text 19"/>
          <p:cNvSpPr/>
          <p:nvPr/>
        </p:nvSpPr>
        <p:spPr>
          <a:xfrm>
            <a:off x="4663440" y="4315968"/>
            <a:ext cx="2743200" cy="365760"/>
          </a:xfrm>
          <a:prstGeom prst="rect">
            <a:avLst/>
          </a:prstGeom>
          <a:noFill/>
          <a:ln/>
        </p:spPr>
        <p:txBody>
          <a:bodyPr wrap="square" lIns="0" tIns="0" rIns="0" bIns="0" rtlCol="0" anchor="t"/>
          <a:lstStyle/>
          <a:p>
            <a:pPr indent="0" marL="0">
              <a:buNone/>
            </a:pPr>
            <a:r>
              <a:rPr lang="en-US" sz="2000" dirty="0">
                <a:solidFill>
                  <a:srgbClr val="76665B"/>
                </a:solidFill>
                <a:latin typeface="Calibri" pitchFamily="34" charset="0"/>
                <a:ea typeface="Calibri" pitchFamily="34" charset="-122"/>
                <a:cs typeface="Calibri" pitchFamily="34" charset="-120"/>
              </a:rPr>
              <a:t>+ 0,50 Euro</a:t>
            </a:r>
            <a:endParaRPr lang="en-US" sz="2000" dirty="0"/>
          </a:p>
        </p:txBody>
      </p:sp>
      <p:sp>
        <p:nvSpPr>
          <p:cNvPr id="22" name="Text 20"/>
          <p:cNvSpPr/>
          <p:nvPr/>
        </p:nvSpPr>
        <p:spPr>
          <a:xfrm>
            <a:off x="8412480" y="4315968"/>
            <a:ext cx="2743200" cy="365760"/>
          </a:xfrm>
          <a:prstGeom prst="rect">
            <a:avLst/>
          </a:prstGeom>
          <a:noFill/>
          <a:ln/>
        </p:spPr>
        <p:txBody>
          <a:bodyPr wrap="square" lIns="0" tIns="0" rIns="0" bIns="0" rtlCol="0" anchor="t"/>
          <a:lstStyle/>
          <a:p>
            <a:pPr indent="0" marL="0">
              <a:buNone/>
            </a:pPr>
            <a:r>
              <a:rPr lang="en-US" sz="2000" dirty="0">
                <a:solidFill>
                  <a:srgbClr val="76665B"/>
                </a:solidFill>
                <a:latin typeface="Calibri" pitchFamily="34" charset="0"/>
                <a:ea typeface="Calibri" pitchFamily="34" charset="-122"/>
                <a:cs typeface="Calibri" pitchFamily="34" charset="-120"/>
              </a:rPr>
              <a:t>Grundpreis</a:t>
            </a:r>
            <a:endParaRPr lang="en-US" sz="2000" dirty="0"/>
          </a:p>
        </p:txBody>
      </p:sp>
      <p:sp>
        <p:nvSpPr>
          <p:cNvPr id="23" name="Shape 21"/>
          <p:cNvSpPr/>
          <p:nvPr/>
        </p:nvSpPr>
        <p:spPr>
          <a:xfrm>
            <a:off x="685800" y="5157216"/>
            <a:ext cx="10789920" cy="777240"/>
          </a:xfrm>
          <a:prstGeom prst="rect">
            <a:avLst/>
          </a:prstGeom>
          <a:solidFill>
            <a:srgbClr val="E8D6C3"/>
          </a:solidFill>
          <a:ln w="12700">
            <a:solidFill>
              <a:srgbClr val="E8D6C3"/>
            </a:solidFill>
            <a:prstDash val="solid"/>
          </a:ln>
        </p:spPr>
      </p:sp>
      <p:sp>
        <p:nvSpPr>
          <p:cNvPr id="24" name="Text 22"/>
          <p:cNvSpPr/>
          <p:nvPr/>
        </p:nvSpPr>
        <p:spPr>
          <a:xfrm>
            <a:off x="932688" y="5358384"/>
            <a:ext cx="10287000" cy="393192"/>
          </a:xfrm>
          <a:prstGeom prst="rect">
            <a:avLst/>
          </a:prstGeom>
          <a:noFill/>
          <a:ln/>
        </p:spPr>
        <p:txBody>
          <a:bodyPr wrap="square" lIns="0" tIns="0" rIns="0" bIns="0" rtlCol="0" anchor="t"/>
          <a:lstStyle/>
          <a:p>
            <a:pPr indent="0" marL="0">
              <a:buNone/>
            </a:pPr>
            <a:r>
              <a:rPr lang="en-US" sz="2700" b="1" dirty="0">
                <a:solidFill>
                  <a:srgbClr val="30241F"/>
                </a:solidFill>
                <a:latin typeface="Calibri" pitchFamily="34" charset="0"/>
                <a:ea typeface="Calibri" pitchFamily="34" charset="-122"/>
                <a:cs typeface="Calibri" pitchFamily="34" charset="-120"/>
              </a:rPr>
              <a:t>2,00 + 0,50 + 0,70 = 3,20 Euro</a:t>
            </a:r>
            <a:endParaRPr lang="en-US" sz="27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Slide 7">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03 / Code verstehen</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Java: Weiterleiten und erweitern</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07</a:t>
            </a:r>
            <a:endParaRPr lang="en-US" sz="1200" dirty="0"/>
          </a:p>
        </p:txBody>
      </p:sp>
      <p:sp>
        <p:nvSpPr>
          <p:cNvPr id="6" name="Text 4"/>
          <p:cNvSpPr/>
          <p:nvPr/>
        </p:nvSpPr>
        <p:spPr>
          <a:xfrm>
            <a:off x="685800" y="1691640"/>
            <a:ext cx="64008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GETRAENKDEKORIERER.JAVA</a:t>
            </a:r>
            <a:endParaRPr lang="en-US" sz="1100" dirty="0"/>
          </a:p>
        </p:txBody>
      </p:sp>
      <p:sp>
        <p:nvSpPr>
          <p:cNvPr id="7" name="Shape 5"/>
          <p:cNvSpPr/>
          <p:nvPr/>
        </p:nvSpPr>
        <p:spPr>
          <a:xfrm>
            <a:off x="685800" y="2075688"/>
            <a:ext cx="6812280" cy="3310128"/>
          </a:xfrm>
          <a:prstGeom prst="rect">
            <a:avLst/>
          </a:prstGeom>
          <a:solidFill>
            <a:srgbClr val="30241F"/>
          </a:solidFill>
          <a:ln w="12700">
            <a:solidFill>
              <a:srgbClr val="30241F"/>
            </a:solidFill>
            <a:prstDash val="solid"/>
          </a:ln>
        </p:spPr>
      </p:sp>
      <p:sp>
        <p:nvSpPr>
          <p:cNvPr id="8" name="Text 6"/>
          <p:cNvSpPr/>
          <p:nvPr/>
        </p:nvSpPr>
        <p:spPr>
          <a:xfrm>
            <a:off x="896112" y="2258568"/>
            <a:ext cx="6391656" cy="2944368"/>
          </a:xfrm>
          <a:prstGeom prst="rect">
            <a:avLst/>
          </a:prstGeom>
          <a:noFill/>
          <a:ln/>
        </p:spPr>
        <p:txBody>
          <a:bodyPr wrap="square" lIns="0" tIns="0" rIns="0" bIns="0" rtlCol="0" anchor="t"/>
          <a:lstStyle/>
          <a:p>
            <a:pPr indent="0" marL="0">
              <a:buNone/>
            </a:pPr>
            <a:r>
              <a:rPr lang="en-US" sz="1600" dirty="0">
                <a:solidFill>
                  <a:srgbClr val="F6F0E7"/>
                </a:solidFill>
                <a:latin typeface="Consolas" pitchFamily="34" charset="0"/>
                <a:ea typeface="Consolas" pitchFamily="34" charset="-122"/>
                <a:cs typeface="Consolas" pitchFamily="34" charset="-120"/>
              </a:rPr>
              <a:t>public BigDecimal getPreis() {</a:t>
            </a:r>
            <a:endParaRPr lang="en-US" sz="1600" dirty="0"/>
          </a:p>
          <a:p>
            <a:pPr indent="0" marL="0">
              <a:buNone/>
            </a:pPr>
            <a:r>
              <a:rPr lang="en-US" sz="1600" dirty="0">
                <a:solidFill>
                  <a:srgbClr val="F6F0E7"/>
                </a:solidFill>
                <a:latin typeface="Consolas" pitchFamily="34" charset="0"/>
                <a:ea typeface="Consolas" pitchFamily="34" charset="-122"/>
                <a:cs typeface="Consolas" pitchFamily="34" charset="-120"/>
              </a:rPr>
              <a:t>    return getraenk.getPreis().add(aufpreis);</a:t>
            </a:r>
            <a:endParaRPr lang="en-US" sz="1600" dirty="0"/>
          </a:p>
          <a:p>
            <a:pPr indent="0" marL="0">
              <a:buNone/>
            </a:pPr>
            <a:r>
              <a:rPr lang="en-US" sz="1600" dirty="0">
                <a:solidFill>
                  <a:srgbClr val="F6F0E7"/>
                </a:solidFill>
                <a:latin typeface="Consolas" pitchFamily="34" charset="0"/>
                <a:ea typeface="Consolas" pitchFamily="34" charset="-122"/>
                <a:cs typeface="Consolas" pitchFamily="34" charset="-120"/>
              </a:rPr>
              <a:t>}</a:t>
            </a:r>
            <a:endParaRPr lang="en-US" sz="1600" dirty="0"/>
          </a:p>
          <a:p>
            <a:pPr indent="0" marL="0">
              <a:buNone/>
            </a:pPr>
            <a:endParaRPr lang="en-US" sz="1600" dirty="0"/>
          </a:p>
          <a:p>
            <a:pPr indent="0" marL="0">
              <a:buNone/>
            </a:pPr>
            <a:r>
              <a:rPr lang="en-US" sz="1600" dirty="0">
                <a:solidFill>
                  <a:srgbClr val="F6F0E7"/>
                </a:solidFill>
                <a:latin typeface="Consolas" pitchFamily="34" charset="0"/>
                <a:ea typeface="Consolas" pitchFamily="34" charset="-122"/>
                <a:cs typeface="Consolas" pitchFamily="34" charset="-120"/>
              </a:rPr>
              <a:t>public String getBeschreibung() {</a:t>
            </a:r>
            <a:endParaRPr lang="en-US" sz="1600" dirty="0"/>
          </a:p>
          <a:p>
            <a:pPr indent="0" marL="0">
              <a:buNone/>
            </a:pPr>
            <a:r>
              <a:rPr lang="en-US" sz="1600" dirty="0">
                <a:solidFill>
                  <a:srgbClr val="F6F0E7"/>
                </a:solidFill>
                <a:latin typeface="Consolas" pitchFamily="34" charset="0"/>
                <a:ea typeface="Consolas" pitchFamily="34" charset="-122"/>
                <a:cs typeface="Consolas" pitchFamily="34" charset="-120"/>
              </a:rPr>
              <a:t>    return getraenk.getBeschreibung()</a:t>
            </a:r>
            <a:endParaRPr lang="en-US" sz="1600" dirty="0"/>
          </a:p>
          <a:p>
            <a:pPr indent="0" marL="0">
              <a:buNone/>
            </a:pPr>
            <a:r>
              <a:rPr lang="en-US" sz="1600" dirty="0">
                <a:solidFill>
                  <a:srgbClr val="F6F0E7"/>
                </a:solidFill>
                <a:latin typeface="Consolas" pitchFamily="34" charset="0"/>
                <a:ea typeface="Consolas" pitchFamily="34" charset="-122"/>
                <a:cs typeface="Consolas" pitchFamily="34" charset="-120"/>
              </a:rPr>
              <a:t>            + ", " + name;</a:t>
            </a:r>
            <a:endParaRPr lang="en-US" sz="1600" dirty="0"/>
          </a:p>
          <a:p>
            <a:pPr indent="0" marL="0">
              <a:buNone/>
            </a:pPr>
            <a:r>
              <a:rPr lang="en-US" sz="1600" dirty="0">
                <a:solidFill>
                  <a:srgbClr val="F6F0E7"/>
                </a:solidFill>
                <a:latin typeface="Consolas" pitchFamily="34" charset="0"/>
                <a:ea typeface="Consolas" pitchFamily="34" charset="-122"/>
                <a:cs typeface="Consolas" pitchFamily="34" charset="-120"/>
              </a:rPr>
              <a:t>}</a:t>
            </a:r>
            <a:endParaRPr lang="en-US" sz="1600" dirty="0"/>
          </a:p>
        </p:txBody>
      </p:sp>
      <p:sp>
        <p:nvSpPr>
          <p:cNvPr id="9" name="Text 7"/>
          <p:cNvSpPr/>
          <p:nvPr/>
        </p:nvSpPr>
        <p:spPr>
          <a:xfrm>
            <a:off x="7891272" y="1691640"/>
            <a:ext cx="36576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MILCH.JAVA</a:t>
            </a:r>
            <a:endParaRPr lang="en-US" sz="1100" dirty="0"/>
          </a:p>
        </p:txBody>
      </p:sp>
      <p:sp>
        <p:nvSpPr>
          <p:cNvPr id="10" name="Shape 8"/>
          <p:cNvSpPr/>
          <p:nvPr/>
        </p:nvSpPr>
        <p:spPr>
          <a:xfrm>
            <a:off x="7891272" y="2075688"/>
            <a:ext cx="3602736" cy="1920240"/>
          </a:xfrm>
          <a:prstGeom prst="rect">
            <a:avLst/>
          </a:prstGeom>
          <a:solidFill>
            <a:srgbClr val="30241F"/>
          </a:solidFill>
          <a:ln w="12700">
            <a:solidFill>
              <a:srgbClr val="30241F"/>
            </a:solidFill>
            <a:prstDash val="solid"/>
          </a:ln>
        </p:spPr>
      </p:sp>
      <p:sp>
        <p:nvSpPr>
          <p:cNvPr id="11" name="Text 9"/>
          <p:cNvSpPr/>
          <p:nvPr/>
        </p:nvSpPr>
        <p:spPr>
          <a:xfrm>
            <a:off x="8101584" y="2258568"/>
            <a:ext cx="3182112" cy="1554480"/>
          </a:xfrm>
          <a:prstGeom prst="rect">
            <a:avLst/>
          </a:prstGeom>
          <a:noFill/>
          <a:ln/>
        </p:spPr>
        <p:txBody>
          <a:bodyPr wrap="square" lIns="0" tIns="0" rIns="0" bIns="0" rtlCol="0" anchor="t"/>
          <a:lstStyle/>
          <a:p>
            <a:pPr indent="0" marL="0">
              <a:buNone/>
            </a:pPr>
            <a:r>
              <a:rPr lang="en-US" sz="1400" dirty="0">
                <a:solidFill>
                  <a:srgbClr val="F6F0E7"/>
                </a:solidFill>
                <a:latin typeface="Consolas" pitchFamily="34" charset="0"/>
                <a:ea typeface="Consolas" pitchFamily="34" charset="-122"/>
                <a:cs typeface="Consolas" pitchFamily="34" charset="-120"/>
              </a:rPr>
              <a:t>public Milch(Getraenk g) {</a:t>
            </a:r>
            <a:endParaRPr lang="en-US" sz="1400" dirty="0"/>
          </a:p>
          <a:p>
            <a:pPr indent="0" marL="0">
              <a:buNone/>
            </a:pPr>
            <a:r>
              <a:rPr lang="en-US" sz="1400" dirty="0">
                <a:solidFill>
                  <a:srgbClr val="F6F0E7"/>
                </a:solidFill>
                <a:latin typeface="Consolas" pitchFamily="34" charset="0"/>
                <a:ea typeface="Consolas" pitchFamily="34" charset="-122"/>
                <a:cs typeface="Consolas" pitchFamily="34" charset="-120"/>
              </a:rPr>
              <a:t>    super(g, "Milch", "0.50");</a:t>
            </a:r>
            <a:endParaRPr lang="en-US" sz="1400" dirty="0"/>
          </a:p>
          <a:p>
            <a:pPr indent="0" marL="0">
              <a:buNone/>
            </a:pPr>
            <a:r>
              <a:rPr lang="en-US" sz="1400" dirty="0">
                <a:solidFill>
                  <a:srgbClr val="F6F0E7"/>
                </a:solidFill>
                <a:latin typeface="Consolas" pitchFamily="34" charset="0"/>
                <a:ea typeface="Consolas" pitchFamily="34" charset="-122"/>
                <a:cs typeface="Consolas" pitchFamily="34" charset="-120"/>
              </a:rPr>
              <a:t>}</a:t>
            </a:r>
            <a:endParaRPr lang="en-US" sz="1400" dirty="0"/>
          </a:p>
        </p:txBody>
      </p:sp>
      <p:sp>
        <p:nvSpPr>
          <p:cNvPr id="12" name="Text 10"/>
          <p:cNvSpPr/>
          <p:nvPr/>
        </p:nvSpPr>
        <p:spPr>
          <a:xfrm>
            <a:off x="7909560" y="4498848"/>
            <a:ext cx="3566160" cy="100584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Jeder konkrete Zusatz liefert</a:t>
            </a:r>
            <a:endParaRPr lang="en-US" sz="2200" dirty="0"/>
          </a:p>
          <a:p>
            <a:pPr indent="0" marL="0">
              <a:buNone/>
            </a:pPr>
            <a:r>
              <a:rPr lang="en-US" sz="2200" b="1" dirty="0">
                <a:solidFill>
                  <a:srgbClr val="30241F"/>
                </a:solidFill>
                <a:latin typeface="Calibri" pitchFamily="34" charset="0"/>
                <a:ea typeface="Calibri" pitchFamily="34" charset="-122"/>
                <a:cs typeface="Calibri" pitchFamily="34" charset="-120"/>
              </a:rPr>
              <a:t>Name und Aufpreis.</a:t>
            </a:r>
            <a:endParaRPr lang="en-US" sz="2200" dirty="0"/>
          </a:p>
        </p:txBody>
      </p:sp>
      <p:sp>
        <p:nvSpPr>
          <p:cNvPr id="13" name="Text 11"/>
          <p:cNvSpPr/>
          <p:nvPr/>
        </p:nvSpPr>
        <p:spPr>
          <a:xfrm>
            <a:off x="731520" y="5678424"/>
            <a:ext cx="10607040" cy="402336"/>
          </a:xfrm>
          <a:prstGeom prst="rect">
            <a:avLst/>
          </a:prstGeom>
          <a:noFill/>
          <a:ln/>
        </p:spPr>
        <p:txBody>
          <a:bodyPr wrap="square" lIns="0" tIns="0" rIns="0" bIns="0" rtlCol="0" anchor="t"/>
          <a:lstStyle/>
          <a:p>
            <a:pPr indent="0" marL="0">
              <a:buNone/>
            </a:pPr>
            <a:r>
              <a:rPr lang="en-US" sz="2000" dirty="0">
                <a:solidFill>
                  <a:srgbClr val="76665B"/>
                </a:solidFill>
                <a:latin typeface="Calibri" pitchFamily="34" charset="0"/>
                <a:ea typeface="Calibri" pitchFamily="34" charset="-122"/>
                <a:cs typeface="Calibri" pitchFamily="34" charset="-120"/>
              </a:rPr>
              <a:t>BigDecimal aus Strings hält die Preisberechnung exakt.</a:t>
            </a:r>
            <a:endParaRPr lang="en-US" sz="20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Slide 8">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03 / Java-Demo</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Kombinationen in der Java-Demo</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08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27080" cy="914400"/>
        </p:xfrm>
        <a:graphic>
          <a:graphicData uri="http://schemas.openxmlformats.org/drawingml/2006/table">
            <a:tbl>
              <a:tblPr/>
              <a:tblGrid>
                <a:gridCol w="5166360"/>
                <a:gridCol w="3977640"/>
                <a:gridCol w="1783080"/>
              </a:tblGrid>
              <a:tr h="65836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Objektkette</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45634D"/>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Beschreibung</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45634D"/>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Preis</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45634D"/>
                    </a:solidFill>
                  </a:tcPr>
                </a:tc>
              </a:tr>
              <a:tr h="658368">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new Espresso()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Espresso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2,00 Euro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r>
              <a:tr h="658368">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new Milch(new Espresso())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Espresso, Milch</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2,50 Euro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r>
              <a:tr h="658368">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new Sirup(new Milch(new Espresso()))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Espresso, Milch, Sirup</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3,20 Euro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r>
              <a:tr h="658368">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new Milch(new Milch(new Espresso()))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Espresso, Milch, Milch</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3,00 Euro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r>
            </a:tbl>
          </a:graphicData>
        </a:graphic>
      </p:graphicFrame>
      <p:sp>
        <p:nvSpPr>
          <p:cNvPr id="7" name="Shape 4"/>
          <p:cNvSpPr/>
          <p:nvPr/>
        </p:nvSpPr>
        <p:spPr>
          <a:xfrm>
            <a:off x="685800" y="5513832"/>
            <a:ext cx="594360" cy="502920"/>
          </a:xfrm>
          <a:prstGeom prst="rect">
            <a:avLst/>
          </a:prstGeom>
          <a:solidFill>
            <a:srgbClr val="45634D"/>
          </a:solidFill>
          <a:ln w="12700">
            <a:solidFill>
              <a:srgbClr val="45634D"/>
            </a:solidFill>
            <a:prstDash val="solid"/>
          </a:ln>
        </p:spPr>
      </p:sp>
      <p:sp>
        <p:nvSpPr>
          <p:cNvPr id="8" name="Text 5"/>
          <p:cNvSpPr/>
          <p:nvPr/>
        </p:nvSpPr>
        <p:spPr>
          <a:xfrm>
            <a:off x="859536" y="5559552"/>
            <a:ext cx="274320" cy="3657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9" name="Text 6"/>
          <p:cNvSpPr/>
          <p:nvPr/>
        </p:nvSpPr>
        <p:spPr>
          <a:xfrm>
            <a:off x="1554480" y="5504688"/>
            <a:ext cx="9875520" cy="640080"/>
          </a:xfrm>
          <a:prstGeom prst="rect">
            <a:avLst/>
          </a:prstGeom>
          <a:noFill/>
          <a:ln/>
        </p:spPr>
        <p:txBody>
          <a:bodyPr wrap="square" lIns="0" tIns="0" rIns="0" bIns="0" rtlCol="0" anchor="t"/>
          <a:lstStyle/>
          <a:p>
            <a:pPr indent="0" marL="0">
              <a:buNone/>
            </a:pPr>
            <a:r>
              <a:rPr lang="en-US" sz="2200" dirty="0">
                <a:solidFill>
                  <a:srgbClr val="30241F"/>
                </a:solidFill>
                <a:latin typeface="Calibri" pitchFamily="34" charset="0"/>
                <a:ea typeface="Calibri" pitchFamily="34" charset="-122"/>
                <a:cs typeface="Calibri" pitchFamily="34" charset="-120"/>
              </a:rPr>
              <a:t>Was passiert, wenn wir Milch zweimal um denselben Espresso legen?</a:t>
            </a:r>
            <a:endParaRPr lang="en-US" sz="2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Slide 9">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04 / Vorteile und Grenzen</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Flexibilität hat einen Preis</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09</a:t>
            </a:r>
            <a:endParaRPr lang="en-US" sz="1200" dirty="0"/>
          </a:p>
        </p:txBody>
      </p:sp>
      <p:sp>
        <p:nvSpPr>
          <p:cNvPr id="6" name="Shape 4"/>
          <p:cNvSpPr/>
          <p:nvPr/>
        </p:nvSpPr>
        <p:spPr>
          <a:xfrm>
            <a:off x="685800" y="1737360"/>
            <a:ext cx="5257800" cy="4251960"/>
          </a:xfrm>
          <a:prstGeom prst="rect">
            <a:avLst/>
          </a:prstGeom>
          <a:solidFill>
            <a:srgbClr val="FFFCF7"/>
          </a:solidFill>
          <a:ln w="12700">
            <a:solidFill>
              <a:srgbClr val="FFFCF7"/>
            </a:solidFill>
            <a:prstDash val="solid"/>
          </a:ln>
        </p:spPr>
      </p:sp>
      <p:sp>
        <p:nvSpPr>
          <p:cNvPr id="7" name="Shape 5"/>
          <p:cNvSpPr/>
          <p:nvPr/>
        </p:nvSpPr>
        <p:spPr>
          <a:xfrm>
            <a:off x="6263640" y="1737360"/>
            <a:ext cx="5257800" cy="4251960"/>
          </a:xfrm>
          <a:prstGeom prst="rect">
            <a:avLst/>
          </a:prstGeom>
          <a:solidFill>
            <a:srgbClr val="F1DFD7"/>
          </a:solidFill>
          <a:ln w="12700">
            <a:solidFill>
              <a:srgbClr val="F1DFD7"/>
            </a:solidFill>
            <a:prstDash val="solid"/>
          </a:ln>
        </p:spPr>
      </p:sp>
      <p:sp>
        <p:nvSpPr>
          <p:cNvPr id="8" name="Text 6"/>
          <p:cNvSpPr/>
          <p:nvPr/>
        </p:nvSpPr>
        <p:spPr>
          <a:xfrm>
            <a:off x="960120" y="2029968"/>
            <a:ext cx="4663440" cy="548640"/>
          </a:xfrm>
          <a:prstGeom prst="rect">
            <a:avLst/>
          </a:prstGeom>
          <a:noFill/>
          <a:ln/>
        </p:spPr>
        <p:txBody>
          <a:bodyPr wrap="square" lIns="0" tIns="0" rIns="0" bIns="0" rtlCol="0" anchor="t"/>
          <a:lstStyle/>
          <a:p>
            <a:pPr indent="0" marL="0">
              <a:buNone/>
            </a:pPr>
            <a:r>
              <a:rPr lang="en-US" sz="2800" b="1" dirty="0">
                <a:solidFill>
                  <a:srgbClr val="45634D"/>
                </a:solidFill>
                <a:latin typeface="Calibri" pitchFamily="34" charset="0"/>
                <a:ea typeface="Calibri" pitchFamily="34" charset="-122"/>
                <a:cs typeface="Calibri" pitchFamily="34" charset="-120"/>
              </a:rPr>
              <a:t>Vorteile</a:t>
            </a:r>
            <a:endParaRPr lang="en-US" sz="2800" dirty="0"/>
          </a:p>
        </p:txBody>
      </p:sp>
      <p:sp>
        <p:nvSpPr>
          <p:cNvPr id="9" name="Text 7"/>
          <p:cNvSpPr/>
          <p:nvPr/>
        </p:nvSpPr>
        <p:spPr>
          <a:xfrm>
            <a:off x="6537960" y="2029968"/>
            <a:ext cx="4663440" cy="548640"/>
          </a:xfrm>
          <a:prstGeom prst="rect">
            <a:avLst/>
          </a:prstGeom>
          <a:noFill/>
          <a:ln/>
        </p:spPr>
        <p:txBody>
          <a:bodyPr wrap="square" lIns="0" tIns="0" rIns="0" bIns="0" rtlCol="0" anchor="t"/>
          <a:lstStyle/>
          <a:p>
            <a:pPr indent="0" marL="0">
              <a:buNone/>
            </a:pPr>
            <a:r>
              <a:rPr lang="en-US" sz="2800" b="1" dirty="0">
                <a:solidFill>
                  <a:srgbClr val="A75B2A"/>
                </a:solidFill>
                <a:latin typeface="Calibri" pitchFamily="34" charset="0"/>
                <a:ea typeface="Calibri" pitchFamily="34" charset="-122"/>
                <a:cs typeface="Calibri" pitchFamily="34" charset="-120"/>
              </a:rPr>
              <a:t>Nachteile</a:t>
            </a:r>
            <a:endParaRPr lang="en-US" sz="2800" dirty="0"/>
          </a:p>
        </p:txBody>
      </p:sp>
      <p:sp>
        <p:nvSpPr>
          <p:cNvPr id="10" name="Text 8"/>
          <p:cNvSpPr/>
          <p:nvPr/>
        </p:nvSpPr>
        <p:spPr>
          <a:xfrm>
            <a:off x="960120" y="2825496"/>
            <a:ext cx="4663440" cy="347472"/>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Flexibel kombinieren</a:t>
            </a:r>
            <a:endParaRPr lang="en-US" sz="2100" dirty="0"/>
          </a:p>
        </p:txBody>
      </p:sp>
      <p:sp>
        <p:nvSpPr>
          <p:cNvPr id="11" name="Text 9"/>
          <p:cNvSpPr/>
          <p:nvPr/>
        </p:nvSpPr>
        <p:spPr>
          <a:xfrm>
            <a:off x="960120" y="3246120"/>
            <a:ext cx="4617720" cy="411480"/>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Zusätze lassen sich frei verschachteln.</a:t>
            </a:r>
            <a:endParaRPr lang="en-US" sz="1700" dirty="0"/>
          </a:p>
        </p:txBody>
      </p:sp>
      <p:sp>
        <p:nvSpPr>
          <p:cNvPr id="12" name="Text 10"/>
          <p:cNvSpPr/>
          <p:nvPr/>
        </p:nvSpPr>
        <p:spPr>
          <a:xfrm>
            <a:off x="960120" y="3767328"/>
            <a:ext cx="4663440" cy="347472"/>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Einfach erweitern</a:t>
            </a:r>
            <a:endParaRPr lang="en-US" sz="2100" dirty="0"/>
          </a:p>
        </p:txBody>
      </p:sp>
      <p:sp>
        <p:nvSpPr>
          <p:cNvPr id="13" name="Text 11"/>
          <p:cNvSpPr/>
          <p:nvPr/>
        </p:nvSpPr>
        <p:spPr>
          <a:xfrm>
            <a:off x="960120" y="4187952"/>
            <a:ext cx="4617720" cy="411480"/>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Neue Dekorierer ergänzen Funktionen.</a:t>
            </a:r>
            <a:endParaRPr lang="en-US" sz="1700" dirty="0"/>
          </a:p>
        </p:txBody>
      </p:sp>
      <p:sp>
        <p:nvSpPr>
          <p:cNvPr id="14" name="Text 12"/>
          <p:cNvSpPr/>
          <p:nvPr/>
        </p:nvSpPr>
        <p:spPr>
          <a:xfrm>
            <a:off x="960120" y="4709160"/>
            <a:ext cx="4663440" cy="347472"/>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Klassen übersichtlich halten</a:t>
            </a:r>
            <a:endParaRPr lang="en-US" sz="2100" dirty="0"/>
          </a:p>
        </p:txBody>
      </p:sp>
      <p:sp>
        <p:nvSpPr>
          <p:cNvPr id="15" name="Text 13"/>
          <p:cNvSpPr/>
          <p:nvPr/>
        </p:nvSpPr>
        <p:spPr>
          <a:xfrm>
            <a:off x="960120" y="5129784"/>
            <a:ext cx="4617720" cy="411480"/>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Eine Aufgabe pro Zusatz.</a:t>
            </a:r>
            <a:endParaRPr lang="en-US" sz="1700" dirty="0"/>
          </a:p>
        </p:txBody>
      </p:sp>
      <p:sp>
        <p:nvSpPr>
          <p:cNvPr id="16" name="Text 14"/>
          <p:cNvSpPr/>
          <p:nvPr/>
        </p:nvSpPr>
        <p:spPr>
          <a:xfrm>
            <a:off x="6537960" y="2825496"/>
            <a:ext cx="4663440" cy="347472"/>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Viele kleine Objekte</a:t>
            </a:r>
            <a:endParaRPr lang="en-US" sz="2100" dirty="0"/>
          </a:p>
        </p:txBody>
      </p:sp>
      <p:sp>
        <p:nvSpPr>
          <p:cNvPr id="17" name="Text 15"/>
          <p:cNvSpPr/>
          <p:nvPr/>
        </p:nvSpPr>
        <p:spPr>
          <a:xfrm>
            <a:off x="6537960" y="3246120"/>
            <a:ext cx="4617720" cy="411480"/>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Aufbau und Initialisierung werden länger.</a:t>
            </a:r>
            <a:endParaRPr lang="en-US" sz="1700" dirty="0"/>
          </a:p>
        </p:txBody>
      </p:sp>
      <p:sp>
        <p:nvSpPr>
          <p:cNvPr id="18" name="Text 16"/>
          <p:cNvSpPr/>
          <p:nvPr/>
        </p:nvSpPr>
        <p:spPr>
          <a:xfrm>
            <a:off x="6537960" y="3767328"/>
            <a:ext cx="4663440" cy="347472"/>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Fehlersuche in Ketten</a:t>
            </a:r>
            <a:endParaRPr lang="en-US" sz="2100" dirty="0"/>
          </a:p>
        </p:txBody>
      </p:sp>
      <p:sp>
        <p:nvSpPr>
          <p:cNvPr id="19" name="Text 17"/>
          <p:cNvSpPr/>
          <p:nvPr/>
        </p:nvSpPr>
        <p:spPr>
          <a:xfrm>
            <a:off x="6537960" y="4187952"/>
            <a:ext cx="4617720" cy="411480"/>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Aufrufe laufen durch mehrere Schichten.</a:t>
            </a:r>
            <a:endParaRPr lang="en-US" sz="1700" dirty="0"/>
          </a:p>
        </p:txBody>
      </p:sp>
      <p:sp>
        <p:nvSpPr>
          <p:cNvPr id="20" name="Text 18"/>
          <p:cNvSpPr/>
          <p:nvPr/>
        </p:nvSpPr>
        <p:spPr>
          <a:xfrm>
            <a:off x="6537960" y="4709160"/>
            <a:ext cx="4663440" cy="347472"/>
          </a:xfrm>
          <a:prstGeom prst="rect">
            <a:avLst/>
          </a:prstGeom>
          <a:noFill/>
          <a:ln/>
        </p:spPr>
        <p:txBody>
          <a:bodyPr wrap="square" lIns="0" tIns="0" rIns="0" bIns="0" rtlCol="0" anchor="t"/>
          <a:lstStyle/>
          <a:p>
            <a:pPr indent="0" marL="0">
              <a:buNone/>
            </a:pPr>
            <a:r>
              <a:rPr lang="en-US" sz="2100" b="1" dirty="0">
                <a:solidFill>
                  <a:srgbClr val="30241F"/>
                </a:solidFill>
                <a:latin typeface="Calibri" pitchFamily="34" charset="0"/>
                <a:ea typeface="Calibri" pitchFamily="34" charset="-122"/>
                <a:cs typeface="Calibri" pitchFamily="34" charset="-120"/>
              </a:rPr>
              <a:t>Andere Objektidentität</a:t>
            </a:r>
            <a:endParaRPr lang="en-US" sz="2100" dirty="0"/>
          </a:p>
        </p:txBody>
      </p:sp>
      <p:sp>
        <p:nvSpPr>
          <p:cNvPr id="21" name="Text 19"/>
          <p:cNvSpPr/>
          <p:nvPr/>
        </p:nvSpPr>
        <p:spPr>
          <a:xfrm>
            <a:off x="6537960" y="5129784"/>
            <a:ext cx="4617720" cy="411480"/>
          </a:xfrm>
          <a:prstGeom prst="rect">
            <a:avLst/>
          </a:prstGeom>
          <a:noFill/>
          <a:ln/>
        </p:spPr>
        <p:txBody>
          <a:bodyPr wrap="square" lIns="0" tIns="0" rIns="0" bIns="0" rtlCol="0" anchor="t"/>
          <a:lstStyle/>
          <a:p>
            <a:pPr indent="0" marL="0">
              <a:buNone/>
            </a:pPr>
            <a:r>
              <a:rPr lang="en-US" sz="1700" dirty="0">
                <a:solidFill>
                  <a:srgbClr val="76665B"/>
                </a:solidFill>
                <a:latin typeface="Calibri" pitchFamily="34" charset="0"/>
                <a:ea typeface="Calibri" pitchFamily="34" charset="-122"/>
                <a:cs typeface="Calibri" pitchFamily="34" charset="-120"/>
              </a:rPr>
              <a:t>Hülle und Inhalt sind nicht dieselbe Instanz.</a:t>
            </a:r>
            <a:endParaRPr lang="en-US" sz="17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lide 10">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04 / Einsatzsituationen</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Wann lohnt sich das Decorator-Muster?</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10</a:t>
            </a:r>
            <a:endParaRPr lang="en-US" sz="1200" dirty="0"/>
          </a:p>
        </p:txBody>
      </p:sp>
      <p:sp>
        <p:nvSpPr>
          <p:cNvPr id="6" name="Shape 4"/>
          <p:cNvSpPr/>
          <p:nvPr/>
        </p:nvSpPr>
        <p:spPr>
          <a:xfrm>
            <a:off x="685800" y="1801368"/>
            <a:ext cx="5212080" cy="3474720"/>
          </a:xfrm>
          <a:prstGeom prst="rect">
            <a:avLst/>
          </a:prstGeom>
          <a:solidFill>
            <a:srgbClr val="FFFCF7"/>
          </a:solidFill>
          <a:ln w="12700">
            <a:solidFill>
              <a:srgbClr val="FFFCF7"/>
            </a:solidFill>
            <a:prstDash val="solid"/>
          </a:ln>
        </p:spPr>
      </p:sp>
      <p:sp>
        <p:nvSpPr>
          <p:cNvPr id="7" name="Text 5"/>
          <p:cNvSpPr/>
          <p:nvPr/>
        </p:nvSpPr>
        <p:spPr>
          <a:xfrm>
            <a:off x="914400" y="2020824"/>
            <a:ext cx="4754880" cy="548640"/>
          </a:xfrm>
          <a:prstGeom prst="rect">
            <a:avLst/>
          </a:prstGeom>
          <a:noFill/>
          <a:ln/>
        </p:spPr>
        <p:txBody>
          <a:bodyPr wrap="square" lIns="0" tIns="0" rIns="0" bIns="0" rtlCol="0" anchor="t"/>
          <a:lstStyle/>
          <a:p>
            <a:pPr indent="0" marL="0">
              <a:buNone/>
            </a:pPr>
            <a:r>
              <a:rPr lang="en-US" sz="2300" b="1" dirty="0">
                <a:solidFill>
                  <a:srgbClr val="30241F"/>
                </a:solidFill>
                <a:latin typeface="Calibri" pitchFamily="34" charset="0"/>
                <a:ea typeface="Calibri" pitchFamily="34" charset="-122"/>
                <a:cs typeface="Calibri" pitchFamily="34" charset="-120"/>
              </a:rPr>
              <a:t>Gut geeignet</a:t>
            </a:r>
            <a:endParaRPr lang="en-US" sz="2300" dirty="0"/>
          </a:p>
        </p:txBody>
      </p:sp>
      <p:sp>
        <p:nvSpPr>
          <p:cNvPr id="8" name="Text 6"/>
          <p:cNvSpPr/>
          <p:nvPr/>
        </p:nvSpPr>
        <p:spPr>
          <a:xfrm>
            <a:off x="914400" y="2715768"/>
            <a:ext cx="4754880" cy="2423160"/>
          </a:xfrm>
          <a:prstGeom prst="rect">
            <a:avLst/>
          </a:prstGeom>
          <a:noFill/>
          <a:ln/>
        </p:spPr>
        <p:txBody>
          <a:bodyPr wrap="square" lIns="0" tIns="0" rIns="0" bIns="0" rtlCol="0" anchor="t"/>
          <a:lstStyle/>
          <a:p>
            <a:pPr indent="0" marL="0">
              <a:buNone/>
            </a:pPr>
            <a:r>
              <a:rPr lang="en-US" sz="1900" dirty="0">
                <a:solidFill>
                  <a:srgbClr val="30241F"/>
                </a:solidFill>
                <a:latin typeface="Calibri" pitchFamily="34" charset="0"/>
                <a:ea typeface="Calibri" pitchFamily="34" charset="-122"/>
                <a:cs typeface="Calibri" pitchFamily="34" charset="-120"/>
              </a:rPr>
              <a:t>Viele optionale Funktionen</a:t>
            </a:r>
            <a:endParaRPr lang="en-US" sz="1900" dirty="0"/>
          </a:p>
          <a:p>
            <a:pPr indent="0" marL="0">
              <a:buNone/>
            </a:pPr>
            <a:endParaRPr lang="en-US" sz="1900" dirty="0"/>
          </a:p>
          <a:p>
            <a:pPr indent="0" marL="0">
              <a:buNone/>
            </a:pPr>
            <a:r>
              <a:rPr lang="en-US" sz="1900" dirty="0">
                <a:solidFill>
                  <a:srgbClr val="30241F"/>
                </a:solidFill>
                <a:latin typeface="Calibri" pitchFamily="34" charset="0"/>
                <a:ea typeface="Calibri" pitchFamily="34" charset="-122"/>
                <a:cs typeface="Calibri" pitchFamily="34" charset="-120"/>
              </a:rPr>
              <a:t>Unabhängig kombinierbare Zusätze</a:t>
            </a:r>
            <a:endParaRPr lang="en-US" sz="1900" dirty="0"/>
          </a:p>
          <a:p>
            <a:pPr indent="0" marL="0">
              <a:buNone/>
            </a:pPr>
            <a:endParaRPr lang="en-US" sz="1900" dirty="0"/>
          </a:p>
          <a:p>
            <a:pPr indent="0" marL="0">
              <a:buNone/>
            </a:pPr>
            <a:r>
              <a:rPr lang="en-US" sz="1900" dirty="0">
                <a:solidFill>
                  <a:srgbClr val="30241F"/>
                </a:solidFill>
                <a:latin typeface="Calibri" pitchFamily="34" charset="0"/>
                <a:ea typeface="Calibri" pitchFamily="34" charset="-122"/>
                <a:cs typeface="Calibri" pitchFamily="34" charset="-120"/>
              </a:rPr>
              <a:t>Erweiterungen einzelner Objekte</a:t>
            </a:r>
            <a:endParaRPr lang="en-US" sz="1900" dirty="0"/>
          </a:p>
        </p:txBody>
      </p:sp>
      <p:sp>
        <p:nvSpPr>
          <p:cNvPr id="9" name="Shape 7"/>
          <p:cNvSpPr/>
          <p:nvPr/>
        </p:nvSpPr>
        <p:spPr>
          <a:xfrm>
            <a:off x="6263640" y="1801368"/>
            <a:ext cx="5212080" cy="3474720"/>
          </a:xfrm>
          <a:prstGeom prst="rect">
            <a:avLst/>
          </a:prstGeom>
          <a:solidFill>
            <a:srgbClr val="E8D6C3"/>
          </a:solidFill>
          <a:ln w="12700">
            <a:solidFill>
              <a:srgbClr val="E8D6C3"/>
            </a:solidFill>
            <a:prstDash val="solid"/>
          </a:ln>
        </p:spPr>
      </p:sp>
      <p:sp>
        <p:nvSpPr>
          <p:cNvPr id="10" name="Text 8"/>
          <p:cNvSpPr/>
          <p:nvPr/>
        </p:nvSpPr>
        <p:spPr>
          <a:xfrm>
            <a:off x="6492240" y="2020824"/>
            <a:ext cx="4754880" cy="548640"/>
          </a:xfrm>
          <a:prstGeom prst="rect">
            <a:avLst/>
          </a:prstGeom>
          <a:noFill/>
          <a:ln/>
        </p:spPr>
        <p:txBody>
          <a:bodyPr wrap="square" lIns="0" tIns="0" rIns="0" bIns="0" rtlCol="0" anchor="t"/>
          <a:lstStyle/>
          <a:p>
            <a:pPr indent="0" marL="0">
              <a:buNone/>
            </a:pPr>
            <a:r>
              <a:rPr lang="en-US" sz="2300" b="1" dirty="0">
                <a:solidFill>
                  <a:srgbClr val="30241F"/>
                </a:solidFill>
                <a:latin typeface="Calibri" pitchFamily="34" charset="0"/>
                <a:ea typeface="Calibri" pitchFamily="34" charset="-122"/>
                <a:cs typeface="Calibri" pitchFamily="34" charset="-120"/>
              </a:rPr>
              <a:t>Einfacher genügt oft</a:t>
            </a:r>
            <a:endParaRPr lang="en-US" sz="2300" dirty="0"/>
          </a:p>
        </p:txBody>
      </p:sp>
      <p:sp>
        <p:nvSpPr>
          <p:cNvPr id="11" name="Text 9"/>
          <p:cNvSpPr/>
          <p:nvPr/>
        </p:nvSpPr>
        <p:spPr>
          <a:xfrm>
            <a:off x="6492240" y="2715768"/>
            <a:ext cx="4754880" cy="2423160"/>
          </a:xfrm>
          <a:prstGeom prst="rect">
            <a:avLst/>
          </a:prstGeom>
          <a:noFill/>
          <a:ln/>
        </p:spPr>
        <p:txBody>
          <a:bodyPr wrap="square" lIns="0" tIns="0" rIns="0" bIns="0" rtlCol="0" anchor="t"/>
          <a:lstStyle/>
          <a:p>
            <a:pPr indent="0" marL="0">
              <a:buNone/>
            </a:pPr>
            <a:r>
              <a:rPr lang="en-US" sz="1900" dirty="0">
                <a:solidFill>
                  <a:srgbClr val="30241F"/>
                </a:solidFill>
                <a:latin typeface="Calibri" pitchFamily="34" charset="0"/>
                <a:ea typeface="Calibri" pitchFamily="34" charset="-122"/>
                <a:cs typeface="Calibri" pitchFamily="34" charset="-120"/>
              </a:rPr>
              <a:t>Wenige festgelegte Varianten</a:t>
            </a:r>
            <a:endParaRPr lang="en-US" sz="1900" dirty="0"/>
          </a:p>
          <a:p>
            <a:pPr indent="0" marL="0">
              <a:buNone/>
            </a:pPr>
            <a:endParaRPr lang="en-US" sz="1900" dirty="0"/>
          </a:p>
          <a:p>
            <a:pPr indent="0" marL="0">
              <a:buNone/>
            </a:pPr>
            <a:r>
              <a:rPr lang="en-US" sz="1900" dirty="0">
                <a:solidFill>
                  <a:srgbClr val="30241F"/>
                </a:solidFill>
                <a:latin typeface="Calibri" pitchFamily="34" charset="0"/>
                <a:ea typeface="Calibri" pitchFamily="34" charset="-122"/>
                <a:cs typeface="Calibri" pitchFamily="34" charset="-120"/>
              </a:rPr>
              <a:t>Kaum wechselnde Kombinationen</a:t>
            </a:r>
            <a:endParaRPr lang="en-US" sz="1900" dirty="0"/>
          </a:p>
          <a:p>
            <a:pPr indent="0" marL="0">
              <a:buNone/>
            </a:pPr>
            <a:endParaRPr lang="en-US" sz="1900" dirty="0"/>
          </a:p>
          <a:p>
            <a:pPr indent="0" marL="0">
              <a:buNone/>
            </a:pPr>
            <a:r>
              <a:rPr lang="en-US" sz="1900" dirty="0">
                <a:solidFill>
                  <a:srgbClr val="30241F"/>
                </a:solidFill>
                <a:latin typeface="Calibri" pitchFamily="34" charset="0"/>
                <a:ea typeface="Calibri" pitchFamily="34" charset="-122"/>
                <a:cs typeface="Calibri" pitchFamily="34" charset="-120"/>
              </a:rPr>
              <a:t>Zusätzliche Hüllen bringen wenig Nutzen</a:t>
            </a:r>
            <a:endParaRPr lang="en-US" sz="1900" dirty="0"/>
          </a:p>
        </p:txBody>
      </p:sp>
      <p:sp>
        <p:nvSpPr>
          <p:cNvPr id="12" name="Text 10"/>
          <p:cNvSpPr/>
          <p:nvPr/>
        </p:nvSpPr>
        <p:spPr>
          <a:xfrm>
            <a:off x="777240" y="5486400"/>
            <a:ext cx="10698480" cy="731520"/>
          </a:xfrm>
          <a:prstGeom prst="rect">
            <a:avLst/>
          </a:prstGeom>
          <a:noFill/>
          <a:ln/>
        </p:spPr>
        <p:txBody>
          <a:bodyPr wrap="square" lIns="0" tIns="0" rIns="0" bIns="0" rtlCol="0" anchor="t"/>
          <a:lstStyle/>
          <a:p>
            <a:pPr indent="0" marL="0">
              <a:buNone/>
            </a:pPr>
            <a:r>
              <a:rPr lang="en-US" sz="2000" dirty="0">
                <a:solidFill>
                  <a:srgbClr val="76665B"/>
                </a:solidFill>
                <a:latin typeface="Calibri" pitchFamily="34" charset="0"/>
                <a:ea typeface="Calibri" pitchFamily="34" charset="-122"/>
                <a:cs typeface="Calibri" pitchFamily="34" charset="-120"/>
              </a:rPr>
              <a:t>Beispiele: Getränke mit Zusätzen, Textkomponenten mit Rahmen,</a:t>
            </a:r>
            <a:endParaRPr lang="en-US" sz="2000" dirty="0"/>
          </a:p>
          <a:p>
            <a:pPr indent="0" marL="0">
              <a:buNone/>
            </a:pPr>
            <a:r>
              <a:rPr lang="en-US" sz="2000" dirty="0">
                <a:solidFill>
                  <a:srgbClr val="76665B"/>
                </a:solidFill>
                <a:latin typeface="Calibri" pitchFamily="34" charset="0"/>
                <a:ea typeface="Calibri" pitchFamily="34" charset="-122"/>
                <a:cs typeface="Calibri" pitchFamily="34" charset="-120"/>
              </a:rPr>
              <a:t>Datenströme mit Komprimierung oder Verschlüsselung.</a:t>
            </a:r>
            <a:endParaRPr lang="en-US" sz="20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Slide 11">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05 / Klassenübung</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Jetzt ergänzt ihr Karamell in Python</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11</a:t>
            </a:r>
            <a:endParaRPr lang="en-US" sz="1200" dirty="0"/>
          </a:p>
        </p:txBody>
      </p:sp>
      <p:sp>
        <p:nvSpPr>
          <p:cNvPr id="6" name="Shape 4"/>
          <p:cNvSpPr/>
          <p:nvPr/>
        </p:nvSpPr>
        <p:spPr>
          <a:xfrm>
            <a:off x="685800" y="1773936"/>
            <a:ext cx="3081528" cy="3319272"/>
          </a:xfrm>
          <a:prstGeom prst="rect">
            <a:avLst/>
          </a:prstGeom>
          <a:solidFill>
            <a:srgbClr val="45634D"/>
          </a:solidFill>
          <a:ln w="12700">
            <a:solidFill>
              <a:srgbClr val="45634D"/>
            </a:solidFill>
            <a:prstDash val="solid"/>
          </a:ln>
        </p:spPr>
      </p:sp>
      <p:sp>
        <p:nvSpPr>
          <p:cNvPr id="7" name="Text 5"/>
          <p:cNvSpPr/>
          <p:nvPr/>
        </p:nvSpPr>
        <p:spPr>
          <a:xfrm>
            <a:off x="960120" y="2167128"/>
            <a:ext cx="2514600" cy="941832"/>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15–20</a:t>
            </a:r>
            <a:endParaRPr lang="en-US" sz="4800" dirty="0"/>
          </a:p>
        </p:txBody>
      </p:sp>
      <p:sp>
        <p:nvSpPr>
          <p:cNvPr id="8" name="Text 6"/>
          <p:cNvSpPr/>
          <p:nvPr/>
        </p:nvSpPr>
        <p:spPr>
          <a:xfrm>
            <a:off x="978408" y="3218688"/>
            <a:ext cx="2468880" cy="475488"/>
          </a:xfrm>
          <a:prstGeom prst="rect">
            <a:avLst/>
          </a:prstGeom>
          <a:noFill/>
          <a:ln/>
        </p:spPr>
        <p:txBody>
          <a:bodyPr wrap="square" lIns="0" tIns="0" rIns="0" bIns="0" rtlCol="0" anchor="t"/>
          <a:lstStyle/>
          <a:p>
            <a:pPr indent="0" marL="0">
              <a:buNone/>
            </a:pPr>
            <a:r>
              <a:rPr lang="en-US" sz="2500" dirty="0">
                <a:solidFill>
                  <a:srgbClr val="FFFFFF"/>
                </a:solidFill>
                <a:latin typeface="Calibri" pitchFamily="34" charset="0"/>
                <a:ea typeface="Calibri" pitchFamily="34" charset="-122"/>
                <a:cs typeface="Calibri" pitchFamily="34" charset="-120"/>
              </a:rPr>
              <a:t>Minuten</a:t>
            </a:r>
            <a:endParaRPr lang="en-US" sz="2500" dirty="0"/>
          </a:p>
        </p:txBody>
      </p:sp>
      <p:sp>
        <p:nvSpPr>
          <p:cNvPr id="9" name="Text 7"/>
          <p:cNvSpPr/>
          <p:nvPr/>
        </p:nvSpPr>
        <p:spPr>
          <a:xfrm>
            <a:off x="978408" y="4005072"/>
            <a:ext cx="2468880" cy="77724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Ein neuer Dekorierer.</a:t>
            </a:r>
            <a:endParaRPr lang="en-US" sz="2000" dirty="0"/>
          </a:p>
          <a:p>
            <a:pPr indent="0" marL="0">
              <a:buNone/>
            </a:pPr>
            <a:r>
              <a:rPr lang="en-US" sz="2000" dirty="0">
                <a:solidFill>
                  <a:srgbClr val="FFFFFF"/>
                </a:solidFill>
                <a:latin typeface="Calibri" pitchFamily="34" charset="0"/>
                <a:ea typeface="Calibri" pitchFamily="34" charset="-122"/>
                <a:cs typeface="Calibri" pitchFamily="34" charset="-120"/>
              </a:rPr>
              <a:t>Zwei Methoden.</a:t>
            </a:r>
            <a:endParaRPr lang="en-US" sz="2000" dirty="0"/>
          </a:p>
        </p:txBody>
      </p:sp>
      <p:sp>
        <p:nvSpPr>
          <p:cNvPr id="10" name="Text 8"/>
          <p:cNvSpPr/>
          <p:nvPr/>
        </p:nvSpPr>
        <p:spPr>
          <a:xfrm>
            <a:off x="4261104" y="1856232"/>
            <a:ext cx="7040880" cy="548640"/>
          </a:xfrm>
          <a:prstGeom prst="rect">
            <a:avLst/>
          </a:prstGeom>
          <a:noFill/>
          <a:ln/>
        </p:spPr>
        <p:txBody>
          <a:bodyPr wrap="square" lIns="0" tIns="0" rIns="0" bIns="0" rtlCol="0" anchor="t"/>
          <a:lstStyle/>
          <a:p>
            <a:pPr indent="0" marL="0">
              <a:buNone/>
            </a:pPr>
            <a:r>
              <a:rPr lang="en-US" sz="2700" b="1" dirty="0">
                <a:solidFill>
                  <a:srgbClr val="30241F"/>
                </a:solidFill>
                <a:latin typeface="Calibri" pitchFamily="34" charset="0"/>
                <a:ea typeface="Calibri" pitchFamily="34" charset="-122"/>
                <a:cs typeface="Calibri" pitchFamily="34" charset="-120"/>
              </a:rPr>
              <a:t>Euer Auftrag</a:t>
            </a:r>
            <a:endParaRPr lang="en-US" sz="2700" dirty="0"/>
          </a:p>
        </p:txBody>
      </p:sp>
      <p:sp>
        <p:nvSpPr>
          <p:cNvPr id="11" name="Text 9"/>
          <p:cNvSpPr/>
          <p:nvPr/>
        </p:nvSpPr>
        <p:spPr>
          <a:xfrm>
            <a:off x="4261104" y="2624328"/>
            <a:ext cx="6949440" cy="914400"/>
          </a:xfrm>
          <a:prstGeom prst="rect">
            <a:avLst/>
          </a:prstGeom>
          <a:noFill/>
          <a:ln/>
        </p:spPr>
        <p:txBody>
          <a:bodyPr wrap="square" lIns="0" tIns="0" rIns="0" bIns="0" rtlCol="0" anchor="t"/>
          <a:lstStyle/>
          <a:p>
            <a:pPr indent="0" marL="0">
              <a:buNone/>
            </a:pPr>
            <a:r>
              <a:rPr lang="en-US" sz="2400" dirty="0">
                <a:solidFill>
                  <a:srgbClr val="30241F"/>
                </a:solidFill>
                <a:latin typeface="Calibri" pitchFamily="34" charset="0"/>
                <a:ea typeface="Calibri" pitchFamily="34" charset="-122"/>
                <a:cs typeface="Calibri" pitchFamily="34" charset="-120"/>
              </a:rPr>
              <a:t>Karamell erhöht den Preis um 0,40 Euro und</a:t>
            </a:r>
            <a:endParaRPr lang="en-US" sz="2400" dirty="0"/>
          </a:p>
          <a:p>
            <a:pPr indent="0" marL="0">
              <a:buNone/>
            </a:pPr>
            <a:r>
              <a:rPr lang="en-US" sz="2400" dirty="0">
                <a:solidFill>
                  <a:srgbClr val="30241F"/>
                </a:solidFill>
                <a:latin typeface="Calibri" pitchFamily="34" charset="0"/>
                <a:ea typeface="Calibri" pitchFamily="34" charset="-122"/>
                <a:cs typeface="Calibri" pitchFamily="34" charset="-120"/>
              </a:rPr>
              <a:t>ergänzt die Beschreibung um „, Karamell“.</a:t>
            </a:r>
            <a:endParaRPr lang="en-US" sz="2400" dirty="0"/>
          </a:p>
        </p:txBody>
      </p:sp>
      <p:sp>
        <p:nvSpPr>
          <p:cNvPr id="12" name="Text 10"/>
          <p:cNvSpPr/>
          <p:nvPr/>
        </p:nvSpPr>
        <p:spPr>
          <a:xfrm>
            <a:off x="4261104" y="3867912"/>
            <a:ext cx="6949440" cy="1536192"/>
          </a:xfrm>
          <a:prstGeom prst="rect">
            <a:avLst/>
          </a:prstGeom>
          <a:noFill/>
          <a:ln/>
        </p:spPr>
        <p:txBody>
          <a:bodyPr wrap="square" lIns="0" tIns="0" rIns="0" bIns="0" rtlCol="0" anchor="t"/>
          <a:lstStyle/>
          <a:p>
            <a:pPr indent="0" marL="0">
              <a:buNone/>
            </a:pPr>
            <a:r>
              <a:rPr lang="en-US" sz="2100" dirty="0">
                <a:solidFill>
                  <a:srgbClr val="30241F"/>
                </a:solidFill>
                <a:latin typeface="Calibri" pitchFamily="34" charset="0"/>
                <a:ea typeface="Calibri" pitchFamily="34" charset="-122"/>
                <a:cs typeface="Calibri" pitchFamily="34" charset="-120"/>
              </a:rPr>
              <a:t>1  Aufgabenblatt öffnen</a:t>
            </a:r>
            <a:endParaRPr lang="en-US" sz="2100" dirty="0"/>
          </a:p>
          <a:p>
            <a:pPr indent="0" marL="0">
              <a:buNone/>
            </a:pPr>
            <a:r>
              <a:rPr lang="en-US" sz="2100" dirty="0">
                <a:solidFill>
                  <a:srgbClr val="30241F"/>
                </a:solidFill>
                <a:latin typeface="Calibri" pitchFamily="34" charset="0"/>
                <a:ea typeface="Calibri" pitchFamily="34" charset="-122"/>
                <a:cs typeface="Calibri" pitchFamily="34" charset="-120"/>
              </a:rPr>
              <a:t>2  TODOs in starter.py ergänzen</a:t>
            </a:r>
            <a:endParaRPr lang="en-US" sz="2100" dirty="0"/>
          </a:p>
          <a:p>
            <a:pPr indent="0" marL="0">
              <a:buNone/>
            </a:pPr>
            <a:r>
              <a:rPr lang="en-US" sz="2100" dirty="0">
                <a:solidFill>
                  <a:srgbClr val="30241F"/>
                </a:solidFill>
                <a:latin typeface="Calibri" pitchFamily="34" charset="0"/>
                <a:ea typeface="Calibri" pitchFamily="34" charset="-122"/>
                <a:cs typeface="Calibri" pitchFamily="34" charset="-120"/>
              </a:rPr>
              <a:t>3  Ausgabe vergleichen und Objektkette erklären</a:t>
            </a:r>
            <a:endParaRPr lang="en-US" sz="2100" dirty="0"/>
          </a:p>
        </p:txBody>
      </p:sp>
      <p:sp>
        <p:nvSpPr>
          <p:cNvPr id="13" name="Shape 11"/>
          <p:cNvSpPr/>
          <p:nvPr/>
        </p:nvSpPr>
        <p:spPr>
          <a:xfrm>
            <a:off x="713232" y="5513832"/>
            <a:ext cx="10744200" cy="566928"/>
          </a:xfrm>
          <a:prstGeom prst="rect">
            <a:avLst/>
          </a:prstGeom>
          <a:solidFill>
            <a:srgbClr val="30241F"/>
          </a:solidFill>
          <a:ln w="12700">
            <a:solidFill>
              <a:srgbClr val="30241F"/>
            </a:solidFill>
            <a:prstDash val="solid"/>
          </a:ln>
        </p:spPr>
      </p:sp>
      <p:sp>
        <p:nvSpPr>
          <p:cNvPr id="14" name="Text 12"/>
          <p:cNvSpPr/>
          <p:nvPr/>
        </p:nvSpPr>
        <p:spPr>
          <a:xfrm>
            <a:off x="923544" y="5696712"/>
            <a:ext cx="10323576" cy="201168"/>
          </a:xfrm>
          <a:prstGeom prst="rect">
            <a:avLst/>
          </a:prstGeom>
          <a:noFill/>
          <a:ln/>
        </p:spPr>
        <p:txBody>
          <a:bodyPr wrap="square" lIns="0" tIns="0" rIns="0" bIns="0" rtlCol="0" anchor="t"/>
          <a:lstStyle/>
          <a:p>
            <a:pPr indent="0" marL="0">
              <a:buNone/>
            </a:pPr>
            <a:r>
              <a:rPr lang="en-US" sz="1600" dirty="0">
                <a:solidFill>
                  <a:srgbClr val="F6F0E7"/>
                </a:solidFill>
                <a:latin typeface="Consolas" pitchFamily="34" charset="0"/>
                <a:ea typeface="Consolas" pitchFamily="34" charset="-122"/>
                <a:cs typeface="Consolas" pitchFamily="34" charset="-120"/>
              </a:rPr>
              <a:t>python uebung_python/starter.py</a:t>
            </a:r>
            <a:endParaRPr lang="en-US" sz="1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Slide 12">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05 / Startcode</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Karamell: Zwei Methoden ergänzen</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12</a:t>
            </a:r>
            <a:endParaRPr lang="en-US" sz="1200" dirty="0"/>
          </a:p>
        </p:txBody>
      </p:sp>
      <p:sp>
        <p:nvSpPr>
          <p:cNvPr id="6" name="Shape 4"/>
          <p:cNvSpPr/>
          <p:nvPr/>
        </p:nvSpPr>
        <p:spPr>
          <a:xfrm>
            <a:off x="685800" y="1764792"/>
            <a:ext cx="7406640" cy="3566160"/>
          </a:xfrm>
          <a:prstGeom prst="rect">
            <a:avLst/>
          </a:prstGeom>
          <a:solidFill>
            <a:srgbClr val="30241F"/>
          </a:solidFill>
          <a:ln w="12700">
            <a:solidFill>
              <a:srgbClr val="30241F"/>
            </a:solidFill>
            <a:prstDash val="solid"/>
          </a:ln>
        </p:spPr>
      </p:sp>
      <p:sp>
        <p:nvSpPr>
          <p:cNvPr id="7" name="Text 5"/>
          <p:cNvSpPr/>
          <p:nvPr/>
        </p:nvSpPr>
        <p:spPr>
          <a:xfrm>
            <a:off x="896112" y="1947672"/>
            <a:ext cx="6986016" cy="3200400"/>
          </a:xfrm>
          <a:prstGeom prst="rect">
            <a:avLst/>
          </a:prstGeom>
          <a:noFill/>
          <a:ln/>
        </p:spPr>
        <p:txBody>
          <a:bodyPr wrap="square" lIns="0" tIns="0" rIns="0" bIns="0" rtlCol="0" anchor="t"/>
          <a:lstStyle/>
          <a:p>
            <a:pPr indent="0" marL="0">
              <a:buNone/>
            </a:pPr>
            <a:r>
              <a:rPr lang="en-US" sz="1700" dirty="0">
                <a:solidFill>
                  <a:srgbClr val="F6F0E7"/>
                </a:solidFill>
                <a:latin typeface="Consolas" pitchFamily="34" charset="0"/>
                <a:ea typeface="Consolas" pitchFamily="34" charset="-122"/>
                <a:cs typeface="Consolas" pitchFamily="34" charset="-120"/>
              </a:rPr>
              <a:t>class Karamell(GetraenkDekorierer):</a:t>
            </a: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def get_preis(self) -&gt; Decimal:</a:t>
            </a: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 TODO: inneren Preis + 0,40 Euro</a:t>
            </a: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raise NotImplementedError</a:t>
            </a:r>
            <a:endParaRPr lang="en-US" sz="1700" dirty="0"/>
          </a:p>
          <a:p>
            <a:pPr indent="0" marL="0">
              <a:buNone/>
            </a:pP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def get_beschreibung(self) -&gt; str:</a:t>
            </a: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 TODO: inneren Text erweitern</a:t>
            </a: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raise NotImplementedError</a:t>
            </a:r>
            <a:endParaRPr lang="en-US" sz="1700" dirty="0"/>
          </a:p>
        </p:txBody>
      </p:sp>
      <p:sp>
        <p:nvSpPr>
          <p:cNvPr id="8" name="Shape 6"/>
          <p:cNvSpPr/>
          <p:nvPr/>
        </p:nvSpPr>
        <p:spPr>
          <a:xfrm>
            <a:off x="8503920" y="1764792"/>
            <a:ext cx="2971800" cy="1143000"/>
          </a:xfrm>
          <a:prstGeom prst="rect">
            <a:avLst/>
          </a:prstGeom>
          <a:solidFill>
            <a:srgbClr val="E8D6C3"/>
          </a:solidFill>
          <a:ln w="12700">
            <a:solidFill>
              <a:srgbClr val="E8D6C3"/>
            </a:solidFill>
            <a:prstDash val="solid"/>
          </a:ln>
        </p:spPr>
      </p:sp>
      <p:sp>
        <p:nvSpPr>
          <p:cNvPr id="9" name="Text 7"/>
          <p:cNvSpPr/>
          <p:nvPr/>
        </p:nvSpPr>
        <p:spPr>
          <a:xfrm>
            <a:off x="8668512" y="2011680"/>
            <a:ext cx="2642616" cy="384048"/>
          </a:xfrm>
          <a:prstGeom prst="rect">
            <a:avLst/>
          </a:prstGeom>
          <a:noFill/>
          <a:ln/>
        </p:spPr>
        <p:txBody>
          <a:bodyPr wrap="square" lIns="0" tIns="0" rIns="0" bIns="0" rtlCol="0" anchor="t"/>
          <a:lstStyle/>
          <a:p>
            <a:pPr indent="0" marL="0">
              <a:buNone/>
            </a:pPr>
            <a:r>
              <a:rPr lang="en-US" sz="1900" b="1" dirty="0">
                <a:solidFill>
                  <a:srgbClr val="30241F"/>
                </a:solidFill>
                <a:latin typeface="Consolas" pitchFamily="34" charset="0"/>
                <a:ea typeface="Consolas" pitchFamily="34" charset="-122"/>
                <a:cs typeface="Consolas" pitchFamily="34" charset="-120"/>
              </a:rPr>
              <a:t>self._getraenk</a:t>
            </a:r>
            <a:endParaRPr lang="en-US" sz="1900" dirty="0"/>
          </a:p>
        </p:txBody>
      </p:sp>
      <p:sp>
        <p:nvSpPr>
          <p:cNvPr id="10" name="Text 8"/>
          <p:cNvSpPr/>
          <p:nvPr/>
        </p:nvSpPr>
        <p:spPr>
          <a:xfrm>
            <a:off x="8531352" y="3355848"/>
            <a:ext cx="2834640" cy="868680"/>
          </a:xfrm>
          <a:prstGeom prst="rect">
            <a:avLst/>
          </a:prstGeom>
          <a:noFill/>
          <a:ln/>
        </p:spPr>
        <p:txBody>
          <a:bodyPr wrap="square" lIns="0" tIns="0" rIns="0" bIns="0" rtlCol="0" anchor="t"/>
          <a:lstStyle/>
          <a:p>
            <a:pPr indent="0" marL="0">
              <a:buNone/>
            </a:pPr>
            <a:r>
              <a:rPr lang="en-US" sz="2200" dirty="0">
                <a:solidFill>
                  <a:srgbClr val="30241F"/>
                </a:solidFill>
                <a:latin typeface="Calibri" pitchFamily="34" charset="0"/>
                <a:ea typeface="Calibri" pitchFamily="34" charset="-122"/>
                <a:cs typeface="Calibri" pitchFamily="34" charset="-120"/>
              </a:rPr>
              <a:t>Hier liegt das</a:t>
            </a:r>
            <a:endParaRPr lang="en-US" sz="2200" dirty="0"/>
          </a:p>
          <a:p>
            <a:pPr indent="0" marL="0">
              <a:buNone/>
            </a:pPr>
            <a:r>
              <a:rPr lang="en-US" sz="2200" dirty="0">
                <a:solidFill>
                  <a:srgbClr val="30241F"/>
                </a:solidFill>
                <a:latin typeface="Calibri" pitchFamily="34" charset="0"/>
                <a:ea typeface="Calibri" pitchFamily="34" charset="-122"/>
                <a:cs typeface="Calibri" pitchFamily="34" charset="-120"/>
              </a:rPr>
              <a:t>eingepackte Getränk.</a:t>
            </a:r>
            <a:endParaRPr lang="en-US" sz="2200" dirty="0"/>
          </a:p>
        </p:txBody>
      </p:sp>
      <p:sp>
        <p:nvSpPr>
          <p:cNvPr id="11" name="Text 9"/>
          <p:cNvSpPr/>
          <p:nvPr/>
        </p:nvSpPr>
        <p:spPr>
          <a:xfrm>
            <a:off x="8531352" y="4572000"/>
            <a:ext cx="2834640" cy="82296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Nutze Milch als</a:t>
            </a:r>
            <a:endParaRPr lang="en-US" sz="2200" dirty="0"/>
          </a:p>
          <a:p>
            <a:pPr indent="0" marL="0">
              <a:buNone/>
            </a:pPr>
            <a:r>
              <a:rPr lang="en-US" sz="2200" b="1" dirty="0">
                <a:solidFill>
                  <a:srgbClr val="30241F"/>
                </a:solidFill>
                <a:latin typeface="Calibri" pitchFamily="34" charset="0"/>
                <a:ea typeface="Calibri" pitchFamily="34" charset="-122"/>
                <a:cs typeface="Calibri" pitchFamily="34" charset="-120"/>
              </a:rPr>
              <a:t>Orientierung.</a:t>
            </a:r>
            <a:endParaRPr lang="en-US" sz="2200" dirty="0"/>
          </a:p>
        </p:txBody>
      </p:sp>
      <p:sp>
        <p:nvSpPr>
          <p:cNvPr id="12" name="Text 10"/>
          <p:cNvSpPr/>
          <p:nvPr/>
        </p:nvSpPr>
        <p:spPr>
          <a:xfrm>
            <a:off x="758952" y="5724144"/>
            <a:ext cx="10607040" cy="384048"/>
          </a:xfrm>
          <a:prstGeom prst="rect">
            <a:avLst/>
          </a:prstGeom>
          <a:noFill/>
          <a:ln/>
        </p:spPr>
        <p:txBody>
          <a:bodyPr wrap="square" lIns="0" tIns="0" rIns="0" bIns="0" rtlCol="0" anchor="t"/>
          <a:lstStyle/>
          <a:p>
            <a:pPr indent="0" marL="0">
              <a:buNone/>
            </a:pPr>
            <a:r>
              <a:rPr lang="en-US" sz="2100" dirty="0">
                <a:solidFill>
                  <a:srgbClr val="76665B"/>
                </a:solidFill>
                <a:latin typeface="Calibri" pitchFamily="34" charset="0"/>
                <a:ea typeface="Calibri" pitchFamily="34" charset="-122"/>
                <a:cs typeface="Calibri" pitchFamily="34" charset="-120"/>
              </a:rPr>
              <a:t>Für Geldwerte: Decimal("0.40") verwenden.</a:t>
            </a:r>
            <a:endParaRPr lang="en-US" sz="21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Slide 13">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05 / Erwartete Ergebnisse</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So prüft ihr eure Lösung</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13</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789920" cy="914400"/>
        </p:xfrm>
        <a:graphic>
          <a:graphicData uri="http://schemas.openxmlformats.org/drawingml/2006/table">
            <a:tbl>
              <a:tblPr/>
              <a:tblGrid>
                <a:gridCol w="4663440"/>
                <a:gridCol w="4297680"/>
                <a:gridCol w="1828800"/>
              </a:tblGrid>
              <a:tr h="65836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Bestellung</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45634D"/>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Beschreibung</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45634D"/>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Preis</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45634D"/>
                    </a:solidFill>
                  </a:tcPr>
                </a:tc>
              </a:tr>
              <a:tr h="658368">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Karamell(Espresso())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Espresso, Karamell</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2,40 Euro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r>
              <a:tr h="658368">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Karamell(Milch(Espresso()))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Espresso, Milch, Karamell</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2,90 Euro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r>
              <a:tr h="658368">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Karamell(Karamell(</a:t>
                      </a:r>
                      <a:endParaRPr lang="en-US" sz="1700" dirty="0">
                        <a:latin typeface="Calibri" charset="0"/>
                        <a:ea typeface="Calibri" charset="0"/>
                        <a:cs typeface="Calibri" charset="0"/>
                      </a:endParaRPr>
                    </a:p>
                    <a:p>
                      <a:pPr indent="0" marL="0">
                        <a:buNone/>
                      </a:pPr>
                      <a:r>
                        <a:rPr lang="en-US" sz="1700" dirty="0">
                          <a:solidFill>
                            <a:srgbClr val="30241F"/>
                          </a:solidFill>
                          <a:latin typeface="Calibri" pitchFamily="34" charset="0"/>
                          <a:ea typeface="Calibri" pitchFamily="34" charset="-122"/>
                          <a:cs typeface="Calibri" pitchFamily="34" charset="-120"/>
                        </a:rPr>
                        <a:t>    Milch(Espresso())))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Espresso, Milch,</a:t>
                      </a:r>
                      <a:endParaRPr lang="en-US" sz="1700" dirty="0">
                        <a:latin typeface="Calibri" charset="0"/>
                        <a:ea typeface="Calibri" charset="0"/>
                        <a:cs typeface="Calibri" charset="0"/>
                      </a:endParaRPr>
                    </a:p>
                    <a:p>
                      <a:pPr indent="0" marL="0">
                        <a:buNone/>
                      </a:pPr>
                      <a:r>
                        <a:rPr lang="en-US" sz="1700" dirty="0">
                          <a:solidFill>
                            <a:srgbClr val="30241F"/>
                          </a:solidFill>
                          <a:latin typeface="Calibri" pitchFamily="34" charset="0"/>
                          <a:ea typeface="Calibri" pitchFamily="34" charset="-122"/>
                          <a:cs typeface="Calibri" pitchFamily="34" charset="-120"/>
                        </a:rPr>
                        <a:t>Karamell, Karamell</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c>
                  <a:txBody>
                    <a:bodyPr/>
                    <a:lstStyle/>
                    <a:p>
                      <a:pPr indent="0" marL="0">
                        <a:buNone/>
                      </a:pPr>
                      <a:r>
                        <a:rPr lang="en-US" sz="1700" dirty="0">
                          <a:solidFill>
                            <a:srgbClr val="30241F"/>
                          </a:solidFill>
                          <a:latin typeface="Calibri" pitchFamily="34" charset="0"/>
                          <a:ea typeface="Calibri" pitchFamily="34" charset="-122"/>
                          <a:cs typeface="Calibri" pitchFamily="34" charset="-120"/>
                        </a:rPr>
                        <a:t>3,30 Euro</a:t>
                      </a:r>
                      <a:endParaRPr lang="en-US" sz="1700" dirty="0">
                        <a:latin typeface="Calibri" charset="0"/>
                        <a:ea typeface="Calibri" charset="0"/>
                        <a:cs typeface="Calibri" charset="0"/>
                      </a:endParaRPr>
                    </a:p>
                  </a:txBody>
                  <a:tcPr marL="146304" marR="146304" marT="146304" marB="146304">
                    <a:lnL w="12700" cap="flat" cmpd="sng" algn="ctr">
                      <a:solidFill>
                        <a:srgbClr val="F6F0E7"/>
                      </a:solidFill>
                      <a:prstDash val="solid"/>
                      <a:round/>
                      <a:headEnd type="none" w="med" len="med"/>
                      <a:tailEnd type="none" w="med" len="med"/>
                    </a:lnL>
                    <a:lnR w="12700" cap="flat" cmpd="sng" algn="ctr">
                      <a:solidFill>
                        <a:srgbClr val="F6F0E7"/>
                      </a:solidFill>
                      <a:prstDash val="solid"/>
                      <a:round/>
                      <a:headEnd type="none" w="med" len="med"/>
                      <a:tailEnd type="none" w="med" len="med"/>
                    </a:lnR>
                    <a:lnT w="12700" cap="flat" cmpd="sng" algn="ctr">
                      <a:solidFill>
                        <a:srgbClr val="F6F0E7"/>
                      </a:solidFill>
                      <a:prstDash val="solid"/>
                      <a:round/>
                      <a:headEnd type="none" w="med" len="med"/>
                      <a:tailEnd type="none" w="med" len="med"/>
                    </a:lnT>
                    <a:lnB w="12700" cap="flat" cmpd="sng" algn="ctr">
                      <a:solidFill>
                        <a:srgbClr val="F6F0E7"/>
                      </a:solidFill>
                      <a:prstDash val="solid"/>
                      <a:round/>
                      <a:headEnd type="none" w="med" len="med"/>
                      <a:tailEnd type="none" w="med" len="med"/>
                    </a:lnB>
                    <a:solidFill>
                      <a:srgbClr val="FFFCF7"/>
                    </a:solidFill>
                  </a:tcPr>
                </a:tc>
              </a:tr>
            </a:tbl>
          </a:graphicData>
        </a:graphic>
      </p:graphicFrame>
      <p:sp>
        <p:nvSpPr>
          <p:cNvPr id="7" name="Shape 4"/>
          <p:cNvSpPr/>
          <p:nvPr/>
        </p:nvSpPr>
        <p:spPr>
          <a:xfrm>
            <a:off x="731520" y="5248656"/>
            <a:ext cx="10698480" cy="822960"/>
          </a:xfrm>
          <a:prstGeom prst="rect">
            <a:avLst/>
          </a:prstGeom>
          <a:solidFill>
            <a:srgbClr val="E8D6C3"/>
          </a:solidFill>
          <a:ln w="12700">
            <a:solidFill>
              <a:srgbClr val="E8D6C3"/>
            </a:solidFill>
            <a:prstDash val="solid"/>
          </a:ln>
        </p:spPr>
      </p:sp>
      <p:sp>
        <p:nvSpPr>
          <p:cNvPr id="8" name="Text 5"/>
          <p:cNvSpPr/>
          <p:nvPr/>
        </p:nvSpPr>
        <p:spPr>
          <a:xfrm>
            <a:off x="987552" y="5449824"/>
            <a:ext cx="10149840" cy="50292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Erklärt: Warum kann Karamell auch einen Dekorierer umschließen?</a:t>
            </a:r>
            <a:endParaRPr lang="en-US" sz="2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Slide 14">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06 / Nach der Bearbeitung</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Musterlösung: Delegieren und ergänzen</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14</a:t>
            </a:r>
            <a:endParaRPr lang="en-US" sz="1200" dirty="0"/>
          </a:p>
        </p:txBody>
      </p:sp>
      <p:sp>
        <p:nvSpPr>
          <p:cNvPr id="6" name="Shape 4"/>
          <p:cNvSpPr/>
          <p:nvPr/>
        </p:nvSpPr>
        <p:spPr>
          <a:xfrm>
            <a:off x="685800" y="1773936"/>
            <a:ext cx="10789920" cy="2871216"/>
          </a:xfrm>
          <a:prstGeom prst="rect">
            <a:avLst/>
          </a:prstGeom>
          <a:solidFill>
            <a:srgbClr val="30241F"/>
          </a:solidFill>
          <a:ln w="12700">
            <a:solidFill>
              <a:srgbClr val="30241F"/>
            </a:solidFill>
            <a:prstDash val="solid"/>
          </a:ln>
        </p:spPr>
      </p:sp>
      <p:sp>
        <p:nvSpPr>
          <p:cNvPr id="7" name="Text 5"/>
          <p:cNvSpPr/>
          <p:nvPr/>
        </p:nvSpPr>
        <p:spPr>
          <a:xfrm>
            <a:off x="896112" y="1956816"/>
            <a:ext cx="10369296" cy="2505456"/>
          </a:xfrm>
          <a:prstGeom prst="rect">
            <a:avLst/>
          </a:prstGeom>
          <a:noFill/>
          <a:ln/>
        </p:spPr>
        <p:txBody>
          <a:bodyPr wrap="square" lIns="0" tIns="0" rIns="0" bIns="0" rtlCol="0" anchor="t"/>
          <a:lstStyle/>
          <a:p>
            <a:pPr indent="0" marL="0">
              <a:buNone/>
            </a:pPr>
            <a:r>
              <a:rPr lang="en-US" sz="1700" dirty="0">
                <a:solidFill>
                  <a:srgbClr val="F6F0E7"/>
                </a:solidFill>
                <a:latin typeface="Consolas" pitchFamily="34" charset="0"/>
                <a:ea typeface="Consolas" pitchFamily="34" charset="-122"/>
                <a:cs typeface="Consolas" pitchFamily="34" charset="-120"/>
              </a:rPr>
              <a:t>class Karamell(GetraenkDekorierer):</a:t>
            </a: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def get_preis(self) -&gt; Decimal:</a:t>
            </a: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return self._getraenk.get_preis() + Decimal("0.40")</a:t>
            </a:r>
            <a:endParaRPr lang="en-US" sz="1700" dirty="0"/>
          </a:p>
          <a:p>
            <a:pPr indent="0" marL="0">
              <a:buNone/>
            </a:pP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def get_beschreibung(self) -&gt; str:</a:t>
            </a:r>
            <a:endParaRPr lang="en-US" sz="1700" dirty="0"/>
          </a:p>
          <a:p>
            <a:pPr indent="0" marL="0">
              <a:buNone/>
            </a:pPr>
            <a:r>
              <a:rPr lang="en-US" sz="1700" dirty="0">
                <a:solidFill>
                  <a:srgbClr val="F6F0E7"/>
                </a:solidFill>
                <a:latin typeface="Consolas" pitchFamily="34" charset="0"/>
                <a:ea typeface="Consolas" pitchFamily="34" charset="-122"/>
                <a:cs typeface="Consolas" pitchFamily="34" charset="-120"/>
              </a:rPr>
              <a:t>        return self._getraenk.get_beschreibung() + ", Karamell"</a:t>
            </a:r>
            <a:endParaRPr lang="en-US" sz="1700" dirty="0"/>
          </a:p>
        </p:txBody>
      </p:sp>
      <p:sp>
        <p:nvSpPr>
          <p:cNvPr id="8" name="Shape 6"/>
          <p:cNvSpPr/>
          <p:nvPr/>
        </p:nvSpPr>
        <p:spPr>
          <a:xfrm>
            <a:off x="777240" y="5148072"/>
            <a:ext cx="3182112" cy="713232"/>
          </a:xfrm>
          <a:prstGeom prst="rect">
            <a:avLst/>
          </a:prstGeom>
          <a:solidFill>
            <a:srgbClr val="E8D6C3"/>
          </a:solidFill>
          <a:ln w="12700">
            <a:solidFill>
              <a:srgbClr val="E8D6C3"/>
            </a:solidFill>
            <a:prstDash val="solid"/>
          </a:ln>
        </p:spPr>
      </p:sp>
      <p:sp>
        <p:nvSpPr>
          <p:cNvPr id="9" name="Text 7"/>
          <p:cNvSpPr/>
          <p:nvPr/>
        </p:nvSpPr>
        <p:spPr>
          <a:xfrm>
            <a:off x="969264" y="5330952"/>
            <a:ext cx="2743200" cy="36576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Karamell</a:t>
            </a:r>
            <a:endParaRPr lang="en-US" sz="2200" dirty="0"/>
          </a:p>
        </p:txBody>
      </p:sp>
      <p:sp>
        <p:nvSpPr>
          <p:cNvPr id="10" name="Shape 8"/>
          <p:cNvSpPr/>
          <p:nvPr/>
        </p:nvSpPr>
        <p:spPr>
          <a:xfrm>
            <a:off x="4005072" y="5504688"/>
            <a:ext cx="448056" cy="0"/>
          </a:xfrm>
          <a:prstGeom prst="line">
            <a:avLst/>
          </a:prstGeom>
          <a:noFill/>
          <a:ln w="22860">
            <a:solidFill>
              <a:srgbClr val="A75B2A"/>
            </a:solidFill>
            <a:prstDash val="solid"/>
            <a:headEnd type="none"/>
            <a:tailEnd type="triangle"/>
          </a:ln>
        </p:spPr>
      </p:sp>
      <p:sp>
        <p:nvSpPr>
          <p:cNvPr id="11" name="Shape 9"/>
          <p:cNvSpPr/>
          <p:nvPr/>
        </p:nvSpPr>
        <p:spPr>
          <a:xfrm>
            <a:off x="4526280" y="5148072"/>
            <a:ext cx="3182112" cy="713232"/>
          </a:xfrm>
          <a:prstGeom prst="rect">
            <a:avLst/>
          </a:prstGeom>
          <a:solidFill>
            <a:srgbClr val="E8D6C3"/>
          </a:solidFill>
          <a:ln w="12700">
            <a:solidFill>
              <a:srgbClr val="E8D6C3"/>
            </a:solidFill>
            <a:prstDash val="solid"/>
          </a:ln>
        </p:spPr>
      </p:sp>
      <p:sp>
        <p:nvSpPr>
          <p:cNvPr id="12" name="Text 10"/>
          <p:cNvSpPr/>
          <p:nvPr/>
        </p:nvSpPr>
        <p:spPr>
          <a:xfrm>
            <a:off x="4718304" y="5330952"/>
            <a:ext cx="2743200" cy="365760"/>
          </a:xfrm>
          <a:prstGeom prst="rect">
            <a:avLst/>
          </a:prstGeom>
          <a:noFill/>
          <a:ln/>
        </p:spPr>
        <p:txBody>
          <a:bodyPr wrap="square" lIns="0" tIns="0" rIns="0" bIns="0" rtlCol="0" anchor="t"/>
          <a:lstStyle/>
          <a:p>
            <a:pPr indent="0" marL="0">
              <a:buNone/>
            </a:pPr>
            <a:r>
              <a:rPr lang="en-US" sz="2200" b="1" dirty="0">
                <a:solidFill>
                  <a:srgbClr val="30241F"/>
                </a:solidFill>
                <a:latin typeface="Calibri" pitchFamily="34" charset="0"/>
                <a:ea typeface="Calibri" pitchFamily="34" charset="-122"/>
                <a:cs typeface="Calibri" pitchFamily="34" charset="-120"/>
              </a:rPr>
              <a:t>Milch</a:t>
            </a:r>
            <a:endParaRPr lang="en-US" sz="2200" dirty="0"/>
          </a:p>
        </p:txBody>
      </p:sp>
      <p:sp>
        <p:nvSpPr>
          <p:cNvPr id="13" name="Shape 11"/>
          <p:cNvSpPr/>
          <p:nvPr/>
        </p:nvSpPr>
        <p:spPr>
          <a:xfrm>
            <a:off x="7754112" y="5504688"/>
            <a:ext cx="448056" cy="0"/>
          </a:xfrm>
          <a:prstGeom prst="line">
            <a:avLst/>
          </a:prstGeom>
          <a:noFill/>
          <a:ln w="22860">
            <a:solidFill>
              <a:srgbClr val="A75B2A"/>
            </a:solidFill>
            <a:prstDash val="solid"/>
            <a:headEnd type="none"/>
            <a:tailEnd type="triangle"/>
          </a:ln>
        </p:spPr>
      </p:sp>
      <p:sp>
        <p:nvSpPr>
          <p:cNvPr id="14" name="Shape 12"/>
          <p:cNvSpPr/>
          <p:nvPr/>
        </p:nvSpPr>
        <p:spPr>
          <a:xfrm>
            <a:off x="8275320" y="5148072"/>
            <a:ext cx="3182112" cy="713232"/>
          </a:xfrm>
          <a:prstGeom prst="rect">
            <a:avLst/>
          </a:prstGeom>
          <a:solidFill>
            <a:srgbClr val="45634D"/>
          </a:solidFill>
          <a:ln w="12700">
            <a:solidFill>
              <a:srgbClr val="45634D"/>
            </a:solidFill>
            <a:prstDash val="solid"/>
          </a:ln>
        </p:spPr>
      </p:sp>
      <p:sp>
        <p:nvSpPr>
          <p:cNvPr id="15" name="Text 13"/>
          <p:cNvSpPr/>
          <p:nvPr/>
        </p:nvSpPr>
        <p:spPr>
          <a:xfrm>
            <a:off x="8467344" y="5330952"/>
            <a:ext cx="2743200" cy="3657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Espresso</a:t>
            </a:r>
            <a:endParaRPr lang="en-US" sz="2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Slide 15">
    <p:bg>
      <p:bgPr>
        <a:solidFill>
          <a:srgbClr val="F6F0E7"/>
        </a:solidFill>
      </p:bgPr>
    </p:bg>
    <p:spTree>
      <p:nvGrpSpPr>
        <p:cNvPr id="1" name=""/>
        <p:cNvGrpSpPr/>
        <p:nvPr/>
      </p:nvGrpSpPr>
      <p:grpSpPr>
        <a:xfrm>
          <a:off x="0" y="0"/>
          <a:ext cx="0" cy="0"/>
          <a:chOff x="0" y="0"/>
          <a:chExt cx="0" cy="0"/>
        </a:xfrm>
      </p:grpSpPr>
      <p:sp>
        <p:nvSpPr>
          <p:cNvPr id="2" name="Text 0"/>
          <p:cNvSpPr/>
          <p:nvPr/>
        </p:nvSpPr>
        <p:spPr>
          <a:xfrm>
            <a:off x="594360" y="228600"/>
            <a:ext cx="10058400" cy="256032"/>
          </a:xfrm>
          <a:prstGeom prst="rect">
            <a:avLst/>
          </a:prstGeom>
          <a:noFill/>
          <a:ln/>
        </p:spPr>
        <p:txBody>
          <a:bodyPr wrap="square" lIns="0" tIns="0" rIns="0" bIns="0" rtlCol="0" anchor="t"/>
          <a:lstStyle/>
          <a:p>
            <a:pPr indent="0" marL="0">
              <a:buNone/>
            </a:pPr>
            <a:r>
              <a:rPr lang="en-US" sz="1100" b="1" spc="180" kern="0" dirty="0">
                <a:solidFill>
                  <a:srgbClr val="76665B"/>
                </a:solidFill>
                <a:latin typeface="Calibri" pitchFamily="34" charset="0"/>
                <a:ea typeface="Calibri" pitchFamily="34" charset="-122"/>
                <a:cs typeface="Calibri" pitchFamily="34" charset="-120"/>
              </a:rPr>
              <a:t>06 / Nachschlagen</a:t>
            </a:r>
            <a:endParaRPr lang="en-US" sz="1100" dirty="0"/>
          </a:p>
        </p:txBody>
      </p:sp>
      <p:sp>
        <p:nvSpPr>
          <p:cNvPr id="3" name="Text 1"/>
          <p:cNvSpPr/>
          <p:nvPr/>
        </p:nvSpPr>
        <p:spPr>
          <a:xfrm>
            <a:off x="594360" y="585216"/>
            <a:ext cx="10972800" cy="941832"/>
          </a:xfrm>
          <a:prstGeom prst="rect">
            <a:avLst/>
          </a:prstGeom>
          <a:noFill/>
          <a:ln/>
        </p:spPr>
        <p:txBody>
          <a:bodyPr wrap="square" lIns="0" tIns="0" rIns="0" bIns="0" rtlCol="0" anchor="t"/>
          <a:lstStyle/>
          <a:p>
            <a:pPr indent="0" marL="0">
              <a:buNone/>
            </a:pPr>
            <a:r>
              <a:rPr lang="en-US" sz="3600" b="1" dirty="0">
                <a:solidFill>
                  <a:srgbClr val="30241F"/>
                </a:solidFill>
                <a:latin typeface="Georgia" pitchFamily="34" charset="0"/>
                <a:ea typeface="Georgia" pitchFamily="34" charset="-122"/>
                <a:cs typeface="Georgia" pitchFamily="34" charset="-120"/>
              </a:rPr>
              <a:t>Quellen und Material zum Wiederholen</a:t>
            </a:r>
            <a:endParaRPr lang="en-US" sz="3600" dirty="0"/>
          </a:p>
        </p:txBody>
      </p:sp>
      <p:sp>
        <p:nvSpPr>
          <p:cNvPr id="4" name="Text 2"/>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76665B"/>
                </a:solidFill>
                <a:latin typeface="Calibri" pitchFamily="34" charset="0"/>
                <a:ea typeface="Calibri" pitchFamily="34" charset="-122"/>
                <a:cs typeface="Calibri" pitchFamily="34" charset="-120"/>
              </a:rPr>
              <a:t>Kaffee mit Zusätzen · Java-Demo + Python-Übung</a:t>
            </a:r>
            <a:endParaRPr lang="en-US" sz="1000" dirty="0"/>
          </a:p>
        </p:txBody>
      </p:sp>
      <p:sp>
        <p:nvSpPr>
          <p:cNvPr id="5" name="Text 3"/>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76665B"/>
                </a:solidFill>
                <a:latin typeface="Calibri" pitchFamily="34" charset="0"/>
                <a:ea typeface="Calibri" pitchFamily="34" charset="-122"/>
                <a:cs typeface="Calibri" pitchFamily="34" charset="-120"/>
              </a:rPr>
              <a:t>15</a:t>
            </a:r>
            <a:endParaRPr lang="en-US" sz="1200" dirty="0"/>
          </a:p>
        </p:txBody>
      </p:sp>
      <p:sp>
        <p:nvSpPr>
          <p:cNvPr id="6" name="Shape 4"/>
          <p:cNvSpPr/>
          <p:nvPr/>
        </p:nvSpPr>
        <p:spPr>
          <a:xfrm>
            <a:off x="685800" y="1700784"/>
            <a:ext cx="694944" cy="694944"/>
          </a:xfrm>
          <a:prstGeom prst="rect">
            <a:avLst/>
          </a:prstGeom>
          <a:solidFill>
            <a:srgbClr val="45634D"/>
          </a:solidFill>
          <a:ln w="12700">
            <a:solidFill>
              <a:srgbClr val="45634D"/>
            </a:solidFill>
            <a:prstDash val="solid"/>
          </a:ln>
        </p:spPr>
      </p:sp>
      <p:sp>
        <p:nvSpPr>
          <p:cNvPr id="7" name="Text 5"/>
          <p:cNvSpPr/>
          <p:nvPr/>
        </p:nvSpPr>
        <p:spPr>
          <a:xfrm>
            <a:off x="813816" y="1865376"/>
            <a:ext cx="457200" cy="365760"/>
          </a:xfrm>
          <a:prstGeom prst="rect">
            <a:avLst/>
          </a:prstGeom>
          <a:noFill/>
          <a:ln/>
        </p:spPr>
        <p:txBody>
          <a:bodyPr wrap="square" lIns="0" tIns="0" rIns="0" bIns="0" rtlCol="0" anchor="t"/>
          <a:lstStyle/>
          <a:p>
            <a:pPr indent="0" marL="0">
              <a:buNone/>
            </a:pPr>
            <a:r>
              <a:rPr lang="en-US" sz="2300" b="1" dirty="0">
                <a:solidFill>
                  <a:srgbClr val="FFFFFF"/>
                </a:solidFill>
                <a:latin typeface="Calibri" pitchFamily="34" charset="0"/>
                <a:ea typeface="Calibri" pitchFamily="34" charset="-122"/>
                <a:cs typeface="Calibri" pitchFamily="34" charset="-120"/>
              </a:rPr>
              <a:t>01</a:t>
            </a:r>
            <a:endParaRPr lang="en-US" sz="2300" dirty="0"/>
          </a:p>
        </p:txBody>
      </p:sp>
      <p:sp>
        <p:nvSpPr>
          <p:cNvPr id="8" name="Text 6">
            <a:hlinkClick r:id="rId2" tooltip=""/>
          </p:cNvPr>
          <p:cNvSpPr/>
          <p:nvPr/>
        </p:nvSpPr>
        <p:spPr>
          <a:xfrm>
            <a:off x="1664208" y="1700784"/>
            <a:ext cx="9875520" cy="402336"/>
          </a:xfrm>
          <a:prstGeom prst="rect">
            <a:avLst/>
          </a:prstGeom>
          <a:noFill/>
          <a:ln/>
        </p:spPr>
        <p:txBody>
          <a:bodyPr wrap="square" lIns="0" tIns="0" rIns="0" bIns="0" rtlCol="0" anchor="t"/>
          <a:lstStyle/>
          <a:p>
            <a:pPr indent="0" marL="0">
              <a:buNone/>
            </a:pPr>
            <a:r>
              <a:rPr lang="en-US" sz="2400" b="1" u="sng" dirty="0">
                <a:solidFill>
                  <a:srgbClr val="30241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Philipp Hauer</a:t>
            </a:r>
            <a:endParaRPr lang="en-US" sz="2400" dirty="0"/>
          </a:p>
        </p:txBody>
      </p:sp>
      <p:sp>
        <p:nvSpPr>
          <p:cNvPr id="9" name="Text 7"/>
          <p:cNvSpPr/>
          <p:nvPr/>
        </p:nvSpPr>
        <p:spPr>
          <a:xfrm>
            <a:off x="1664208" y="2185416"/>
            <a:ext cx="9875520" cy="411480"/>
          </a:xfrm>
          <a:prstGeom prst="rect">
            <a:avLst/>
          </a:prstGeom>
          <a:noFill/>
          <a:ln/>
        </p:spPr>
        <p:txBody>
          <a:bodyPr wrap="square" lIns="0" tIns="0" rIns="0" bIns="0" rtlCol="0" anchor="t"/>
          <a:lstStyle/>
          <a:p>
            <a:pPr indent="0" marL="0">
              <a:buNone/>
            </a:pPr>
            <a:r>
              <a:rPr lang="en-US" sz="1800" dirty="0">
                <a:solidFill>
                  <a:srgbClr val="76665B"/>
                </a:solidFill>
                <a:latin typeface="Calibri" pitchFamily="34" charset="0"/>
                <a:ea typeface="Calibri" pitchFamily="34" charset="-122"/>
                <a:cs typeface="Calibri" pitchFamily="34" charset="-120"/>
              </a:rPr>
              <a:t>Aufbau, Vorteile, Nachteile und Einsatzfälle</a:t>
            </a:r>
            <a:endParaRPr lang="en-US" sz="1800" dirty="0"/>
          </a:p>
        </p:txBody>
      </p:sp>
      <p:sp>
        <p:nvSpPr>
          <p:cNvPr id="10" name="Shape 8"/>
          <p:cNvSpPr/>
          <p:nvPr/>
        </p:nvSpPr>
        <p:spPr>
          <a:xfrm>
            <a:off x="685800" y="2816352"/>
            <a:ext cx="694944" cy="694944"/>
          </a:xfrm>
          <a:prstGeom prst="rect">
            <a:avLst/>
          </a:prstGeom>
          <a:solidFill>
            <a:srgbClr val="45634D"/>
          </a:solidFill>
          <a:ln w="12700">
            <a:solidFill>
              <a:srgbClr val="45634D"/>
            </a:solidFill>
            <a:prstDash val="solid"/>
          </a:ln>
        </p:spPr>
      </p:sp>
      <p:sp>
        <p:nvSpPr>
          <p:cNvPr id="11" name="Text 9"/>
          <p:cNvSpPr/>
          <p:nvPr/>
        </p:nvSpPr>
        <p:spPr>
          <a:xfrm>
            <a:off x="813816" y="2980944"/>
            <a:ext cx="457200" cy="365760"/>
          </a:xfrm>
          <a:prstGeom prst="rect">
            <a:avLst/>
          </a:prstGeom>
          <a:noFill/>
          <a:ln/>
        </p:spPr>
        <p:txBody>
          <a:bodyPr wrap="square" lIns="0" tIns="0" rIns="0" bIns="0" rtlCol="0" anchor="t"/>
          <a:lstStyle/>
          <a:p>
            <a:pPr indent="0" marL="0">
              <a:buNone/>
            </a:pPr>
            <a:r>
              <a:rPr lang="en-US" sz="2300" b="1" dirty="0">
                <a:solidFill>
                  <a:srgbClr val="FFFFFF"/>
                </a:solidFill>
                <a:latin typeface="Calibri" pitchFamily="34" charset="0"/>
                <a:ea typeface="Calibri" pitchFamily="34" charset="-122"/>
                <a:cs typeface="Calibri" pitchFamily="34" charset="-120"/>
              </a:rPr>
              <a:t>02</a:t>
            </a:r>
            <a:endParaRPr lang="en-US" sz="2300" dirty="0"/>
          </a:p>
        </p:txBody>
      </p:sp>
      <p:sp>
        <p:nvSpPr>
          <p:cNvPr id="12" name="Text 10">
            <a:hlinkClick r:id="rId3" tooltip=""/>
          </p:cNvPr>
          <p:cNvSpPr/>
          <p:nvPr/>
        </p:nvSpPr>
        <p:spPr>
          <a:xfrm>
            <a:off x="1664208" y="2816352"/>
            <a:ext cx="9875520" cy="402336"/>
          </a:xfrm>
          <a:prstGeom prst="rect">
            <a:avLst/>
          </a:prstGeom>
          <a:noFill/>
          <a:ln/>
        </p:spPr>
        <p:txBody>
          <a:bodyPr wrap="square" lIns="0" tIns="0" rIns="0" bIns="0" rtlCol="0" anchor="t"/>
          <a:lstStyle/>
          <a:p>
            <a:pPr indent="0" marL="0">
              <a:buNone/>
            </a:pPr>
            <a:r>
              <a:rPr lang="en-US" sz="2400" b="1" u="sng" dirty="0">
                <a:solidFill>
                  <a:srgbClr val="30241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Wikipedia: Decorator</a:t>
            </a:r>
            <a:endParaRPr lang="en-US" sz="2400" dirty="0"/>
          </a:p>
        </p:txBody>
      </p:sp>
      <p:sp>
        <p:nvSpPr>
          <p:cNvPr id="13" name="Text 11"/>
          <p:cNvSpPr/>
          <p:nvPr/>
        </p:nvSpPr>
        <p:spPr>
          <a:xfrm>
            <a:off x="1664208" y="3300984"/>
            <a:ext cx="9875520" cy="411480"/>
          </a:xfrm>
          <a:prstGeom prst="rect">
            <a:avLst/>
          </a:prstGeom>
          <a:noFill/>
          <a:ln/>
        </p:spPr>
        <p:txBody>
          <a:bodyPr wrap="square" lIns="0" tIns="0" rIns="0" bIns="0" rtlCol="0" anchor="t"/>
          <a:lstStyle/>
          <a:p>
            <a:pPr indent="0" marL="0">
              <a:buNone/>
            </a:pPr>
            <a:r>
              <a:rPr lang="en-US" sz="1800" dirty="0">
                <a:solidFill>
                  <a:srgbClr val="76665B"/>
                </a:solidFill>
                <a:latin typeface="Calibri" pitchFamily="34" charset="0"/>
                <a:ea typeface="Calibri" pitchFamily="34" charset="-122"/>
                <a:cs typeface="Calibri" pitchFamily="34" charset="-120"/>
              </a:rPr>
              <a:t>Begriffe, Struktur und Objektidentität</a:t>
            </a:r>
            <a:endParaRPr lang="en-US" sz="1800" dirty="0"/>
          </a:p>
        </p:txBody>
      </p:sp>
      <p:sp>
        <p:nvSpPr>
          <p:cNvPr id="14" name="Shape 12"/>
          <p:cNvSpPr/>
          <p:nvPr/>
        </p:nvSpPr>
        <p:spPr>
          <a:xfrm>
            <a:off x="685800" y="3931920"/>
            <a:ext cx="694944" cy="694944"/>
          </a:xfrm>
          <a:prstGeom prst="rect">
            <a:avLst/>
          </a:prstGeom>
          <a:solidFill>
            <a:srgbClr val="45634D"/>
          </a:solidFill>
          <a:ln w="12700">
            <a:solidFill>
              <a:srgbClr val="45634D"/>
            </a:solidFill>
            <a:prstDash val="solid"/>
          </a:ln>
        </p:spPr>
      </p:sp>
      <p:sp>
        <p:nvSpPr>
          <p:cNvPr id="15" name="Text 13"/>
          <p:cNvSpPr/>
          <p:nvPr/>
        </p:nvSpPr>
        <p:spPr>
          <a:xfrm>
            <a:off x="813816" y="4096512"/>
            <a:ext cx="457200" cy="365760"/>
          </a:xfrm>
          <a:prstGeom prst="rect">
            <a:avLst/>
          </a:prstGeom>
          <a:noFill/>
          <a:ln/>
        </p:spPr>
        <p:txBody>
          <a:bodyPr wrap="square" lIns="0" tIns="0" rIns="0" bIns="0" rtlCol="0" anchor="t"/>
          <a:lstStyle/>
          <a:p>
            <a:pPr indent="0" marL="0">
              <a:buNone/>
            </a:pPr>
            <a:r>
              <a:rPr lang="en-US" sz="2300" b="1" dirty="0">
                <a:solidFill>
                  <a:srgbClr val="FFFFFF"/>
                </a:solidFill>
                <a:latin typeface="Calibri" pitchFamily="34" charset="0"/>
                <a:ea typeface="Calibri" pitchFamily="34" charset="-122"/>
                <a:cs typeface="Calibri" pitchFamily="34" charset="-120"/>
              </a:rPr>
              <a:t>03</a:t>
            </a:r>
            <a:endParaRPr lang="en-US" sz="2300" dirty="0"/>
          </a:p>
        </p:txBody>
      </p:sp>
      <p:sp>
        <p:nvSpPr>
          <p:cNvPr id="16" name="Text 14">
            <a:hlinkClick r:id="rId4" tooltip=""/>
          </p:cNvPr>
          <p:cNvSpPr/>
          <p:nvPr/>
        </p:nvSpPr>
        <p:spPr>
          <a:xfrm>
            <a:off x="1664208" y="3931920"/>
            <a:ext cx="9875520" cy="402336"/>
          </a:xfrm>
          <a:prstGeom prst="rect">
            <a:avLst/>
          </a:prstGeom>
          <a:noFill/>
          <a:ln/>
        </p:spPr>
        <p:txBody>
          <a:bodyPr wrap="square" lIns="0" tIns="0" rIns="0" bIns="0" rtlCol="0" anchor="t"/>
          <a:lstStyle/>
          <a:p>
            <a:pPr indent="0" marL="0">
              <a:buNone/>
            </a:pPr>
            <a:r>
              <a:rPr lang="en-US" sz="2400" b="1" u="sng" dirty="0">
                <a:solidFill>
                  <a:srgbClr val="30241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Refactoring.Guru: Decorator in Java</a:t>
            </a:r>
            <a:endParaRPr lang="en-US" sz="2400" dirty="0"/>
          </a:p>
        </p:txBody>
      </p:sp>
      <p:sp>
        <p:nvSpPr>
          <p:cNvPr id="17" name="Text 15"/>
          <p:cNvSpPr/>
          <p:nvPr/>
        </p:nvSpPr>
        <p:spPr>
          <a:xfrm>
            <a:off x="1664208" y="4416552"/>
            <a:ext cx="9875520" cy="411480"/>
          </a:xfrm>
          <a:prstGeom prst="rect">
            <a:avLst/>
          </a:prstGeom>
          <a:noFill/>
          <a:ln/>
        </p:spPr>
        <p:txBody>
          <a:bodyPr wrap="square" lIns="0" tIns="0" rIns="0" bIns="0" rtlCol="0" anchor="t"/>
          <a:lstStyle/>
          <a:p>
            <a:pPr indent="0" marL="0">
              <a:buNone/>
            </a:pPr>
            <a:r>
              <a:rPr lang="en-US" sz="1800" dirty="0">
                <a:solidFill>
                  <a:srgbClr val="76665B"/>
                </a:solidFill>
                <a:latin typeface="Calibri" pitchFamily="34" charset="0"/>
                <a:ea typeface="Calibri" pitchFamily="34" charset="-122"/>
                <a:cs typeface="Calibri" pitchFamily="34" charset="-120"/>
              </a:rPr>
              <a:t>Wrapper kombinieren: Verschlüsselung und Komprimierung</a:t>
            </a:r>
            <a:endParaRPr lang="en-US" sz="1800" dirty="0"/>
          </a:p>
        </p:txBody>
      </p:sp>
      <p:sp>
        <p:nvSpPr>
          <p:cNvPr id="18" name="Shape 16"/>
          <p:cNvSpPr/>
          <p:nvPr/>
        </p:nvSpPr>
        <p:spPr>
          <a:xfrm>
            <a:off x="731520" y="5303520"/>
            <a:ext cx="10698480" cy="822960"/>
          </a:xfrm>
          <a:prstGeom prst="rect">
            <a:avLst/>
          </a:prstGeom>
          <a:solidFill>
            <a:srgbClr val="E8D6C3"/>
          </a:solidFill>
          <a:ln w="12700">
            <a:solidFill>
              <a:srgbClr val="E8D6C3"/>
            </a:solidFill>
            <a:prstDash val="solid"/>
          </a:ln>
        </p:spPr>
      </p:sp>
      <p:sp>
        <p:nvSpPr>
          <p:cNvPr id="19" name="Text 17">
            <a:hlinkClick r:id="rId5" tooltip=""/>
          </p:cNvPr>
          <p:cNvSpPr/>
          <p:nvPr/>
        </p:nvSpPr>
        <p:spPr>
          <a:xfrm>
            <a:off x="969264" y="5486400"/>
            <a:ext cx="10195560" cy="466344"/>
          </a:xfrm>
          <a:prstGeom prst="rect">
            <a:avLst/>
          </a:prstGeom>
          <a:noFill/>
          <a:ln/>
        </p:spPr>
        <p:txBody>
          <a:bodyPr wrap="square" lIns="0" tIns="0" rIns="0" bIns="0" rtlCol="0" anchor="t"/>
          <a:lstStyle/>
          <a:p>
            <a:pPr indent="0" marL="0">
              <a:buNone/>
            </a:pPr>
            <a:r>
              <a:rPr lang="en-US" sz="2100" u="sng" dirty="0">
                <a:solidFill>
                  <a:srgbClr val="30241F"/>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Repository: Java-Code, UML, Vor- und Nachteile sowie Python-Übung</a:t>
            </a:r>
            <a:endParaRPr lang="en-US" sz="21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Slide 16">
    <p:bg>
      <p:bgPr>
        <a:solidFill>
          <a:srgbClr val="30241F"/>
        </a:solidFill>
      </p:bgPr>
    </p:bg>
    <p:spTree>
      <p:nvGrpSpPr>
        <p:cNvPr id="1" name=""/>
        <p:cNvGrpSpPr/>
        <p:nvPr/>
      </p:nvGrpSpPr>
      <p:grpSpPr>
        <a:xfrm>
          <a:off x="0" y="0"/>
          <a:ext cx="0" cy="0"/>
          <a:chOff x="0" y="0"/>
          <a:chExt cx="0" cy="0"/>
        </a:xfrm>
      </p:grpSpPr>
      <p:sp>
        <p:nvSpPr>
          <p:cNvPr id="2" name="Text 0"/>
          <p:cNvSpPr/>
          <p:nvPr/>
        </p:nvSpPr>
        <p:spPr>
          <a:xfrm>
            <a:off x="594360" y="6510528"/>
            <a:ext cx="9144000" cy="201168"/>
          </a:xfrm>
          <a:prstGeom prst="rect">
            <a:avLst/>
          </a:prstGeom>
          <a:noFill/>
          <a:ln/>
        </p:spPr>
        <p:txBody>
          <a:bodyPr wrap="square" lIns="0" tIns="0" rIns="0" bIns="0" rtlCol="0" anchor="t"/>
          <a:lstStyle/>
          <a:p>
            <a:pPr indent="0" marL="0">
              <a:buNone/>
            </a:pPr>
            <a:r>
              <a:rPr lang="en-US" sz="1000" dirty="0">
                <a:solidFill>
                  <a:srgbClr val="E8D6C3"/>
                </a:solidFill>
                <a:latin typeface="Calibri" pitchFamily="34" charset="0"/>
                <a:ea typeface="Calibri" pitchFamily="34" charset="-122"/>
                <a:cs typeface="Calibri" pitchFamily="34" charset="-120"/>
              </a:rPr>
              <a:t>Kaffee mit Zusätzen · Java-Demo + Python-Übung</a:t>
            </a:r>
            <a:endParaRPr lang="en-US" sz="1000" dirty="0"/>
          </a:p>
        </p:txBody>
      </p:sp>
      <p:sp>
        <p:nvSpPr>
          <p:cNvPr id="3" name="Text 1"/>
          <p:cNvSpPr/>
          <p:nvPr/>
        </p:nvSpPr>
        <p:spPr>
          <a:xfrm>
            <a:off x="11082528" y="6455664"/>
            <a:ext cx="502920" cy="274320"/>
          </a:xfrm>
          <a:prstGeom prst="rect">
            <a:avLst/>
          </a:prstGeom>
          <a:noFill/>
          <a:ln/>
        </p:spPr>
        <p:txBody>
          <a:bodyPr wrap="square" lIns="0" tIns="0" rIns="0" bIns="0" rtlCol="0" anchor="t"/>
          <a:lstStyle/>
          <a:p>
            <a:pPr algn="r" indent="0" marL="0">
              <a:buNone/>
            </a:pPr>
            <a:r>
              <a:rPr lang="en-US" sz="1200" dirty="0">
                <a:solidFill>
                  <a:srgbClr val="E8D6C3"/>
                </a:solidFill>
                <a:latin typeface="Calibri" pitchFamily="34" charset="0"/>
                <a:ea typeface="Calibri" pitchFamily="34" charset="-122"/>
                <a:cs typeface="Calibri" pitchFamily="34" charset="-120"/>
              </a:rPr>
              <a:t>16</a:t>
            </a:r>
            <a:endParaRPr lang="en-US" sz="1200" dirty="0"/>
          </a:p>
        </p:txBody>
      </p:sp>
      <p:sp>
        <p:nvSpPr>
          <p:cNvPr id="4" name="Text 2"/>
          <p:cNvSpPr/>
          <p:nvPr/>
        </p:nvSpPr>
        <p:spPr>
          <a:xfrm>
            <a:off x="713232" y="713232"/>
            <a:ext cx="7315200" cy="256032"/>
          </a:xfrm>
          <a:prstGeom prst="rect">
            <a:avLst/>
          </a:prstGeom>
          <a:noFill/>
          <a:ln/>
        </p:spPr>
        <p:txBody>
          <a:bodyPr wrap="square" lIns="0" tIns="0" rIns="0" bIns="0" rtlCol="0" anchor="t"/>
          <a:lstStyle/>
          <a:p>
            <a:pPr indent="0" marL="0">
              <a:buNone/>
            </a:pPr>
            <a:r>
              <a:rPr lang="en-US" sz="1100" b="1" spc="180" kern="0" dirty="0">
                <a:solidFill>
                  <a:srgbClr val="E8D6C3"/>
                </a:solidFill>
                <a:latin typeface="Calibri" pitchFamily="34" charset="0"/>
                <a:ea typeface="Calibri" pitchFamily="34" charset="-122"/>
                <a:cs typeface="Calibri" pitchFamily="34" charset="-120"/>
              </a:rPr>
              <a:t>ZUM MITNEHMEN</a:t>
            </a:r>
            <a:endParaRPr lang="en-US" sz="1100" dirty="0"/>
          </a:p>
        </p:txBody>
      </p:sp>
      <p:sp>
        <p:nvSpPr>
          <p:cNvPr id="5" name="Text 3"/>
          <p:cNvSpPr/>
          <p:nvPr/>
        </p:nvSpPr>
        <p:spPr>
          <a:xfrm>
            <a:off x="713232" y="1417320"/>
            <a:ext cx="6949440" cy="2862072"/>
          </a:xfrm>
          <a:prstGeom prst="rect">
            <a:avLst/>
          </a:prstGeom>
          <a:noFill/>
          <a:ln/>
        </p:spPr>
        <p:txBody>
          <a:bodyPr wrap="square" lIns="0" tIns="0" rIns="0" bIns="0" rtlCol="0" anchor="t"/>
          <a:lstStyle/>
          <a:p>
            <a:pPr indent="0" marL="0">
              <a:buNone/>
            </a:pPr>
            <a:r>
              <a:rPr lang="en-US" sz="4400" b="1" dirty="0">
                <a:solidFill>
                  <a:srgbClr val="F6F0E7"/>
                </a:solidFill>
                <a:latin typeface="Georgia" pitchFamily="34" charset="0"/>
                <a:ea typeface="Georgia" pitchFamily="34" charset="-122"/>
                <a:cs typeface="Georgia" pitchFamily="34" charset="-120"/>
              </a:rPr>
              <a:t>Einpacken.</a:t>
            </a:r>
            <a:endParaRPr lang="en-US" sz="4400" dirty="0"/>
          </a:p>
          <a:p>
            <a:pPr indent="0" marL="0">
              <a:buNone/>
            </a:pPr>
            <a:r>
              <a:rPr lang="en-US" sz="4400" b="1" dirty="0">
                <a:solidFill>
                  <a:srgbClr val="F6F0E7"/>
                </a:solidFill>
                <a:latin typeface="Georgia" pitchFamily="34" charset="0"/>
                <a:ea typeface="Georgia" pitchFamily="34" charset="-122"/>
                <a:cs typeface="Georgia" pitchFamily="34" charset="-120"/>
              </a:rPr>
              <a:t>Weiterleiten.</a:t>
            </a:r>
            <a:endParaRPr lang="en-US" sz="4400" dirty="0"/>
          </a:p>
          <a:p>
            <a:pPr indent="0" marL="0">
              <a:buNone/>
            </a:pPr>
            <a:r>
              <a:rPr lang="en-US" sz="4400" b="1" dirty="0">
                <a:solidFill>
                  <a:srgbClr val="F6F0E7"/>
                </a:solidFill>
                <a:latin typeface="Georgia" pitchFamily="34" charset="0"/>
                <a:ea typeface="Georgia" pitchFamily="34" charset="-122"/>
                <a:cs typeface="Georgia" pitchFamily="34" charset="-120"/>
              </a:rPr>
              <a:t>Ergänzen.</a:t>
            </a:r>
            <a:endParaRPr lang="en-US" sz="4400" dirty="0"/>
          </a:p>
        </p:txBody>
      </p:sp>
      <p:sp>
        <p:nvSpPr>
          <p:cNvPr id="6" name="Text 4"/>
          <p:cNvSpPr/>
          <p:nvPr/>
        </p:nvSpPr>
        <p:spPr>
          <a:xfrm>
            <a:off x="749808" y="4892040"/>
            <a:ext cx="7360920" cy="1005840"/>
          </a:xfrm>
          <a:prstGeom prst="rect">
            <a:avLst/>
          </a:prstGeom>
          <a:noFill/>
          <a:ln/>
        </p:spPr>
        <p:txBody>
          <a:bodyPr wrap="square" lIns="0" tIns="0" rIns="0" bIns="0" rtlCol="0" anchor="t"/>
          <a:lstStyle/>
          <a:p>
            <a:pPr indent="0" marL="0">
              <a:buNone/>
            </a:pPr>
            <a:r>
              <a:rPr lang="en-US" sz="2500" dirty="0">
                <a:solidFill>
                  <a:srgbClr val="E8D6C3"/>
                </a:solidFill>
                <a:latin typeface="Calibri" pitchFamily="34" charset="0"/>
                <a:ea typeface="Calibri" pitchFamily="34" charset="-122"/>
                <a:cs typeface="Calibri" pitchFamily="34" charset="-120"/>
              </a:rPr>
              <a:t>Welche zusätzliche Funktion würdet ihr</a:t>
            </a:r>
            <a:endParaRPr lang="en-US" sz="2500" dirty="0"/>
          </a:p>
          <a:p>
            <a:pPr indent="0" marL="0">
              <a:buNone/>
            </a:pPr>
            <a:r>
              <a:rPr lang="en-US" sz="2500" dirty="0">
                <a:solidFill>
                  <a:srgbClr val="E8D6C3"/>
                </a:solidFill>
                <a:latin typeface="Calibri" pitchFamily="34" charset="0"/>
                <a:ea typeface="Calibri" pitchFamily="34" charset="-122"/>
                <a:cs typeface="Calibri" pitchFamily="34" charset="-120"/>
              </a:rPr>
              <a:t>als nächsten Dekorierer umsetzen?</a:t>
            </a:r>
            <a:endParaRPr lang="en-US" sz="2500" dirty="0"/>
          </a:p>
        </p:txBody>
      </p:sp>
      <p:sp>
        <p:nvSpPr>
          <p:cNvPr id="7" name="Shape 5"/>
          <p:cNvSpPr/>
          <p:nvPr/>
        </p:nvSpPr>
        <p:spPr>
          <a:xfrm>
            <a:off x="9921240" y="3145536"/>
            <a:ext cx="822960" cy="969264"/>
          </a:xfrm>
          <a:prstGeom prst="ellipse">
            <a:avLst/>
          </a:prstGeom>
          <a:solidFill>
            <a:srgbClr val="30241F">
              <a:alpha val="0"/>
            </a:srgbClr>
          </a:solidFill>
          <a:ln w="63500">
            <a:solidFill>
              <a:srgbClr val="E8D6C3"/>
            </a:solidFill>
            <a:prstDash val="solid"/>
          </a:ln>
        </p:spPr>
      </p:sp>
      <p:sp>
        <p:nvSpPr>
          <p:cNvPr id="8" name="Shape 6"/>
          <p:cNvSpPr/>
          <p:nvPr/>
        </p:nvSpPr>
        <p:spPr>
          <a:xfrm>
            <a:off x="8412480" y="2743200"/>
            <a:ext cx="1737360" cy="1554480"/>
          </a:xfrm>
          <a:prstGeom prst="rect">
            <a:avLst/>
          </a:prstGeom>
          <a:solidFill>
            <a:srgbClr val="E8D6C3"/>
          </a:solidFill>
          <a:ln w="12700">
            <a:solidFill>
              <a:srgbClr val="E8D6C3"/>
            </a:solidFill>
            <a:prstDash val="solid"/>
          </a:ln>
        </p:spPr>
      </p:sp>
      <p:sp>
        <p:nvSpPr>
          <p:cNvPr id="9" name="Shape 7"/>
          <p:cNvSpPr/>
          <p:nvPr/>
        </p:nvSpPr>
        <p:spPr>
          <a:xfrm>
            <a:off x="8558784" y="2944368"/>
            <a:ext cx="1444752" cy="228600"/>
          </a:xfrm>
          <a:prstGeom prst="rect">
            <a:avLst/>
          </a:prstGeom>
          <a:solidFill>
            <a:srgbClr val="A75B2A"/>
          </a:solidFill>
          <a:ln w="12700">
            <a:solidFill>
              <a:srgbClr val="A75B2A"/>
            </a:solidFill>
            <a:prstDash val="solid"/>
          </a:ln>
        </p:spPr>
      </p:sp>
      <p:sp>
        <p:nvSpPr>
          <p:cNvPr id="10" name="Shape 8"/>
          <p:cNvSpPr/>
          <p:nvPr/>
        </p:nvSpPr>
        <p:spPr>
          <a:xfrm>
            <a:off x="8247888" y="4443984"/>
            <a:ext cx="2103120" cy="73152"/>
          </a:xfrm>
          <a:prstGeom prst="rect">
            <a:avLst/>
          </a:prstGeom>
          <a:solidFill>
            <a:srgbClr val="A75B2A"/>
          </a:solidFill>
          <a:ln w="12700">
            <a:solidFill>
              <a:srgbClr val="A75B2A"/>
            </a:solidFill>
            <a:prstDash val="solid"/>
          </a:ln>
        </p:spPr>
      </p:sp>
      <p:sp>
        <p:nvSpPr>
          <p:cNvPr id="11" name="Shape 9"/>
          <p:cNvSpPr/>
          <p:nvPr/>
        </p:nvSpPr>
        <p:spPr>
          <a:xfrm rot="5400000">
            <a:off x="8595360" y="2029968"/>
            <a:ext cx="365760" cy="457200"/>
          </a:xfrm>
          <a:prstGeom prst="arc">
            <a:avLst/>
          </a:prstGeom>
          <a:noFill/>
          <a:ln w="25400">
            <a:solidFill>
              <a:srgbClr val="E8D6C3"/>
            </a:solidFill>
            <a:prstDash val="solid"/>
          </a:ln>
        </p:spPr>
      </p:sp>
      <p:sp>
        <p:nvSpPr>
          <p:cNvPr id="12" name="Shape 10"/>
          <p:cNvSpPr/>
          <p:nvPr/>
        </p:nvSpPr>
        <p:spPr>
          <a:xfrm rot="5400000">
            <a:off x="9098280" y="2029968"/>
            <a:ext cx="365760" cy="457200"/>
          </a:xfrm>
          <a:prstGeom prst="arc">
            <a:avLst/>
          </a:prstGeom>
          <a:noFill/>
          <a:ln w="25400">
            <a:solidFill>
              <a:srgbClr val="E8D6C3"/>
            </a:solidFill>
            <a:prstDash val="solid"/>
          </a:ln>
        </p:spPr>
      </p:sp>
      <p:sp>
        <p:nvSpPr>
          <p:cNvPr id="13" name="Shape 11"/>
          <p:cNvSpPr/>
          <p:nvPr/>
        </p:nvSpPr>
        <p:spPr>
          <a:xfrm rot="5400000">
            <a:off x="9601200" y="2029968"/>
            <a:ext cx="365760" cy="457200"/>
          </a:xfrm>
          <a:prstGeom prst="arc">
            <a:avLst/>
          </a:prstGeom>
          <a:noFill/>
          <a:ln w="25400">
            <a:solidFill>
              <a:srgbClr val="E8D6C3"/>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Decorator-Muster – Kaffee mit Zusätzen</dc:title>
  <dc:subject>Java-Demo und Python-Klassenübung</dc:subject>
  <dc:creator>Decorator-Lernprojekt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