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72" r:id="rId7"/>
    <p:sldId id="261" r:id="rId8"/>
    <p:sldId id="262" r:id="rId9"/>
    <p:sldId id="263" r:id="rId10"/>
    <p:sldId id="264" r:id="rId11"/>
    <p:sldId id="265" r:id="rId12"/>
    <p:sldId id="266" r:id="rId13"/>
    <p:sldId id="267" r:id="rId14"/>
    <p:sldId id="268" r:id="rId15"/>
    <p:sldId id="269" r:id="rId16"/>
    <p:sldId id="270"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3235" autoAdjust="0"/>
  </p:normalViewPr>
  <p:slideViewPr>
    <p:cSldViewPr snapToGrid="0" snapToObjects="1">
      <p:cViewPr varScale="1">
        <p:scale>
          <a:sx n="118" d="100"/>
          <a:sy n="118" d="100"/>
        </p:scale>
        <p:origin x="276"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96" d="100"/>
          <a:sy n="96" d="100"/>
        </p:scale>
        <p:origin x="156"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005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Für </a:t>
            </a:r>
            <a:r>
              <a:rPr dirty="0" err="1"/>
              <a:t>Erklärung</a:t>
            </a:r>
            <a:r>
              <a:rPr dirty="0"/>
              <a:t> und Demo </a:t>
            </a:r>
            <a:r>
              <a:rPr dirty="0" err="1"/>
              <a:t>etwa</a:t>
            </a:r>
            <a:r>
              <a:rPr dirty="0"/>
              <a:t> 12–15 Minuten; </a:t>
            </a:r>
            <a:r>
              <a:rPr dirty="0" err="1"/>
              <a:t>danach</a:t>
            </a:r>
            <a:r>
              <a:rPr dirty="0"/>
              <a:t> 15–20 Minuten </a:t>
            </a:r>
            <a:r>
              <a:rPr dirty="0" err="1"/>
              <a:t>Übung</a:t>
            </a:r>
            <a:r>
              <a:rPr dirty="0"/>
              <a:t>.</a:t>
            </a:r>
            <a:r>
              <a:rPr lang="de-DE" dirty="0"/>
              <a:t> </a:t>
            </a:r>
            <a:r>
              <a:rPr dirty="0" err="1"/>
              <a:t>Kaffee-Beispiel</a:t>
            </a:r>
            <a:r>
              <a:rPr dirty="0"/>
              <a:t>. Die </a:t>
            </a:r>
            <a:r>
              <a:rPr dirty="0" err="1"/>
              <a:t>Präsentation</a:t>
            </a:r>
            <a:r>
              <a:rPr dirty="0"/>
              <a:t> </a:t>
            </a:r>
            <a:r>
              <a:rPr dirty="0" err="1"/>
              <a:t>erklärt</a:t>
            </a:r>
            <a:r>
              <a:rPr dirty="0"/>
              <a:t> das </a:t>
            </a:r>
            <a:r>
              <a:rPr dirty="0" err="1"/>
              <a:t>objektorientierte</a:t>
            </a:r>
            <a:r>
              <a:rPr dirty="0"/>
              <a:t> Decorator-Muster.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Die Zahl 16 </a:t>
            </a:r>
            <a:r>
              <a:rPr dirty="0" err="1"/>
              <a:t>bezieht</a:t>
            </a:r>
            <a:r>
              <a:rPr dirty="0"/>
              <a:t> </a:t>
            </a:r>
            <a:r>
              <a:rPr dirty="0" err="1"/>
              <a:t>sich</a:t>
            </a:r>
            <a:r>
              <a:rPr dirty="0"/>
              <a:t> auf </a:t>
            </a:r>
            <a:r>
              <a:rPr dirty="0" err="1"/>
              <a:t>Kombinationen</a:t>
            </a:r>
            <a:r>
              <a:rPr dirty="0"/>
              <a:t> </a:t>
            </a:r>
            <a:r>
              <a:rPr dirty="0" err="1"/>
              <a:t>inklusive</a:t>
            </a:r>
            <a:r>
              <a:rPr dirty="0"/>
              <a:t> </a:t>
            </a:r>
            <a:r>
              <a:rPr dirty="0" err="1"/>
              <a:t>ohne</a:t>
            </a:r>
            <a:r>
              <a:rPr dirty="0"/>
              <a:t> </a:t>
            </a:r>
            <a:r>
              <a:rPr dirty="0" err="1"/>
              <a:t>Zusatz</a:t>
            </a:r>
            <a:r>
              <a:rPr dirty="0"/>
              <a:t>, </a:t>
            </a:r>
            <a:r>
              <a:rPr dirty="0" err="1"/>
              <a:t>ohne</a:t>
            </a:r>
            <a:r>
              <a:rPr dirty="0"/>
              <a:t> </a:t>
            </a:r>
            <a:r>
              <a:rPr dirty="0" err="1"/>
              <a:t>Berücksichtigung</a:t>
            </a:r>
            <a:r>
              <a:rPr dirty="0"/>
              <a:t> der </a:t>
            </a:r>
            <a:r>
              <a:rPr dirty="0" err="1"/>
              <a:t>Reihenfolge</a:t>
            </a:r>
            <a:r>
              <a:rPr dirty="0"/>
              <a:t> und </a:t>
            </a:r>
            <a:r>
              <a:rPr dirty="0" err="1"/>
              <a:t>ohne</a:t>
            </a:r>
            <a:r>
              <a:rPr dirty="0"/>
              <a:t> </a:t>
            </a:r>
            <a:r>
              <a:rPr dirty="0" err="1"/>
              <a:t>doppelte</a:t>
            </a:r>
            <a:r>
              <a:rPr dirty="0"/>
              <a:t> </a:t>
            </a:r>
            <a:r>
              <a:rPr dirty="0" err="1"/>
              <a:t>Zusätze</a:t>
            </a:r>
            <a:r>
              <a:rPr dirty="0"/>
              <a:t>. Quelle: </a:t>
            </a:r>
            <a:r>
              <a:rPr dirty="0" err="1"/>
              <a:t>Prinzip</a:t>
            </a:r>
            <a:r>
              <a:rPr dirty="0"/>
              <a:t> der </a:t>
            </a:r>
            <a:r>
              <a:rPr dirty="0" err="1"/>
              <a:t>Klassenexplosion</a:t>
            </a:r>
            <a:r>
              <a:rPr dirty="0"/>
              <a:t> </a:t>
            </a:r>
            <a:r>
              <a:rPr dirty="0" err="1"/>
              <a:t>bei</a:t>
            </a:r>
            <a:r>
              <a:rPr dirty="0"/>
              <a:t> Philipp Hauer, Decorator Pattern.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Von innen nach außen erklären: Espresso wird zuerst mit Milch und dann mit Sirup umhüllt. Der Client arbeitet weiterhin mit Getraenk. Eine Hülle kann deshalb eine weitere Hülle aufnehmen. Quelle: Refactoring.Guru, Decorator in Java; Philipp Hauer, Beschreibung.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Getraenk ist ein Interface. Sowohl die Grundgetränke als auch die Dekorierer implementieren es. Die Rolle Decorator wird durch eine abstrakte Klasse umgesetzt. Im Java-Projekt enthalten die konkreten Dekorierer nur ihre Konfiguration im Konstruktor. Quelle: README.md und src/.</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038B6-FB02-088B-6DE9-54B7464C7D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B4DBC-5468-47BA-7732-EB72B4622E4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AB2FE9B-46A9-CC6E-4214-79710A751371}"/>
              </a:ext>
            </a:extLst>
          </p:cNvPr>
          <p:cNvSpPr>
            <a:spLocks noGrp="1"/>
          </p:cNvSpPr>
          <p:nvPr>
            <p:ph type="body" sz="quarter" idx="3"/>
          </p:nvPr>
        </p:nvSpPr>
        <p:spPr/>
        <p:txBody>
          <a:bodyPr/>
          <a:lstStyle/>
          <a:p>
            <a:r>
              <a:rPr dirty="0" err="1"/>
              <a:t>Vereinfachte</a:t>
            </a:r>
            <a:r>
              <a:rPr dirty="0"/>
              <a:t> </a:t>
            </a:r>
            <a:r>
              <a:rPr dirty="0" err="1"/>
              <a:t>Klassenstruktur</a:t>
            </a:r>
            <a:r>
              <a:rPr dirty="0"/>
              <a:t>, </a:t>
            </a:r>
            <a:r>
              <a:rPr dirty="0" err="1"/>
              <a:t>kein</a:t>
            </a:r>
            <a:r>
              <a:rPr dirty="0"/>
              <a:t> </a:t>
            </a:r>
            <a:r>
              <a:rPr dirty="0" err="1"/>
              <a:t>vollständiger</a:t>
            </a:r>
            <a:r>
              <a:rPr dirty="0"/>
              <a:t> UML-Export. </a:t>
            </a:r>
            <a:r>
              <a:rPr dirty="0" err="1"/>
              <a:t>Gestrichelte</a:t>
            </a:r>
            <a:r>
              <a:rPr dirty="0"/>
              <a:t> </a:t>
            </a:r>
            <a:r>
              <a:rPr dirty="0" err="1"/>
              <a:t>Pfeile</a:t>
            </a:r>
            <a:r>
              <a:rPr dirty="0"/>
              <a:t>: </a:t>
            </a:r>
            <a:r>
              <a:rPr dirty="0" err="1"/>
              <a:t>Implementierung</a:t>
            </a:r>
            <a:r>
              <a:rPr dirty="0"/>
              <a:t> des Interface. Linien der </a:t>
            </a:r>
            <a:r>
              <a:rPr dirty="0" err="1"/>
              <a:t>konkreten</a:t>
            </a:r>
            <a:r>
              <a:rPr dirty="0"/>
              <a:t> </a:t>
            </a:r>
            <a:r>
              <a:rPr dirty="0" err="1"/>
              <a:t>Zusätze</a:t>
            </a:r>
            <a:r>
              <a:rPr dirty="0"/>
              <a:t> </a:t>
            </a:r>
            <a:r>
              <a:rPr dirty="0" err="1"/>
              <a:t>zum</a:t>
            </a:r>
            <a:r>
              <a:rPr dirty="0"/>
              <a:t> </a:t>
            </a:r>
            <a:r>
              <a:rPr dirty="0" err="1"/>
              <a:t>Dekorierer</a:t>
            </a:r>
            <a:r>
              <a:rPr dirty="0"/>
              <a:t>: </a:t>
            </a:r>
            <a:r>
              <a:rPr dirty="0" err="1"/>
              <a:t>Vererbung</a:t>
            </a:r>
            <a:r>
              <a:rPr dirty="0"/>
              <a:t>. Der </a:t>
            </a:r>
            <a:r>
              <a:rPr dirty="0" err="1"/>
              <a:t>Dekorierer</a:t>
            </a:r>
            <a:r>
              <a:rPr dirty="0"/>
              <a:t> </a:t>
            </a:r>
            <a:r>
              <a:rPr dirty="0" err="1"/>
              <a:t>hält</a:t>
            </a:r>
            <a:r>
              <a:rPr dirty="0"/>
              <a:t> </a:t>
            </a:r>
            <a:r>
              <a:rPr dirty="0" err="1"/>
              <a:t>zusätzlich</a:t>
            </a:r>
            <a:r>
              <a:rPr dirty="0"/>
              <a:t> </a:t>
            </a:r>
            <a:r>
              <a:rPr dirty="0" err="1"/>
              <a:t>eine</a:t>
            </a:r>
            <a:r>
              <a:rPr dirty="0"/>
              <a:t> </a:t>
            </a:r>
            <a:r>
              <a:rPr dirty="0" err="1"/>
              <a:t>Referenz</a:t>
            </a:r>
            <a:r>
              <a:rPr dirty="0"/>
              <a:t> auf </a:t>
            </a:r>
            <a:r>
              <a:rPr dirty="0" err="1"/>
              <a:t>ein</a:t>
            </a:r>
            <a:r>
              <a:rPr dirty="0"/>
              <a:t> </a:t>
            </a:r>
            <a:r>
              <a:rPr dirty="0" err="1"/>
              <a:t>beliebiges</a:t>
            </a:r>
            <a:r>
              <a:rPr dirty="0"/>
              <a:t> </a:t>
            </a:r>
            <a:r>
              <a:rPr dirty="0" err="1"/>
              <a:t>Getraenk</a:t>
            </a:r>
            <a:r>
              <a:rPr dirty="0"/>
              <a:t>, also </a:t>
            </a:r>
            <a:r>
              <a:rPr dirty="0" err="1"/>
              <a:t>auch</a:t>
            </a:r>
            <a:r>
              <a:rPr dirty="0"/>
              <a:t> auf </a:t>
            </a:r>
            <a:r>
              <a:rPr dirty="0" err="1"/>
              <a:t>einen</a:t>
            </a:r>
            <a:r>
              <a:rPr dirty="0"/>
              <a:t> </a:t>
            </a:r>
            <a:r>
              <a:rPr dirty="0" err="1"/>
              <a:t>anderen</a:t>
            </a:r>
            <a:r>
              <a:rPr dirty="0"/>
              <a:t> </a:t>
            </a:r>
            <a:r>
              <a:rPr dirty="0" err="1"/>
              <a:t>Dekorierer</a:t>
            </a:r>
            <a:r>
              <a:rPr dirty="0"/>
              <a:t>. Das </a:t>
            </a:r>
            <a:r>
              <a:rPr dirty="0" err="1"/>
              <a:t>ausführliche</a:t>
            </a:r>
            <a:r>
              <a:rPr dirty="0"/>
              <a:t>, </a:t>
            </a:r>
            <a:r>
              <a:rPr dirty="0" err="1"/>
              <a:t>bearbeitbare</a:t>
            </a:r>
            <a:r>
              <a:rPr dirty="0"/>
              <a:t> UML-</a:t>
            </a:r>
            <a:r>
              <a:rPr dirty="0" err="1"/>
              <a:t>Diagramm</a:t>
            </a:r>
            <a:r>
              <a:rPr dirty="0"/>
              <a:t> </a:t>
            </a:r>
            <a:r>
              <a:rPr dirty="0" err="1"/>
              <a:t>liegt</a:t>
            </a:r>
            <a:r>
              <a:rPr dirty="0"/>
              <a:t> in </a:t>
            </a:r>
            <a:r>
              <a:rPr dirty="0" err="1"/>
              <a:t>Decorator_UML.drawio</a:t>
            </a:r>
            <a:r>
              <a:rPr dirty="0"/>
              <a:t>.</a:t>
            </a:r>
          </a:p>
        </p:txBody>
      </p:sp>
      <p:sp>
        <p:nvSpPr>
          <p:cNvPr id="4" name="Slide Number Placeholder 3">
            <a:extLst>
              <a:ext uri="{FF2B5EF4-FFF2-40B4-BE49-F238E27FC236}">
                <a16:creationId xmlns:a16="http://schemas.microsoft.com/office/drawing/2014/main" id="{B3DF0455-E3E6-E0AE-0341-7534B6F31F7D}"/>
              </a:ext>
            </a:extLst>
          </p:cNvPr>
          <p:cNvSpPr>
            <a:spLocks noGrp="1"/>
          </p:cNvSpPr>
          <p:nvPr>
            <p:ph type="sldNum" sz="quarter" idx="5"/>
          </p:nvPr>
        </p:nvSpPr>
        <p:spPr/>
      </p:sp>
    </p:spTree>
    <p:extLst>
      <p:ext uri="{BB962C8B-B14F-4D97-AF65-F5344CB8AC3E}">
        <p14:creationId xmlns:p14="http://schemas.microsoft.com/office/powerpoint/2010/main" val="14282221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Sirup ruft getPreis() von Milch auf, Milch ruft Espresso auf. Auf dem Rückweg addiert Milch ihren Aufpreis, danach Sirup seinen. Bei getBeschreibung() wird analog der Text erweitert. Die ursprünglichen Grundpreise werden nicht verändert. Quelle: Java-Code in src/beilagen/GetraenkDekorierer.java.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Ausschnitte aus dem aktuellen Java-Projekt. Der Parameter g wurde für die Folienbreite verkürzt; im Repository heißt er getraenk. Milch erbt die Methoden zur Berechnung und Beschreibung. Das Beispiel verwendet eine gemeinsame parametrisierte Implementierung für alle gleichartigen Zusätze.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Live-Demo: In der IDE </a:t>
            </a:r>
            <a:r>
              <a:rPr dirty="0" err="1"/>
              <a:t>app.Main</a:t>
            </a:r>
            <a:r>
              <a:rPr dirty="0"/>
              <a:t> </a:t>
            </a:r>
            <a:r>
              <a:rPr dirty="0" err="1"/>
              <a:t>öffnen</a:t>
            </a:r>
            <a:r>
              <a:rPr dirty="0"/>
              <a:t> und die </a:t>
            </a:r>
            <a:r>
              <a:rPr dirty="0" err="1"/>
              <a:t>vorhandenen</a:t>
            </a:r>
            <a:r>
              <a:rPr dirty="0"/>
              <a:t> </a:t>
            </a:r>
            <a:r>
              <a:rPr dirty="0" err="1"/>
              <a:t>Beispiele</a:t>
            </a:r>
            <a:r>
              <a:rPr dirty="0"/>
              <a:t> </a:t>
            </a:r>
            <a:r>
              <a:rPr dirty="0" err="1"/>
              <a:t>ausführen</a:t>
            </a:r>
            <a:r>
              <a:rPr dirty="0"/>
              <a:t>. Die Klasse </a:t>
            </a:r>
            <a:r>
              <a:rPr dirty="0" err="1"/>
              <a:t>zeigt</a:t>
            </a:r>
            <a:r>
              <a:rPr dirty="0"/>
              <a:t> Espresso, Espresso </a:t>
            </a:r>
            <a:r>
              <a:rPr dirty="0" err="1"/>
              <a:t>mit</a:t>
            </a:r>
            <a:r>
              <a:rPr dirty="0"/>
              <a:t> Milch und Sirup </a:t>
            </a:r>
            <a:r>
              <a:rPr dirty="0" err="1"/>
              <a:t>sowie</a:t>
            </a:r>
            <a:r>
              <a:rPr dirty="0"/>
              <a:t> </a:t>
            </a:r>
            <a:r>
              <a:rPr dirty="0" err="1"/>
              <a:t>Filterkaffee</a:t>
            </a:r>
            <a:r>
              <a:rPr dirty="0"/>
              <a:t> </a:t>
            </a:r>
            <a:r>
              <a:rPr dirty="0" err="1"/>
              <a:t>mit</a:t>
            </a:r>
            <a:r>
              <a:rPr dirty="0"/>
              <a:t> </a:t>
            </a:r>
            <a:r>
              <a:rPr dirty="0" err="1"/>
              <a:t>Sahne</a:t>
            </a:r>
            <a:r>
              <a:rPr dirty="0"/>
              <a:t>. Für </a:t>
            </a:r>
            <a:r>
              <a:rPr dirty="0" err="1"/>
              <a:t>diese</a:t>
            </a:r>
            <a:r>
              <a:rPr dirty="0"/>
              <a:t> Folie </a:t>
            </a:r>
            <a:r>
              <a:rPr dirty="0" err="1"/>
              <a:t>bei</a:t>
            </a:r>
            <a:r>
              <a:rPr dirty="0"/>
              <a:t> </a:t>
            </a:r>
            <a:r>
              <a:rPr dirty="0" err="1"/>
              <a:t>Bedarf</a:t>
            </a:r>
            <a:r>
              <a:rPr dirty="0"/>
              <a:t> die Milch-</a:t>
            </a:r>
            <a:r>
              <a:rPr dirty="0" err="1"/>
              <a:t>Beispiele</a:t>
            </a:r>
            <a:r>
              <a:rPr dirty="0"/>
              <a:t> </a:t>
            </a:r>
            <a:r>
              <a:rPr dirty="0" err="1"/>
              <a:t>ergänzen</a:t>
            </a:r>
            <a:r>
              <a:rPr dirty="0"/>
              <a:t>.</a:t>
            </a:r>
            <a:endParaRPr lang="de-DE" dirty="0"/>
          </a:p>
          <a:p>
            <a:endParaRPr lang="de-DE" dirty="0"/>
          </a:p>
          <a:p>
            <a:r>
              <a:rPr dirty="0" err="1"/>
              <a:t>Versionshinweis</a:t>
            </a:r>
            <a:r>
              <a:rPr dirty="0"/>
              <a:t>: Die </a:t>
            </a:r>
            <a:r>
              <a:rPr dirty="0" err="1"/>
              <a:t>aktuelle</a:t>
            </a:r>
            <a:r>
              <a:rPr dirty="0"/>
              <a:t> Main-Methode </a:t>
            </a:r>
            <a:r>
              <a:rPr dirty="0" err="1"/>
              <a:t>ist</a:t>
            </a:r>
            <a:r>
              <a:rPr dirty="0"/>
              <a:t> </a:t>
            </a:r>
            <a:r>
              <a:rPr dirty="0" err="1"/>
              <a:t>parameterlos</a:t>
            </a:r>
            <a:r>
              <a:rPr dirty="0"/>
              <a:t>; die IDE muss </a:t>
            </a:r>
            <a:r>
              <a:rPr dirty="0" err="1"/>
              <a:t>einen</a:t>
            </a:r>
            <a:r>
              <a:rPr dirty="0"/>
              <a:t> Launcher </a:t>
            </a:r>
            <a:r>
              <a:rPr dirty="0" err="1"/>
              <a:t>verwenden</a:t>
            </a:r>
            <a:r>
              <a:rPr dirty="0"/>
              <a:t>, der </a:t>
            </a:r>
            <a:r>
              <a:rPr dirty="0" err="1"/>
              <a:t>diese</a:t>
            </a:r>
            <a:r>
              <a:rPr dirty="0"/>
              <a:t> Form </a:t>
            </a:r>
            <a:r>
              <a:rPr dirty="0" err="1"/>
              <a:t>unterstützt</a:t>
            </a:r>
            <a:r>
              <a:rPr dirty="0"/>
              <a:t>. Die </a:t>
            </a:r>
            <a:r>
              <a:rPr dirty="0" err="1"/>
              <a:t>hier</a:t>
            </a:r>
            <a:r>
              <a:rPr dirty="0"/>
              <a:t> </a:t>
            </a:r>
            <a:r>
              <a:rPr dirty="0" err="1"/>
              <a:t>gezeigten</a:t>
            </a:r>
            <a:r>
              <a:rPr dirty="0"/>
              <a:t> Ketten </a:t>
            </a:r>
            <a:r>
              <a:rPr dirty="0" err="1"/>
              <a:t>lassen</a:t>
            </a:r>
            <a:r>
              <a:rPr dirty="0"/>
              <a:t> </a:t>
            </a:r>
            <a:r>
              <a:rPr dirty="0" err="1"/>
              <a:t>sich</a:t>
            </a:r>
            <a:r>
              <a:rPr dirty="0"/>
              <a:t> </a:t>
            </a:r>
            <a:r>
              <a:rPr dirty="0" err="1"/>
              <a:t>unabhängig</a:t>
            </a:r>
            <a:r>
              <a:rPr dirty="0"/>
              <a:t> </a:t>
            </a:r>
            <a:r>
              <a:rPr dirty="0" err="1"/>
              <a:t>davon</a:t>
            </a:r>
            <a:r>
              <a:rPr dirty="0"/>
              <a:t> </a:t>
            </a:r>
            <a:r>
              <a:rPr dirty="0" err="1"/>
              <a:t>erläutern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Quellen: Philipp Hauer, Vorteile und Nachteile; Wikipedia, Decorator, Objektidentität. Zusätzliche Objekte sind kein pauschaler Performance-Nachteil; auf dieser Folie geht es um die Komplexität des Aufbaus und der Fehlersuche. Details mit Links stehen in Vorteile_Nachteile.md.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Philipp Hauer nennt unter anderem Textkomponenten und Java-IO als Einsatzfälle. Refactoring.Guru zeigt die Kombination von Verschlüsselung und Komprimierung. Die Empfehlung für wenige feste Varianten ist eine Abwägung aus dem Zusatzaufwand des Musters, keine starre Regel.</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Übungsmaterial: uebung_python/README.md und uebung_python/starter.py. Es werden nur Module der Python-Standardbibliothek benötigt. Die Musterlösung erst nach der Bearbeitung aufrufen. Die Startdatei enthält absichtlich NotImplementedError bei Karamell; zwei Grundbeispiele laufen bereits. Dieses Entwurfsmuster ist unabhängig von Pythons @-Dekorator-Syntax.</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Auf der Folie stehen verkürzte Fehlermeldungen; der Startercode enthält ausführlichere Hinweise. Die zwei TODOs sollen den inneren Preis beziehungsweise den inneren Text abfragen, statt Espresso oder seinen Grundpreis fest einzubauen. Lernziel: Delegation verstehen und den Decorator beliebig kombinierbar halten.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Bearbeitungszeit hier starten beziehungsweise bei der Präsentation pausieren. Vor dem Weiterblättern Ergebnisse und Verständnisfragen besprechen. Auch doppelte Dekorierer müssen funktionieren. Musterlösung erst auf der nächsten Folie zeigen.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Klasse erbt den Konstruktor aus GetraenkDekorierer. Deshalb wird self._getraenk bereits dort gesetzt. Die konkreten Methoden delegieren und ergänzen dann Preis und Text. Vollständige ausführbare Lösung: uebung_python/musterloesung.py. Ergebnis: Espresso, Milch, Karamell: 2.90 Euro.</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Alle Titel sind anklickbare Quellenlinks. Die Quellen stammen aus der Projekt-README. Projektmaterialien: README.md, Decorator_UML.drawio, Vorteile_Nachteile.md und uebung_python/. Repository-Link laut Moodle-Board: https://github.com/dj-nic/decorator-design-pattern.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Abschluss: Gemeinsame Schnittstelle ermöglicht Verschachtelung. Komposition speichert die innere Komponente. Delegation führt bestehendes Verhalten aus, bevor oder nachdem die Erweiterung ihren Anteil ergänzt. Fragen sammeln und eigene Erweiterungsideen diskutieren.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www.philipphauer.de/study/se/design-pattern/decorator.php"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hyperlink" Target="https://github.com/dj-nic/decorator-design-pattern" TargetMode="External"/><Relationship Id="rId5" Type="http://schemas.openxmlformats.org/officeDocument/2006/relationships/hyperlink" Target="https://refactoring.guru/design-patterns/decorator/java/example" TargetMode="External"/><Relationship Id="rId4" Type="http://schemas.openxmlformats.org/officeDocument/2006/relationships/hyperlink" Target="https://de.wikipedia.org/wiki/Decorator_(Entwurfsmuster)"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0241F"/>
        </a:solidFill>
        <a:effectLst/>
      </p:bgPr>
    </p:bg>
    <p:spTree>
      <p:nvGrpSpPr>
        <p:cNvPr id="1" name=""/>
        <p:cNvGrpSpPr/>
        <p:nvPr/>
      </p:nvGrpSpPr>
      <p:grpSpPr>
        <a:xfrm>
          <a:off x="0" y="0"/>
          <a:ext cx="0" cy="0"/>
          <a:chOff x="0" y="0"/>
          <a:chExt cx="0" cy="0"/>
        </a:xfrm>
      </p:grpSpPr>
      <p:sp>
        <p:nvSpPr>
          <p:cNvPr id="2" name="Text 0"/>
          <p:cNvSpPr/>
          <p:nvPr/>
        </p:nvSpPr>
        <p:spPr>
          <a:xfrm>
            <a:off x="594360" y="6510528"/>
            <a:ext cx="9144000" cy="201168"/>
          </a:xfrm>
          <a:prstGeom prst="rect">
            <a:avLst/>
          </a:prstGeom>
          <a:noFill/>
          <a:ln/>
        </p:spPr>
        <p:txBody>
          <a:bodyPr wrap="square" lIns="0" tIns="0" rIns="0" bIns="0" rtlCol="0" anchor="t"/>
          <a:lstStyle/>
          <a:p>
            <a:pPr marL="0" indent="0">
              <a:buNone/>
            </a:pPr>
            <a:r>
              <a:rPr lang="en-US" sz="1000" dirty="0">
                <a:solidFill>
                  <a:srgbClr val="E8D6C3"/>
                </a:solidFill>
                <a:latin typeface="Calibri" pitchFamily="34" charset="0"/>
                <a:ea typeface="Calibri" pitchFamily="34" charset="-122"/>
                <a:cs typeface="Calibri" pitchFamily="34" charset="-120"/>
              </a:rPr>
              <a:t>Kaffee mit Zusätzen · Java-Demo + Python-Übung</a:t>
            </a:r>
            <a:endParaRPr lang="en-US" sz="1000" dirty="0"/>
          </a:p>
        </p:txBody>
      </p:sp>
      <p:sp>
        <p:nvSpPr>
          <p:cNvPr id="3" name="Text 1"/>
          <p:cNvSpPr/>
          <p:nvPr/>
        </p:nvSpPr>
        <p:spPr>
          <a:xfrm>
            <a:off x="11082528" y="6455664"/>
            <a:ext cx="502920" cy="274320"/>
          </a:xfrm>
          <a:prstGeom prst="rect">
            <a:avLst/>
          </a:prstGeom>
          <a:noFill/>
          <a:ln/>
        </p:spPr>
        <p:txBody>
          <a:bodyPr wrap="square" lIns="0" tIns="0" rIns="0" bIns="0" rtlCol="0" anchor="t"/>
          <a:lstStyle/>
          <a:p>
            <a:pPr marL="0" indent="0" algn="r">
              <a:buNone/>
            </a:pPr>
            <a:r>
              <a:rPr lang="en-US" sz="1200" dirty="0">
                <a:solidFill>
                  <a:srgbClr val="E8D6C3"/>
                </a:solidFill>
                <a:latin typeface="Calibri" pitchFamily="34" charset="0"/>
                <a:ea typeface="Calibri" pitchFamily="34" charset="-122"/>
                <a:cs typeface="Calibri" pitchFamily="34" charset="-120"/>
              </a:rPr>
              <a:t>01</a:t>
            </a:r>
            <a:endParaRPr lang="en-US" sz="1200" dirty="0"/>
          </a:p>
        </p:txBody>
      </p:sp>
      <p:sp>
        <p:nvSpPr>
          <p:cNvPr id="4" name="Text 2"/>
          <p:cNvSpPr/>
          <p:nvPr/>
        </p:nvSpPr>
        <p:spPr>
          <a:xfrm>
            <a:off x="685800" y="640080"/>
            <a:ext cx="6400800" cy="256032"/>
          </a:xfrm>
          <a:prstGeom prst="rect">
            <a:avLst/>
          </a:prstGeom>
          <a:noFill/>
          <a:ln/>
        </p:spPr>
        <p:txBody>
          <a:bodyPr wrap="square" lIns="0" tIns="0" rIns="0" bIns="0" rtlCol="0" anchor="t"/>
          <a:lstStyle/>
          <a:p>
            <a:pPr marL="0" indent="0">
              <a:buNone/>
            </a:pPr>
            <a:r>
              <a:rPr lang="en-US" sz="1100" b="1" kern="0" spc="180" dirty="0">
                <a:solidFill>
                  <a:srgbClr val="E8D6C3"/>
                </a:solidFill>
                <a:latin typeface="Calibri" pitchFamily="34" charset="0"/>
                <a:ea typeface="Calibri" pitchFamily="34" charset="-122"/>
                <a:cs typeface="Calibri" pitchFamily="34" charset="-120"/>
              </a:rPr>
              <a:t>ENTWURFSMUSTER VERSTEHEN</a:t>
            </a:r>
            <a:endParaRPr lang="en-US" sz="1100" dirty="0"/>
          </a:p>
        </p:txBody>
      </p:sp>
      <p:sp>
        <p:nvSpPr>
          <p:cNvPr id="5" name="Text 3"/>
          <p:cNvSpPr/>
          <p:nvPr/>
        </p:nvSpPr>
        <p:spPr>
          <a:xfrm>
            <a:off x="685800" y="1298448"/>
            <a:ext cx="7406640" cy="786384"/>
          </a:xfrm>
          <a:prstGeom prst="rect">
            <a:avLst/>
          </a:prstGeom>
          <a:noFill/>
          <a:ln/>
        </p:spPr>
        <p:txBody>
          <a:bodyPr wrap="square" lIns="0" tIns="0" rIns="0" bIns="0" rtlCol="0" anchor="t"/>
          <a:lstStyle/>
          <a:p>
            <a:pPr marL="0" indent="0">
              <a:buNone/>
            </a:pPr>
            <a:r>
              <a:rPr lang="en-US" sz="4400" b="1" dirty="0">
                <a:solidFill>
                  <a:srgbClr val="F6F0E7"/>
                </a:solidFill>
                <a:latin typeface="Georgia" pitchFamily="34" charset="0"/>
                <a:ea typeface="Georgia" pitchFamily="34" charset="-122"/>
                <a:cs typeface="Georgia" pitchFamily="34" charset="-120"/>
              </a:rPr>
              <a:t>Decorator-Muster</a:t>
            </a:r>
            <a:endParaRPr lang="en-US" sz="4400" dirty="0"/>
          </a:p>
        </p:txBody>
      </p:sp>
      <p:sp>
        <p:nvSpPr>
          <p:cNvPr id="6" name="Text 4"/>
          <p:cNvSpPr/>
          <p:nvPr/>
        </p:nvSpPr>
        <p:spPr>
          <a:xfrm>
            <a:off x="713232" y="2350008"/>
            <a:ext cx="6949440" cy="640080"/>
          </a:xfrm>
          <a:prstGeom prst="rect">
            <a:avLst/>
          </a:prstGeom>
          <a:noFill/>
          <a:ln/>
        </p:spPr>
        <p:txBody>
          <a:bodyPr wrap="square" lIns="0" tIns="0" rIns="0" bIns="0" rtlCol="0" anchor="t"/>
          <a:lstStyle/>
          <a:p>
            <a:pPr marL="0" indent="0">
              <a:buNone/>
            </a:pPr>
            <a:r>
              <a:rPr lang="en-US" sz="3000" dirty="0">
                <a:solidFill>
                  <a:srgbClr val="E8D6C3"/>
                </a:solidFill>
                <a:latin typeface="Calibri" pitchFamily="34" charset="0"/>
                <a:ea typeface="Calibri" pitchFamily="34" charset="-122"/>
                <a:cs typeface="Calibri" pitchFamily="34" charset="-120"/>
              </a:rPr>
              <a:t>Kaffee mit Zusätzen</a:t>
            </a:r>
            <a:endParaRPr lang="en-US" sz="3000" dirty="0"/>
          </a:p>
        </p:txBody>
      </p:sp>
      <p:sp>
        <p:nvSpPr>
          <p:cNvPr id="7" name="Text 5"/>
          <p:cNvSpPr/>
          <p:nvPr/>
        </p:nvSpPr>
        <p:spPr>
          <a:xfrm>
            <a:off x="713232" y="3374136"/>
            <a:ext cx="6400800" cy="640080"/>
          </a:xfrm>
          <a:prstGeom prst="rect">
            <a:avLst/>
          </a:prstGeom>
          <a:noFill/>
          <a:ln/>
        </p:spPr>
        <p:txBody>
          <a:bodyPr wrap="square" lIns="0" tIns="0" rIns="0" bIns="0" rtlCol="0" anchor="t"/>
          <a:lstStyle/>
          <a:p>
            <a:pPr marL="0" indent="0">
              <a:buNone/>
            </a:pPr>
            <a:r>
              <a:rPr lang="en-US" sz="2200" dirty="0">
                <a:solidFill>
                  <a:srgbClr val="F6F0E7"/>
                </a:solidFill>
                <a:latin typeface="Calibri" pitchFamily="34" charset="0"/>
                <a:ea typeface="Calibri" pitchFamily="34" charset="-122"/>
                <a:cs typeface="Calibri" pitchFamily="34" charset="-120"/>
              </a:rPr>
              <a:t>Objekte einpacken. Verhalten kombinieren.</a:t>
            </a:r>
            <a:endParaRPr lang="en-US" sz="2200" dirty="0"/>
          </a:p>
        </p:txBody>
      </p:sp>
      <p:sp>
        <p:nvSpPr>
          <p:cNvPr id="8" name="Shape 6"/>
          <p:cNvSpPr/>
          <p:nvPr/>
        </p:nvSpPr>
        <p:spPr>
          <a:xfrm>
            <a:off x="713232" y="4800600"/>
            <a:ext cx="6309360" cy="731520"/>
          </a:xfrm>
          <a:prstGeom prst="rect">
            <a:avLst/>
          </a:prstGeom>
          <a:solidFill>
            <a:srgbClr val="45634D"/>
          </a:solidFill>
          <a:ln w="12700">
            <a:solidFill>
              <a:srgbClr val="45634D"/>
            </a:solidFill>
            <a:prstDash val="solid"/>
          </a:ln>
        </p:spPr>
        <p:txBody>
          <a:bodyPr/>
          <a:lstStyle/>
          <a:p>
            <a:endParaRPr lang="de-DE"/>
          </a:p>
        </p:txBody>
      </p:sp>
      <p:sp>
        <p:nvSpPr>
          <p:cNvPr id="9" name="Text 7"/>
          <p:cNvSpPr/>
          <p:nvPr/>
        </p:nvSpPr>
        <p:spPr>
          <a:xfrm>
            <a:off x="932688" y="4992624"/>
            <a:ext cx="5852160" cy="36576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Java-Demo  /  Python-Klassenübung</a:t>
            </a:r>
            <a:endParaRPr lang="en-US" sz="2000" dirty="0"/>
          </a:p>
        </p:txBody>
      </p:sp>
      <p:sp>
        <p:nvSpPr>
          <p:cNvPr id="10" name="Shape 8"/>
          <p:cNvSpPr/>
          <p:nvPr/>
        </p:nvSpPr>
        <p:spPr>
          <a:xfrm>
            <a:off x="9813798" y="3220517"/>
            <a:ext cx="864108" cy="1017727"/>
          </a:xfrm>
          <a:prstGeom prst="ellipse">
            <a:avLst/>
          </a:prstGeom>
          <a:solidFill>
            <a:srgbClr val="30241F">
              <a:alpha val="0"/>
            </a:srgbClr>
          </a:solidFill>
          <a:ln w="63500">
            <a:solidFill>
              <a:srgbClr val="E8D6C3"/>
            </a:solidFill>
            <a:prstDash val="solid"/>
          </a:ln>
        </p:spPr>
        <p:txBody>
          <a:bodyPr/>
          <a:lstStyle/>
          <a:p>
            <a:endParaRPr lang="de-DE"/>
          </a:p>
        </p:txBody>
      </p:sp>
      <p:sp>
        <p:nvSpPr>
          <p:cNvPr id="11" name="Shape 9"/>
          <p:cNvSpPr/>
          <p:nvPr/>
        </p:nvSpPr>
        <p:spPr>
          <a:xfrm>
            <a:off x="8229600" y="2798064"/>
            <a:ext cx="1824228" cy="1632204"/>
          </a:xfrm>
          <a:prstGeom prst="rect">
            <a:avLst/>
          </a:prstGeom>
          <a:solidFill>
            <a:srgbClr val="E8D6C3"/>
          </a:solidFill>
          <a:ln w="12700">
            <a:solidFill>
              <a:srgbClr val="E8D6C3"/>
            </a:solidFill>
            <a:prstDash val="solid"/>
          </a:ln>
        </p:spPr>
        <p:txBody>
          <a:bodyPr/>
          <a:lstStyle/>
          <a:p>
            <a:endParaRPr lang="de-DE"/>
          </a:p>
        </p:txBody>
      </p:sp>
      <p:sp>
        <p:nvSpPr>
          <p:cNvPr id="12" name="Shape 10"/>
          <p:cNvSpPr/>
          <p:nvPr/>
        </p:nvSpPr>
        <p:spPr>
          <a:xfrm>
            <a:off x="8383219" y="3009290"/>
            <a:ext cx="1516990" cy="240030"/>
          </a:xfrm>
          <a:prstGeom prst="rect">
            <a:avLst/>
          </a:prstGeom>
          <a:solidFill>
            <a:srgbClr val="A75B2A"/>
          </a:solidFill>
          <a:ln w="12700">
            <a:solidFill>
              <a:srgbClr val="A75B2A"/>
            </a:solidFill>
            <a:prstDash val="solid"/>
          </a:ln>
        </p:spPr>
        <p:txBody>
          <a:bodyPr/>
          <a:lstStyle/>
          <a:p>
            <a:endParaRPr lang="de-DE"/>
          </a:p>
        </p:txBody>
      </p:sp>
      <p:sp>
        <p:nvSpPr>
          <p:cNvPr id="13" name="Shape 11"/>
          <p:cNvSpPr/>
          <p:nvPr/>
        </p:nvSpPr>
        <p:spPr>
          <a:xfrm>
            <a:off x="8056778" y="4583887"/>
            <a:ext cx="2208276" cy="76810"/>
          </a:xfrm>
          <a:prstGeom prst="rect">
            <a:avLst/>
          </a:prstGeom>
          <a:solidFill>
            <a:srgbClr val="A75B2A"/>
          </a:solidFill>
          <a:ln w="12700">
            <a:solidFill>
              <a:srgbClr val="A75B2A"/>
            </a:solidFill>
            <a:prstDash val="solid"/>
          </a:ln>
        </p:spPr>
        <p:txBody>
          <a:bodyPr/>
          <a:lstStyle/>
          <a:p>
            <a:endParaRPr lang="de-DE"/>
          </a:p>
        </p:txBody>
      </p:sp>
      <p:sp>
        <p:nvSpPr>
          <p:cNvPr id="14" name="Shape 12"/>
          <p:cNvSpPr/>
          <p:nvPr/>
        </p:nvSpPr>
        <p:spPr>
          <a:xfrm rot="5400000">
            <a:off x="8421624" y="2049170"/>
            <a:ext cx="384048" cy="480060"/>
          </a:xfrm>
          <a:prstGeom prst="arc">
            <a:avLst/>
          </a:prstGeom>
          <a:noFill/>
          <a:ln w="25400">
            <a:solidFill>
              <a:srgbClr val="E8D6C3"/>
            </a:solidFill>
            <a:prstDash val="solid"/>
          </a:ln>
        </p:spPr>
        <p:txBody>
          <a:bodyPr/>
          <a:lstStyle/>
          <a:p>
            <a:endParaRPr lang="de-DE"/>
          </a:p>
        </p:txBody>
      </p:sp>
      <p:sp>
        <p:nvSpPr>
          <p:cNvPr id="15" name="Shape 13"/>
          <p:cNvSpPr/>
          <p:nvPr/>
        </p:nvSpPr>
        <p:spPr>
          <a:xfrm rot="5400000">
            <a:off x="8949690" y="2049170"/>
            <a:ext cx="384048" cy="480060"/>
          </a:xfrm>
          <a:prstGeom prst="arc">
            <a:avLst/>
          </a:prstGeom>
          <a:noFill/>
          <a:ln w="25400">
            <a:solidFill>
              <a:srgbClr val="E8D6C3"/>
            </a:solidFill>
            <a:prstDash val="solid"/>
          </a:ln>
        </p:spPr>
        <p:txBody>
          <a:bodyPr/>
          <a:lstStyle/>
          <a:p>
            <a:endParaRPr lang="de-DE"/>
          </a:p>
        </p:txBody>
      </p:sp>
      <p:sp>
        <p:nvSpPr>
          <p:cNvPr id="16" name="Shape 14"/>
          <p:cNvSpPr/>
          <p:nvPr/>
        </p:nvSpPr>
        <p:spPr>
          <a:xfrm rot="5400000">
            <a:off x="9477756" y="2049170"/>
            <a:ext cx="384048" cy="480060"/>
          </a:xfrm>
          <a:prstGeom prst="arc">
            <a:avLst/>
          </a:prstGeom>
          <a:noFill/>
          <a:ln w="25400">
            <a:solidFill>
              <a:srgbClr val="E8D6C3"/>
            </a:solidFill>
            <a:prstDash val="solid"/>
          </a:ln>
        </p:spPr>
        <p:txBody>
          <a:bodyPr/>
          <a:lstStyle/>
          <a:p>
            <a:endParaRPr lang="de-D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0E7"/>
        </a:solidFill>
        <a:effectLst/>
      </p:bgPr>
    </p:bg>
    <p:spTree>
      <p:nvGrpSpPr>
        <p:cNvPr id="1" name=""/>
        <p:cNvGrpSpPr/>
        <p:nvPr/>
      </p:nvGrpSpPr>
      <p:grpSpPr>
        <a:xfrm>
          <a:off x="0" y="0"/>
          <a:ext cx="0" cy="0"/>
          <a:chOff x="0" y="0"/>
          <a:chExt cx="0" cy="0"/>
        </a:xfrm>
      </p:grpSpPr>
      <p:sp>
        <p:nvSpPr>
          <p:cNvPr id="2" name="Text 0"/>
          <p:cNvSpPr/>
          <p:nvPr/>
        </p:nvSpPr>
        <p:spPr>
          <a:xfrm>
            <a:off x="594360" y="228600"/>
            <a:ext cx="10058400" cy="256032"/>
          </a:xfrm>
          <a:prstGeom prst="rect">
            <a:avLst/>
          </a:prstGeom>
          <a:noFill/>
          <a:ln/>
        </p:spPr>
        <p:txBody>
          <a:bodyPr wrap="square" lIns="0" tIns="0" rIns="0" bIns="0" rtlCol="0" anchor="t"/>
          <a:lstStyle/>
          <a:p>
            <a:pPr marL="0" indent="0">
              <a:buNone/>
            </a:pPr>
            <a:r>
              <a:rPr lang="en-US" sz="1100" b="1" kern="0" spc="180" dirty="0">
                <a:solidFill>
                  <a:srgbClr val="76665B"/>
                </a:solidFill>
                <a:latin typeface="Calibri" pitchFamily="34" charset="0"/>
                <a:ea typeface="Calibri" pitchFamily="34" charset="-122"/>
                <a:cs typeface="Calibri" pitchFamily="34" charset="-120"/>
              </a:rPr>
              <a:t>01 / Das Problem</a:t>
            </a:r>
            <a:endParaRPr lang="en-US" sz="1100" dirty="0"/>
          </a:p>
        </p:txBody>
      </p:sp>
      <p:sp>
        <p:nvSpPr>
          <p:cNvPr id="3" name="Text 1"/>
          <p:cNvSpPr/>
          <p:nvPr/>
        </p:nvSpPr>
        <p:spPr>
          <a:xfrm>
            <a:off x="594360" y="585216"/>
            <a:ext cx="10972800" cy="941832"/>
          </a:xfrm>
          <a:prstGeom prst="rect">
            <a:avLst/>
          </a:prstGeom>
          <a:noFill/>
          <a:ln/>
        </p:spPr>
        <p:txBody>
          <a:bodyPr wrap="square" lIns="0" tIns="0" rIns="0" bIns="0" rtlCol="0" anchor="t"/>
          <a:lstStyle/>
          <a:p>
            <a:pPr marL="0" indent="0">
              <a:buNone/>
            </a:pPr>
            <a:r>
              <a:rPr lang="en-US" sz="3600" b="1" dirty="0">
                <a:solidFill>
                  <a:srgbClr val="30241F"/>
                </a:solidFill>
                <a:latin typeface="Georgia" pitchFamily="34" charset="0"/>
                <a:ea typeface="Georgia" pitchFamily="34" charset="-122"/>
                <a:cs typeface="Georgia" pitchFamily="34" charset="-120"/>
              </a:rPr>
              <a:t>Für jede Bestellung eine eigene Klasse?</a:t>
            </a:r>
            <a:endParaRPr lang="en-US" sz="3600" dirty="0"/>
          </a:p>
        </p:txBody>
      </p:sp>
      <p:sp>
        <p:nvSpPr>
          <p:cNvPr id="4" name="Text 2"/>
          <p:cNvSpPr/>
          <p:nvPr/>
        </p:nvSpPr>
        <p:spPr>
          <a:xfrm>
            <a:off x="594360" y="6510528"/>
            <a:ext cx="9144000" cy="201168"/>
          </a:xfrm>
          <a:prstGeom prst="rect">
            <a:avLst/>
          </a:prstGeom>
          <a:noFill/>
          <a:ln/>
        </p:spPr>
        <p:txBody>
          <a:bodyPr wrap="square" lIns="0" tIns="0" rIns="0" bIns="0" rtlCol="0" anchor="t"/>
          <a:lstStyle/>
          <a:p>
            <a:pPr marL="0" indent="0">
              <a:buNone/>
            </a:pPr>
            <a:r>
              <a:rPr lang="en-US" sz="1000" dirty="0">
                <a:solidFill>
                  <a:srgbClr val="76665B"/>
                </a:solidFill>
                <a:latin typeface="Calibri" pitchFamily="34" charset="0"/>
                <a:ea typeface="Calibri" pitchFamily="34" charset="-122"/>
                <a:cs typeface="Calibri" pitchFamily="34" charset="-120"/>
              </a:rPr>
              <a:t>Kaffee mit Zusätzen · Java-Demo + Python-Übung</a:t>
            </a:r>
            <a:endParaRPr lang="en-US" sz="1000" dirty="0"/>
          </a:p>
        </p:txBody>
      </p:sp>
      <p:sp>
        <p:nvSpPr>
          <p:cNvPr id="5" name="Text 3"/>
          <p:cNvSpPr/>
          <p:nvPr/>
        </p:nvSpPr>
        <p:spPr>
          <a:xfrm>
            <a:off x="11082528" y="6455664"/>
            <a:ext cx="502920" cy="274320"/>
          </a:xfrm>
          <a:prstGeom prst="rect">
            <a:avLst/>
          </a:prstGeom>
          <a:noFill/>
          <a:ln/>
        </p:spPr>
        <p:txBody>
          <a:bodyPr wrap="square" lIns="0" tIns="0" rIns="0" bIns="0" rtlCol="0" anchor="t"/>
          <a:lstStyle/>
          <a:p>
            <a:pPr marL="0" indent="0" algn="r">
              <a:buNone/>
            </a:pPr>
            <a:r>
              <a:rPr lang="en-US" sz="1200" dirty="0">
                <a:solidFill>
                  <a:srgbClr val="76665B"/>
                </a:solidFill>
                <a:latin typeface="Calibri" pitchFamily="34" charset="0"/>
                <a:ea typeface="Calibri" pitchFamily="34" charset="-122"/>
                <a:cs typeface="Calibri" pitchFamily="34" charset="-120"/>
              </a:rPr>
              <a:t>02</a:t>
            </a:r>
            <a:endParaRPr lang="en-US" sz="1200" dirty="0"/>
          </a:p>
        </p:txBody>
      </p:sp>
      <p:sp>
        <p:nvSpPr>
          <p:cNvPr id="6" name="Shape 4"/>
          <p:cNvSpPr/>
          <p:nvPr/>
        </p:nvSpPr>
        <p:spPr>
          <a:xfrm>
            <a:off x="594360" y="1801368"/>
            <a:ext cx="2926080" cy="2029968"/>
          </a:xfrm>
          <a:prstGeom prst="rect">
            <a:avLst/>
          </a:prstGeom>
          <a:solidFill>
            <a:srgbClr val="FFFCF7"/>
          </a:solidFill>
          <a:ln w="12700">
            <a:solidFill>
              <a:srgbClr val="FFFCF7"/>
            </a:solidFill>
            <a:prstDash val="solid"/>
          </a:ln>
        </p:spPr>
        <p:txBody>
          <a:bodyPr/>
          <a:lstStyle/>
          <a:p>
            <a:endParaRPr lang="de-DE"/>
          </a:p>
        </p:txBody>
      </p:sp>
      <p:sp>
        <p:nvSpPr>
          <p:cNvPr id="7" name="Text 5"/>
          <p:cNvSpPr/>
          <p:nvPr/>
        </p:nvSpPr>
        <p:spPr>
          <a:xfrm>
            <a:off x="822960" y="2020824"/>
            <a:ext cx="2468880" cy="548640"/>
          </a:xfrm>
          <a:prstGeom prst="rect">
            <a:avLst/>
          </a:prstGeom>
          <a:noFill/>
          <a:ln/>
        </p:spPr>
        <p:txBody>
          <a:bodyPr wrap="square" lIns="0" tIns="0" rIns="0" bIns="0" rtlCol="0" anchor="t"/>
          <a:lstStyle/>
          <a:p>
            <a:pPr marL="0" indent="0">
              <a:buNone/>
            </a:pPr>
            <a:r>
              <a:rPr lang="en-US" sz="2300" b="1" dirty="0">
                <a:solidFill>
                  <a:srgbClr val="30241F"/>
                </a:solidFill>
                <a:latin typeface="Calibri" pitchFamily="34" charset="0"/>
                <a:ea typeface="Calibri" pitchFamily="34" charset="-122"/>
                <a:cs typeface="Calibri" pitchFamily="34" charset="-120"/>
              </a:rPr>
              <a:t>Basisgetränke</a:t>
            </a:r>
            <a:endParaRPr lang="en-US" sz="2300" dirty="0"/>
          </a:p>
        </p:txBody>
      </p:sp>
      <p:sp>
        <p:nvSpPr>
          <p:cNvPr id="8" name="Text 6"/>
          <p:cNvSpPr/>
          <p:nvPr/>
        </p:nvSpPr>
        <p:spPr>
          <a:xfrm>
            <a:off x="822960" y="2715768"/>
            <a:ext cx="2468880" cy="978408"/>
          </a:xfrm>
          <a:prstGeom prst="rect">
            <a:avLst/>
          </a:prstGeom>
          <a:noFill/>
          <a:ln/>
        </p:spPr>
        <p:txBody>
          <a:bodyPr wrap="square" lIns="0" tIns="0" rIns="0" bIns="0" rtlCol="0" anchor="t"/>
          <a:lstStyle/>
          <a:p>
            <a:pPr marL="0" indent="0">
              <a:buNone/>
            </a:pPr>
            <a:r>
              <a:rPr lang="en-US" sz="1900" dirty="0">
                <a:solidFill>
                  <a:srgbClr val="30241F"/>
                </a:solidFill>
                <a:latin typeface="Calibri" pitchFamily="34" charset="0"/>
                <a:ea typeface="Calibri" pitchFamily="34" charset="-122"/>
                <a:cs typeface="Calibri" pitchFamily="34" charset="-120"/>
              </a:rPr>
              <a:t>Espresso</a:t>
            </a:r>
            <a:endParaRPr lang="en-US" sz="1900" dirty="0"/>
          </a:p>
          <a:p>
            <a:pPr marL="0" indent="0">
              <a:buNone/>
            </a:pPr>
            <a:r>
              <a:rPr lang="en-US" sz="1900" dirty="0">
                <a:solidFill>
                  <a:srgbClr val="30241F"/>
                </a:solidFill>
                <a:latin typeface="Calibri" pitchFamily="34" charset="0"/>
                <a:ea typeface="Calibri" pitchFamily="34" charset="-122"/>
                <a:cs typeface="Calibri" pitchFamily="34" charset="-120"/>
              </a:rPr>
              <a:t>Filterkaffee</a:t>
            </a:r>
            <a:endParaRPr lang="en-US" sz="1900" dirty="0"/>
          </a:p>
        </p:txBody>
      </p:sp>
      <p:sp>
        <p:nvSpPr>
          <p:cNvPr id="9" name="Shape 7"/>
          <p:cNvSpPr/>
          <p:nvPr/>
        </p:nvSpPr>
        <p:spPr>
          <a:xfrm>
            <a:off x="3794760" y="1801368"/>
            <a:ext cx="2926080" cy="2029968"/>
          </a:xfrm>
          <a:prstGeom prst="rect">
            <a:avLst/>
          </a:prstGeom>
          <a:solidFill>
            <a:srgbClr val="FFFCF7"/>
          </a:solidFill>
          <a:ln w="12700">
            <a:solidFill>
              <a:srgbClr val="FFFCF7"/>
            </a:solidFill>
            <a:prstDash val="solid"/>
          </a:ln>
        </p:spPr>
        <p:txBody>
          <a:bodyPr/>
          <a:lstStyle/>
          <a:p>
            <a:endParaRPr lang="de-DE"/>
          </a:p>
        </p:txBody>
      </p:sp>
      <p:sp>
        <p:nvSpPr>
          <p:cNvPr id="10" name="Text 8"/>
          <p:cNvSpPr/>
          <p:nvPr/>
        </p:nvSpPr>
        <p:spPr>
          <a:xfrm>
            <a:off x="4023360" y="2020824"/>
            <a:ext cx="2468880" cy="548640"/>
          </a:xfrm>
          <a:prstGeom prst="rect">
            <a:avLst/>
          </a:prstGeom>
          <a:noFill/>
          <a:ln/>
        </p:spPr>
        <p:txBody>
          <a:bodyPr wrap="square" lIns="0" tIns="0" rIns="0" bIns="0" rtlCol="0" anchor="t"/>
          <a:lstStyle/>
          <a:p>
            <a:pPr marL="0" indent="0">
              <a:buNone/>
            </a:pPr>
            <a:r>
              <a:rPr lang="en-US" sz="2300" b="1" dirty="0">
                <a:solidFill>
                  <a:srgbClr val="30241F"/>
                </a:solidFill>
                <a:latin typeface="Calibri" pitchFamily="34" charset="0"/>
                <a:ea typeface="Calibri" pitchFamily="34" charset="-122"/>
                <a:cs typeface="Calibri" pitchFamily="34" charset="-120"/>
              </a:rPr>
              <a:t>Optionale Zusätze</a:t>
            </a:r>
            <a:endParaRPr lang="en-US" sz="2300" dirty="0"/>
          </a:p>
        </p:txBody>
      </p:sp>
      <p:sp>
        <p:nvSpPr>
          <p:cNvPr id="11" name="Text 9"/>
          <p:cNvSpPr/>
          <p:nvPr/>
        </p:nvSpPr>
        <p:spPr>
          <a:xfrm>
            <a:off x="4023360" y="2715768"/>
            <a:ext cx="2468880" cy="978408"/>
          </a:xfrm>
          <a:prstGeom prst="rect">
            <a:avLst/>
          </a:prstGeom>
          <a:noFill/>
          <a:ln/>
        </p:spPr>
        <p:txBody>
          <a:bodyPr wrap="square" lIns="0" tIns="0" rIns="0" bIns="0" rtlCol="0" anchor="t"/>
          <a:lstStyle/>
          <a:p>
            <a:pPr marL="0" indent="0">
              <a:buNone/>
            </a:pPr>
            <a:r>
              <a:rPr lang="en-US" sz="1900" dirty="0">
                <a:solidFill>
                  <a:srgbClr val="30241F"/>
                </a:solidFill>
                <a:latin typeface="Calibri" pitchFamily="34" charset="0"/>
                <a:ea typeface="Calibri" pitchFamily="34" charset="-122"/>
                <a:cs typeface="Calibri" pitchFamily="34" charset="-120"/>
              </a:rPr>
              <a:t>Milch</a:t>
            </a:r>
            <a:endParaRPr lang="en-US" sz="1900" dirty="0"/>
          </a:p>
          <a:p>
            <a:pPr marL="0" indent="0">
              <a:buNone/>
            </a:pPr>
            <a:r>
              <a:rPr lang="en-US" sz="1900" dirty="0">
                <a:solidFill>
                  <a:srgbClr val="30241F"/>
                </a:solidFill>
                <a:latin typeface="Calibri" pitchFamily="34" charset="0"/>
                <a:ea typeface="Calibri" pitchFamily="34" charset="-122"/>
                <a:cs typeface="Calibri" pitchFamily="34" charset="-120"/>
              </a:rPr>
              <a:t>Sirup</a:t>
            </a:r>
            <a:endParaRPr lang="en-US" sz="1900" dirty="0"/>
          </a:p>
          <a:p>
            <a:pPr marL="0" indent="0">
              <a:buNone/>
            </a:pPr>
            <a:r>
              <a:rPr lang="en-US" sz="1900" dirty="0">
                <a:solidFill>
                  <a:srgbClr val="30241F"/>
                </a:solidFill>
                <a:latin typeface="Calibri" pitchFamily="34" charset="0"/>
                <a:ea typeface="Calibri" pitchFamily="34" charset="-122"/>
                <a:cs typeface="Calibri" pitchFamily="34" charset="-120"/>
              </a:rPr>
              <a:t>Sahne</a:t>
            </a:r>
            <a:endParaRPr lang="en-US" sz="1900" dirty="0"/>
          </a:p>
        </p:txBody>
      </p:sp>
      <p:sp>
        <p:nvSpPr>
          <p:cNvPr id="12" name="Shape 10"/>
          <p:cNvSpPr/>
          <p:nvPr/>
        </p:nvSpPr>
        <p:spPr>
          <a:xfrm>
            <a:off x="7086600" y="1801368"/>
            <a:ext cx="4507992" cy="2029968"/>
          </a:xfrm>
          <a:prstGeom prst="rect">
            <a:avLst/>
          </a:prstGeom>
          <a:solidFill>
            <a:srgbClr val="45634D"/>
          </a:solidFill>
          <a:ln w="12700">
            <a:solidFill>
              <a:srgbClr val="45634D"/>
            </a:solidFill>
            <a:prstDash val="solid"/>
          </a:ln>
        </p:spPr>
        <p:txBody>
          <a:bodyPr/>
          <a:lstStyle/>
          <a:p>
            <a:endParaRPr lang="de-DE"/>
          </a:p>
        </p:txBody>
      </p:sp>
      <p:sp>
        <p:nvSpPr>
          <p:cNvPr id="13" name="Text 11"/>
          <p:cNvSpPr/>
          <p:nvPr/>
        </p:nvSpPr>
        <p:spPr>
          <a:xfrm>
            <a:off x="7379208" y="2011680"/>
            <a:ext cx="3657600" cy="896112"/>
          </a:xfrm>
          <a:prstGeom prst="rect">
            <a:avLst/>
          </a:prstGeom>
          <a:noFill/>
          <a:ln/>
        </p:spPr>
        <p:txBody>
          <a:bodyPr wrap="square" lIns="0" tIns="0" rIns="0" bIns="0" rtlCol="0" anchor="t"/>
          <a:lstStyle/>
          <a:p>
            <a:pPr marL="0" indent="0">
              <a:buNone/>
            </a:pPr>
            <a:r>
              <a:rPr lang="en-US" sz="6400" b="1" dirty="0">
                <a:solidFill>
                  <a:srgbClr val="FFFFFF"/>
                </a:solidFill>
                <a:latin typeface="Calibri" pitchFamily="34" charset="0"/>
                <a:ea typeface="Calibri" pitchFamily="34" charset="-122"/>
                <a:cs typeface="Calibri" pitchFamily="34" charset="-120"/>
              </a:rPr>
              <a:t>16</a:t>
            </a:r>
            <a:endParaRPr lang="en-US" sz="6400" dirty="0"/>
          </a:p>
        </p:txBody>
      </p:sp>
      <p:sp>
        <p:nvSpPr>
          <p:cNvPr id="14" name="Text 12"/>
          <p:cNvSpPr/>
          <p:nvPr/>
        </p:nvSpPr>
        <p:spPr>
          <a:xfrm>
            <a:off x="7424928" y="3072384"/>
            <a:ext cx="3749040" cy="384048"/>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mögliche Varianten</a:t>
            </a:r>
            <a:endParaRPr lang="en-US" sz="2100" dirty="0"/>
          </a:p>
        </p:txBody>
      </p:sp>
      <p:sp>
        <p:nvSpPr>
          <p:cNvPr id="15" name="Text 13"/>
          <p:cNvSpPr/>
          <p:nvPr/>
        </p:nvSpPr>
        <p:spPr>
          <a:xfrm>
            <a:off x="685800" y="4251960"/>
            <a:ext cx="10789920" cy="548640"/>
          </a:xfrm>
          <a:prstGeom prst="rect">
            <a:avLst/>
          </a:prstGeom>
          <a:noFill/>
          <a:ln/>
        </p:spPr>
        <p:txBody>
          <a:bodyPr wrap="square" lIns="0" tIns="0" rIns="0" bIns="0" rtlCol="0" anchor="t"/>
          <a:lstStyle/>
          <a:p>
            <a:pPr marL="0" indent="0">
              <a:buNone/>
            </a:pPr>
            <a:r>
              <a:rPr lang="en-US" sz="2500" b="1" dirty="0">
                <a:solidFill>
                  <a:srgbClr val="30241F"/>
                </a:solidFill>
                <a:latin typeface="Calibri" pitchFamily="34" charset="0"/>
                <a:ea typeface="Calibri" pitchFamily="34" charset="-122"/>
                <a:cs typeface="Calibri" pitchFamily="34" charset="-120"/>
              </a:rPr>
              <a:t>2 Basisgetränke × 8 Zusatzkombinationen</a:t>
            </a:r>
            <a:endParaRPr lang="en-US" sz="2500" dirty="0"/>
          </a:p>
        </p:txBody>
      </p:sp>
      <p:sp>
        <p:nvSpPr>
          <p:cNvPr id="16" name="Text 14"/>
          <p:cNvSpPr/>
          <p:nvPr/>
        </p:nvSpPr>
        <p:spPr>
          <a:xfrm>
            <a:off x="685800" y="4974336"/>
            <a:ext cx="10698480" cy="868680"/>
          </a:xfrm>
          <a:prstGeom prst="rect">
            <a:avLst/>
          </a:prstGeom>
          <a:noFill/>
          <a:ln/>
        </p:spPr>
        <p:txBody>
          <a:bodyPr wrap="square" lIns="0" tIns="0" rIns="0" bIns="0" rtlCol="0" anchor="t"/>
          <a:lstStyle/>
          <a:p>
            <a:pPr marL="0" indent="0">
              <a:buNone/>
            </a:pPr>
            <a:r>
              <a:rPr lang="en-US" sz="2000" dirty="0">
                <a:solidFill>
                  <a:srgbClr val="76665B"/>
                </a:solidFill>
                <a:latin typeface="Calibri" pitchFamily="34" charset="0"/>
                <a:ea typeface="Calibri" pitchFamily="34" charset="-122"/>
                <a:cs typeface="Calibri" pitchFamily="34" charset="-120"/>
              </a:rPr>
              <a:t>Annahme: Jeder der drei Zusätze wird höchstens einmal gewählt.</a:t>
            </a:r>
            <a:endParaRPr lang="en-US" sz="2000" dirty="0"/>
          </a:p>
          <a:p>
            <a:pPr marL="0" indent="0">
              <a:buNone/>
            </a:pPr>
            <a:r>
              <a:rPr lang="en-US" sz="2000" dirty="0">
                <a:solidFill>
                  <a:srgbClr val="76665B"/>
                </a:solidFill>
                <a:latin typeface="Calibri" pitchFamily="34" charset="0"/>
                <a:ea typeface="Calibri" pitchFamily="34" charset="-122"/>
                <a:cs typeface="Calibri" pitchFamily="34" charset="-120"/>
              </a:rPr>
              <a:t>Eine Klasse je Variante würde den Code schnell aufblähen.</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0E7"/>
        </a:solidFill>
        <a:effectLst/>
      </p:bgPr>
    </p:bg>
    <p:spTree>
      <p:nvGrpSpPr>
        <p:cNvPr id="1" name=""/>
        <p:cNvGrpSpPr/>
        <p:nvPr/>
      </p:nvGrpSpPr>
      <p:grpSpPr>
        <a:xfrm>
          <a:off x="0" y="0"/>
          <a:ext cx="0" cy="0"/>
          <a:chOff x="0" y="0"/>
          <a:chExt cx="0" cy="0"/>
        </a:xfrm>
      </p:grpSpPr>
      <p:sp>
        <p:nvSpPr>
          <p:cNvPr id="2" name="Text 0"/>
          <p:cNvSpPr/>
          <p:nvPr/>
        </p:nvSpPr>
        <p:spPr>
          <a:xfrm>
            <a:off x="594360" y="228600"/>
            <a:ext cx="10058400" cy="256032"/>
          </a:xfrm>
          <a:prstGeom prst="rect">
            <a:avLst/>
          </a:prstGeom>
          <a:noFill/>
          <a:ln/>
        </p:spPr>
        <p:txBody>
          <a:bodyPr wrap="square" lIns="0" tIns="0" rIns="0" bIns="0" rtlCol="0" anchor="t"/>
          <a:lstStyle/>
          <a:p>
            <a:pPr marL="0" indent="0">
              <a:buNone/>
            </a:pPr>
            <a:r>
              <a:rPr lang="en-US" sz="1100" b="1" kern="0" spc="180" dirty="0">
                <a:solidFill>
                  <a:srgbClr val="76665B"/>
                </a:solidFill>
                <a:latin typeface="Calibri" pitchFamily="34" charset="0"/>
                <a:ea typeface="Calibri" pitchFamily="34" charset="-122"/>
                <a:cs typeface="Calibri" pitchFamily="34" charset="-120"/>
              </a:rPr>
              <a:t>02 / Die Grundidee</a:t>
            </a:r>
            <a:endParaRPr lang="en-US" sz="1100" dirty="0"/>
          </a:p>
        </p:txBody>
      </p:sp>
      <p:sp>
        <p:nvSpPr>
          <p:cNvPr id="3" name="Text 1"/>
          <p:cNvSpPr/>
          <p:nvPr/>
        </p:nvSpPr>
        <p:spPr>
          <a:xfrm>
            <a:off x="594360" y="585216"/>
            <a:ext cx="10972800" cy="941832"/>
          </a:xfrm>
          <a:prstGeom prst="rect">
            <a:avLst/>
          </a:prstGeom>
          <a:noFill/>
          <a:ln/>
        </p:spPr>
        <p:txBody>
          <a:bodyPr wrap="square" lIns="0" tIns="0" rIns="0" bIns="0" rtlCol="0" anchor="t"/>
          <a:lstStyle/>
          <a:p>
            <a:pPr marL="0" indent="0">
              <a:buNone/>
            </a:pPr>
            <a:r>
              <a:rPr lang="en-US" sz="3600" b="1" dirty="0">
                <a:solidFill>
                  <a:srgbClr val="30241F"/>
                </a:solidFill>
                <a:latin typeface="Georgia" pitchFamily="34" charset="0"/>
                <a:ea typeface="Georgia" pitchFamily="34" charset="-122"/>
                <a:cs typeface="Georgia" pitchFamily="34" charset="-120"/>
              </a:rPr>
              <a:t>Eine Bestellung besteht aus Hüllen</a:t>
            </a:r>
            <a:endParaRPr lang="en-US" sz="3600" dirty="0"/>
          </a:p>
        </p:txBody>
      </p:sp>
      <p:sp>
        <p:nvSpPr>
          <p:cNvPr id="4" name="Text 2"/>
          <p:cNvSpPr/>
          <p:nvPr/>
        </p:nvSpPr>
        <p:spPr>
          <a:xfrm>
            <a:off x="594360" y="6510528"/>
            <a:ext cx="9144000" cy="201168"/>
          </a:xfrm>
          <a:prstGeom prst="rect">
            <a:avLst/>
          </a:prstGeom>
          <a:noFill/>
          <a:ln/>
        </p:spPr>
        <p:txBody>
          <a:bodyPr wrap="square" lIns="0" tIns="0" rIns="0" bIns="0" rtlCol="0" anchor="t"/>
          <a:lstStyle/>
          <a:p>
            <a:pPr marL="0" indent="0">
              <a:buNone/>
            </a:pPr>
            <a:r>
              <a:rPr lang="en-US" sz="1000" dirty="0">
                <a:solidFill>
                  <a:srgbClr val="76665B"/>
                </a:solidFill>
                <a:latin typeface="Calibri" pitchFamily="34" charset="0"/>
                <a:ea typeface="Calibri" pitchFamily="34" charset="-122"/>
                <a:cs typeface="Calibri" pitchFamily="34" charset="-120"/>
              </a:rPr>
              <a:t>Kaffee mit Zusätzen · Java-Demo + Python-Übung</a:t>
            </a:r>
            <a:endParaRPr lang="en-US" sz="1000" dirty="0"/>
          </a:p>
        </p:txBody>
      </p:sp>
      <p:sp>
        <p:nvSpPr>
          <p:cNvPr id="5" name="Text 3"/>
          <p:cNvSpPr/>
          <p:nvPr/>
        </p:nvSpPr>
        <p:spPr>
          <a:xfrm>
            <a:off x="11082528" y="6455664"/>
            <a:ext cx="502920" cy="274320"/>
          </a:xfrm>
          <a:prstGeom prst="rect">
            <a:avLst/>
          </a:prstGeom>
          <a:noFill/>
          <a:ln/>
        </p:spPr>
        <p:txBody>
          <a:bodyPr wrap="square" lIns="0" tIns="0" rIns="0" bIns="0" rtlCol="0" anchor="t"/>
          <a:lstStyle/>
          <a:p>
            <a:pPr marL="0" indent="0" algn="r">
              <a:buNone/>
            </a:pPr>
            <a:r>
              <a:rPr lang="en-US" sz="1200" dirty="0">
                <a:solidFill>
                  <a:srgbClr val="76665B"/>
                </a:solidFill>
                <a:latin typeface="Calibri" pitchFamily="34" charset="0"/>
                <a:ea typeface="Calibri" pitchFamily="34" charset="-122"/>
                <a:cs typeface="Calibri" pitchFamily="34" charset="-120"/>
              </a:rPr>
              <a:t>03</a:t>
            </a:r>
            <a:endParaRPr lang="en-US" sz="1200" dirty="0"/>
          </a:p>
        </p:txBody>
      </p:sp>
      <p:sp>
        <p:nvSpPr>
          <p:cNvPr id="6" name="Shape 4"/>
          <p:cNvSpPr/>
          <p:nvPr/>
        </p:nvSpPr>
        <p:spPr>
          <a:xfrm>
            <a:off x="640080" y="1737360"/>
            <a:ext cx="6903720" cy="4251960"/>
          </a:xfrm>
          <a:prstGeom prst="rect">
            <a:avLst/>
          </a:prstGeom>
          <a:solidFill>
            <a:srgbClr val="E8D6C3"/>
          </a:solidFill>
          <a:ln w="12700">
            <a:solidFill>
              <a:srgbClr val="E8D6C3"/>
            </a:solidFill>
            <a:prstDash val="solid"/>
          </a:ln>
        </p:spPr>
        <p:txBody>
          <a:bodyPr/>
          <a:lstStyle/>
          <a:p>
            <a:endParaRPr lang="de-DE"/>
          </a:p>
        </p:txBody>
      </p:sp>
      <p:sp>
        <p:nvSpPr>
          <p:cNvPr id="7" name="Text 5"/>
          <p:cNvSpPr/>
          <p:nvPr/>
        </p:nvSpPr>
        <p:spPr>
          <a:xfrm>
            <a:off x="914400" y="1993392"/>
            <a:ext cx="5486400" cy="256032"/>
          </a:xfrm>
          <a:prstGeom prst="rect">
            <a:avLst/>
          </a:prstGeom>
          <a:noFill/>
          <a:ln/>
        </p:spPr>
        <p:txBody>
          <a:bodyPr wrap="square" lIns="0" tIns="0" rIns="0" bIns="0" rtlCol="0" anchor="t"/>
          <a:lstStyle/>
          <a:p>
            <a:pPr marL="0" indent="0">
              <a:buNone/>
            </a:pPr>
            <a:r>
              <a:rPr lang="en-US" sz="1100" b="1" kern="0" spc="180" dirty="0">
                <a:solidFill>
                  <a:srgbClr val="30241F"/>
                </a:solidFill>
                <a:latin typeface="Calibri" pitchFamily="34" charset="0"/>
                <a:ea typeface="Calibri" pitchFamily="34" charset="-122"/>
                <a:cs typeface="Calibri" pitchFamily="34" charset="-120"/>
              </a:rPr>
              <a:t>SIRUP-DEKORIERER</a:t>
            </a:r>
            <a:endParaRPr lang="en-US" sz="1100" dirty="0"/>
          </a:p>
        </p:txBody>
      </p:sp>
      <p:sp>
        <p:nvSpPr>
          <p:cNvPr id="8" name="Shape 6"/>
          <p:cNvSpPr/>
          <p:nvPr/>
        </p:nvSpPr>
        <p:spPr>
          <a:xfrm>
            <a:off x="1097280" y="2532888"/>
            <a:ext cx="5943600" cy="2944368"/>
          </a:xfrm>
          <a:prstGeom prst="rect">
            <a:avLst/>
          </a:prstGeom>
          <a:solidFill>
            <a:srgbClr val="FFFCF7"/>
          </a:solidFill>
          <a:ln w="12700">
            <a:solidFill>
              <a:srgbClr val="FFFCF7"/>
            </a:solidFill>
            <a:prstDash val="solid"/>
          </a:ln>
        </p:spPr>
        <p:txBody>
          <a:bodyPr/>
          <a:lstStyle/>
          <a:p>
            <a:endParaRPr lang="de-DE"/>
          </a:p>
        </p:txBody>
      </p:sp>
      <p:sp>
        <p:nvSpPr>
          <p:cNvPr id="9" name="Text 7"/>
          <p:cNvSpPr/>
          <p:nvPr/>
        </p:nvSpPr>
        <p:spPr>
          <a:xfrm>
            <a:off x="1371600" y="2798064"/>
            <a:ext cx="4572000" cy="256032"/>
          </a:xfrm>
          <a:prstGeom prst="rect">
            <a:avLst/>
          </a:prstGeom>
          <a:noFill/>
          <a:ln/>
        </p:spPr>
        <p:txBody>
          <a:bodyPr wrap="square" lIns="0" tIns="0" rIns="0" bIns="0" rtlCol="0" anchor="t"/>
          <a:lstStyle/>
          <a:p>
            <a:pPr marL="0" indent="0">
              <a:buNone/>
            </a:pPr>
            <a:r>
              <a:rPr lang="en-US" sz="1100" b="1" kern="0" spc="180" dirty="0">
                <a:solidFill>
                  <a:srgbClr val="30241F"/>
                </a:solidFill>
                <a:latin typeface="Calibri" pitchFamily="34" charset="0"/>
                <a:ea typeface="Calibri" pitchFamily="34" charset="-122"/>
                <a:cs typeface="Calibri" pitchFamily="34" charset="-120"/>
              </a:rPr>
              <a:t>MILCH-DEKORIERER</a:t>
            </a:r>
            <a:endParaRPr lang="en-US" sz="1100" dirty="0"/>
          </a:p>
        </p:txBody>
      </p:sp>
      <p:sp>
        <p:nvSpPr>
          <p:cNvPr id="10" name="Shape 8"/>
          <p:cNvSpPr/>
          <p:nvPr/>
        </p:nvSpPr>
        <p:spPr>
          <a:xfrm>
            <a:off x="1645920" y="3337560"/>
            <a:ext cx="4846320" cy="1609344"/>
          </a:xfrm>
          <a:prstGeom prst="rect">
            <a:avLst/>
          </a:prstGeom>
          <a:solidFill>
            <a:srgbClr val="45634D"/>
          </a:solidFill>
          <a:ln w="12700">
            <a:solidFill>
              <a:srgbClr val="45634D"/>
            </a:solidFill>
            <a:prstDash val="solid"/>
          </a:ln>
        </p:spPr>
        <p:txBody>
          <a:bodyPr/>
          <a:lstStyle/>
          <a:p>
            <a:endParaRPr lang="de-DE"/>
          </a:p>
        </p:txBody>
      </p:sp>
      <p:sp>
        <p:nvSpPr>
          <p:cNvPr id="11" name="Text 9"/>
          <p:cNvSpPr/>
          <p:nvPr/>
        </p:nvSpPr>
        <p:spPr>
          <a:xfrm>
            <a:off x="1920240" y="3776472"/>
            <a:ext cx="4297680" cy="548640"/>
          </a:xfrm>
          <a:prstGeom prst="rect">
            <a:avLst/>
          </a:prstGeom>
          <a:noFill/>
          <a:ln/>
        </p:spPr>
        <p:txBody>
          <a:bodyPr wrap="square" lIns="0" tIns="0" rIns="0" bIns="0" rtlCol="0" anchor="t"/>
          <a:lstStyle/>
          <a:p>
            <a:pPr marL="0" indent="0">
              <a:buNone/>
            </a:pPr>
            <a:r>
              <a:rPr lang="en-US" sz="3000" b="1" dirty="0">
                <a:solidFill>
                  <a:srgbClr val="FFFFFF"/>
                </a:solidFill>
                <a:latin typeface="Calibri" pitchFamily="34" charset="0"/>
                <a:ea typeface="Calibri" pitchFamily="34" charset="-122"/>
                <a:cs typeface="Calibri" pitchFamily="34" charset="-120"/>
              </a:rPr>
              <a:t>Espresso</a:t>
            </a:r>
            <a:endParaRPr lang="en-US" sz="3000" dirty="0"/>
          </a:p>
        </p:txBody>
      </p:sp>
      <p:sp>
        <p:nvSpPr>
          <p:cNvPr id="12" name="Text 10"/>
          <p:cNvSpPr/>
          <p:nvPr/>
        </p:nvSpPr>
        <p:spPr>
          <a:xfrm>
            <a:off x="8092440" y="2194560"/>
            <a:ext cx="3447288" cy="1097280"/>
          </a:xfrm>
          <a:prstGeom prst="rect">
            <a:avLst/>
          </a:prstGeom>
          <a:noFill/>
          <a:ln/>
        </p:spPr>
        <p:txBody>
          <a:bodyPr wrap="square" lIns="0" tIns="0" rIns="0" bIns="0" rtlCol="0" anchor="t"/>
          <a:lstStyle/>
          <a:p>
            <a:pPr marL="0" indent="0">
              <a:buNone/>
            </a:pPr>
            <a:r>
              <a:rPr lang="en-US" sz="2800" b="1" dirty="0">
                <a:solidFill>
                  <a:srgbClr val="30241F"/>
                </a:solidFill>
                <a:latin typeface="Calibri" pitchFamily="34" charset="0"/>
                <a:ea typeface="Calibri" pitchFamily="34" charset="-122"/>
                <a:cs typeface="Calibri" pitchFamily="34" charset="-120"/>
              </a:rPr>
              <a:t>Jede Hülle enthält</a:t>
            </a:r>
            <a:endParaRPr lang="en-US" sz="2800" dirty="0"/>
          </a:p>
          <a:p>
            <a:pPr marL="0" indent="0">
              <a:buNone/>
            </a:pPr>
            <a:r>
              <a:rPr lang="en-US" sz="2800" b="1" dirty="0">
                <a:solidFill>
                  <a:srgbClr val="30241F"/>
                </a:solidFill>
                <a:latin typeface="Calibri" pitchFamily="34" charset="0"/>
                <a:ea typeface="Calibri" pitchFamily="34" charset="-122"/>
                <a:cs typeface="Calibri" pitchFamily="34" charset="-120"/>
              </a:rPr>
              <a:t>ein Getraenk.</a:t>
            </a:r>
            <a:endParaRPr lang="en-US" sz="2800" dirty="0"/>
          </a:p>
        </p:txBody>
      </p:sp>
      <p:sp>
        <p:nvSpPr>
          <p:cNvPr id="13" name="Text 11"/>
          <p:cNvSpPr/>
          <p:nvPr/>
        </p:nvSpPr>
        <p:spPr>
          <a:xfrm>
            <a:off x="8092440" y="3785616"/>
            <a:ext cx="3474720" cy="1371600"/>
          </a:xfrm>
          <a:prstGeom prst="rect">
            <a:avLst/>
          </a:prstGeom>
          <a:noFill/>
          <a:ln/>
        </p:spPr>
        <p:txBody>
          <a:bodyPr wrap="square" lIns="0" tIns="0" rIns="0" bIns="0" rtlCol="0" anchor="t"/>
          <a:lstStyle/>
          <a:p>
            <a:pPr marL="0" indent="0">
              <a:buNone/>
            </a:pPr>
            <a:r>
              <a:rPr lang="en-US" sz="2000" dirty="0">
                <a:solidFill>
                  <a:srgbClr val="30241F"/>
                </a:solidFill>
                <a:latin typeface="Calibri" pitchFamily="34" charset="0"/>
                <a:ea typeface="Calibri" pitchFamily="34" charset="-122"/>
                <a:cs typeface="Calibri" pitchFamily="34" charset="-120"/>
              </a:rPr>
              <a:t>Gleiche Schnittstelle</a:t>
            </a:r>
            <a:endParaRPr lang="en-US" sz="2000" dirty="0"/>
          </a:p>
          <a:p>
            <a:pPr marL="0" indent="0">
              <a:buNone/>
            </a:pPr>
            <a:r>
              <a:rPr lang="en-US" sz="2000" dirty="0">
                <a:solidFill>
                  <a:srgbClr val="30241F"/>
                </a:solidFill>
                <a:latin typeface="Calibri" pitchFamily="34" charset="0"/>
                <a:ea typeface="Calibri" pitchFamily="34" charset="-122"/>
                <a:cs typeface="Calibri" pitchFamily="34" charset="-120"/>
              </a:rPr>
              <a:t>+ eigenes Zusatzverhalten</a:t>
            </a:r>
            <a:endParaRPr lang="en-US" sz="2000" dirty="0"/>
          </a:p>
          <a:p>
            <a:pPr marL="0" indent="0">
              <a:buNone/>
            </a:pPr>
            <a:r>
              <a:rPr lang="en-US" sz="2000" dirty="0">
                <a:solidFill>
                  <a:srgbClr val="30241F"/>
                </a:solidFill>
                <a:latin typeface="Calibri" pitchFamily="34" charset="0"/>
                <a:ea typeface="Calibri" pitchFamily="34" charset="-122"/>
                <a:cs typeface="Calibri" pitchFamily="34" charset="-120"/>
              </a:rPr>
              <a:t>+ Weiterleitung nach innen</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0E7"/>
        </a:solidFill>
        <a:effectLst/>
      </p:bgPr>
    </p:bg>
    <p:spTree>
      <p:nvGrpSpPr>
        <p:cNvPr id="1" name=""/>
        <p:cNvGrpSpPr/>
        <p:nvPr/>
      </p:nvGrpSpPr>
      <p:grpSpPr>
        <a:xfrm>
          <a:off x="0" y="0"/>
          <a:ext cx="0" cy="0"/>
          <a:chOff x="0" y="0"/>
          <a:chExt cx="0" cy="0"/>
        </a:xfrm>
      </p:grpSpPr>
      <p:sp>
        <p:nvSpPr>
          <p:cNvPr id="2" name="Text 0"/>
          <p:cNvSpPr/>
          <p:nvPr/>
        </p:nvSpPr>
        <p:spPr>
          <a:xfrm>
            <a:off x="594360" y="228600"/>
            <a:ext cx="10058400" cy="256032"/>
          </a:xfrm>
          <a:prstGeom prst="rect">
            <a:avLst/>
          </a:prstGeom>
          <a:noFill/>
          <a:ln/>
        </p:spPr>
        <p:txBody>
          <a:bodyPr wrap="square" lIns="0" tIns="0" rIns="0" bIns="0" rtlCol="0" anchor="t"/>
          <a:lstStyle/>
          <a:p>
            <a:pPr marL="0" indent="0">
              <a:buNone/>
            </a:pPr>
            <a:r>
              <a:rPr lang="en-US" sz="1100" b="1" kern="0" spc="180" dirty="0">
                <a:solidFill>
                  <a:srgbClr val="76665B"/>
                </a:solidFill>
                <a:latin typeface="Calibri" pitchFamily="34" charset="0"/>
                <a:ea typeface="Calibri" pitchFamily="34" charset="-122"/>
                <a:cs typeface="Calibri" pitchFamily="34" charset="-120"/>
              </a:rPr>
              <a:t>02 / Begriffe</a:t>
            </a:r>
            <a:endParaRPr lang="en-US" sz="1100" dirty="0"/>
          </a:p>
        </p:txBody>
      </p:sp>
      <p:sp>
        <p:nvSpPr>
          <p:cNvPr id="3" name="Text 1"/>
          <p:cNvSpPr/>
          <p:nvPr/>
        </p:nvSpPr>
        <p:spPr>
          <a:xfrm>
            <a:off x="594360" y="585216"/>
            <a:ext cx="10972800" cy="941832"/>
          </a:xfrm>
          <a:prstGeom prst="rect">
            <a:avLst/>
          </a:prstGeom>
          <a:noFill/>
          <a:ln/>
        </p:spPr>
        <p:txBody>
          <a:bodyPr wrap="square" lIns="0" tIns="0" rIns="0" bIns="0" rtlCol="0" anchor="t"/>
          <a:lstStyle/>
          <a:p>
            <a:pPr marL="0" indent="0">
              <a:buNone/>
            </a:pPr>
            <a:r>
              <a:rPr lang="en-US" sz="3600" b="1" dirty="0">
                <a:solidFill>
                  <a:srgbClr val="30241F"/>
                </a:solidFill>
                <a:latin typeface="Georgia" pitchFamily="34" charset="0"/>
                <a:ea typeface="Georgia" pitchFamily="34" charset="-122"/>
                <a:cs typeface="Georgia" pitchFamily="34" charset="-120"/>
              </a:rPr>
              <a:t>Vier Rollen – eine gemeinsame Schnittstelle</a:t>
            </a:r>
            <a:endParaRPr lang="en-US" sz="3600" dirty="0"/>
          </a:p>
        </p:txBody>
      </p:sp>
      <p:sp>
        <p:nvSpPr>
          <p:cNvPr id="4" name="Text 2"/>
          <p:cNvSpPr/>
          <p:nvPr/>
        </p:nvSpPr>
        <p:spPr>
          <a:xfrm>
            <a:off x="594360" y="6510528"/>
            <a:ext cx="9144000" cy="201168"/>
          </a:xfrm>
          <a:prstGeom prst="rect">
            <a:avLst/>
          </a:prstGeom>
          <a:noFill/>
          <a:ln/>
        </p:spPr>
        <p:txBody>
          <a:bodyPr wrap="square" lIns="0" tIns="0" rIns="0" bIns="0" rtlCol="0" anchor="t"/>
          <a:lstStyle/>
          <a:p>
            <a:pPr marL="0" indent="0">
              <a:buNone/>
            </a:pPr>
            <a:r>
              <a:rPr lang="en-US" sz="1000" dirty="0">
                <a:solidFill>
                  <a:srgbClr val="76665B"/>
                </a:solidFill>
                <a:latin typeface="Calibri" pitchFamily="34" charset="0"/>
                <a:ea typeface="Calibri" pitchFamily="34" charset="-122"/>
                <a:cs typeface="Calibri" pitchFamily="34" charset="-120"/>
              </a:rPr>
              <a:t>Kaffee mit Zusätzen · Java-Demo + Python-Übung</a:t>
            </a:r>
            <a:endParaRPr lang="en-US" sz="1000" dirty="0"/>
          </a:p>
        </p:txBody>
      </p:sp>
      <p:sp>
        <p:nvSpPr>
          <p:cNvPr id="5" name="Text 3"/>
          <p:cNvSpPr/>
          <p:nvPr/>
        </p:nvSpPr>
        <p:spPr>
          <a:xfrm>
            <a:off x="11082528" y="6455664"/>
            <a:ext cx="502920" cy="274320"/>
          </a:xfrm>
          <a:prstGeom prst="rect">
            <a:avLst/>
          </a:prstGeom>
          <a:noFill/>
          <a:ln/>
        </p:spPr>
        <p:txBody>
          <a:bodyPr wrap="square" lIns="0" tIns="0" rIns="0" bIns="0" rtlCol="0" anchor="t"/>
          <a:lstStyle/>
          <a:p>
            <a:pPr marL="0" indent="0" algn="r">
              <a:buNone/>
            </a:pPr>
            <a:r>
              <a:rPr lang="en-US" sz="1200" dirty="0">
                <a:solidFill>
                  <a:srgbClr val="76665B"/>
                </a:solidFill>
                <a:latin typeface="Calibri" pitchFamily="34" charset="0"/>
                <a:ea typeface="Calibri" pitchFamily="34" charset="-122"/>
                <a:cs typeface="Calibri" pitchFamily="34" charset="-120"/>
              </a:rPr>
              <a:t>04</a:t>
            </a:r>
            <a:endParaRPr lang="en-US" sz="1200" dirty="0"/>
          </a:p>
        </p:txBody>
      </p:sp>
      <p:sp>
        <p:nvSpPr>
          <p:cNvPr id="6" name="Shape 4"/>
          <p:cNvSpPr/>
          <p:nvPr/>
        </p:nvSpPr>
        <p:spPr>
          <a:xfrm>
            <a:off x="640080" y="1691640"/>
            <a:ext cx="612648" cy="612648"/>
          </a:xfrm>
          <a:prstGeom prst="rect">
            <a:avLst/>
          </a:prstGeom>
          <a:solidFill>
            <a:srgbClr val="45634D"/>
          </a:solidFill>
          <a:ln w="12700">
            <a:solidFill>
              <a:srgbClr val="45634D"/>
            </a:solidFill>
            <a:prstDash val="solid"/>
          </a:ln>
        </p:spPr>
        <p:txBody>
          <a:bodyPr/>
          <a:lstStyle/>
          <a:p>
            <a:endParaRPr lang="de-DE"/>
          </a:p>
        </p:txBody>
      </p:sp>
      <p:sp>
        <p:nvSpPr>
          <p:cNvPr id="7" name="Text 5"/>
          <p:cNvSpPr/>
          <p:nvPr/>
        </p:nvSpPr>
        <p:spPr>
          <a:xfrm>
            <a:off x="804672" y="1783080"/>
            <a:ext cx="320040" cy="365760"/>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1490472" y="1691640"/>
            <a:ext cx="4297680" cy="411480"/>
          </a:xfrm>
          <a:prstGeom prst="rect">
            <a:avLst/>
          </a:prstGeom>
          <a:noFill/>
          <a:ln/>
        </p:spPr>
        <p:txBody>
          <a:bodyPr wrap="square" lIns="0" tIns="0" rIns="0" bIns="0" rtlCol="0" anchor="t"/>
          <a:lstStyle/>
          <a:p>
            <a:pPr marL="0" indent="0">
              <a:buNone/>
            </a:pPr>
            <a:r>
              <a:rPr lang="en-US" sz="2400" b="1" dirty="0">
                <a:solidFill>
                  <a:srgbClr val="30241F"/>
                </a:solidFill>
                <a:latin typeface="Calibri" pitchFamily="34" charset="0"/>
                <a:ea typeface="Calibri" pitchFamily="34" charset="-122"/>
                <a:cs typeface="Calibri" pitchFamily="34" charset="-120"/>
              </a:rPr>
              <a:t>Component</a:t>
            </a:r>
            <a:endParaRPr lang="en-US" sz="2400" dirty="0"/>
          </a:p>
        </p:txBody>
      </p:sp>
      <p:sp>
        <p:nvSpPr>
          <p:cNvPr id="9" name="Text 7"/>
          <p:cNvSpPr/>
          <p:nvPr/>
        </p:nvSpPr>
        <p:spPr>
          <a:xfrm>
            <a:off x="5715000" y="1691640"/>
            <a:ext cx="5486400" cy="411480"/>
          </a:xfrm>
          <a:prstGeom prst="rect">
            <a:avLst/>
          </a:prstGeom>
          <a:noFill/>
          <a:ln/>
        </p:spPr>
        <p:txBody>
          <a:bodyPr wrap="square" lIns="0" tIns="0" rIns="0" bIns="0" rtlCol="0" anchor="t"/>
          <a:lstStyle/>
          <a:p>
            <a:pPr marL="0" indent="0">
              <a:buNone/>
            </a:pPr>
            <a:r>
              <a:rPr lang="en-US" sz="2200" b="1" dirty="0">
                <a:solidFill>
                  <a:srgbClr val="30241F"/>
                </a:solidFill>
                <a:latin typeface="Calibri" pitchFamily="34" charset="0"/>
                <a:ea typeface="Calibri" pitchFamily="34" charset="-122"/>
                <a:cs typeface="Calibri" pitchFamily="34" charset="-120"/>
              </a:rPr>
              <a:t>Getraenk</a:t>
            </a:r>
            <a:endParaRPr lang="en-US" sz="2200" dirty="0"/>
          </a:p>
        </p:txBody>
      </p:sp>
      <p:sp>
        <p:nvSpPr>
          <p:cNvPr id="10" name="Text 8"/>
          <p:cNvSpPr/>
          <p:nvPr/>
        </p:nvSpPr>
        <p:spPr>
          <a:xfrm>
            <a:off x="5715000" y="2130552"/>
            <a:ext cx="5486400" cy="438912"/>
          </a:xfrm>
          <a:prstGeom prst="rect">
            <a:avLst/>
          </a:prstGeom>
          <a:noFill/>
          <a:ln/>
        </p:spPr>
        <p:txBody>
          <a:bodyPr wrap="square" lIns="0" tIns="0" rIns="0" bIns="0" rtlCol="0" anchor="t"/>
          <a:lstStyle/>
          <a:p>
            <a:pPr marL="0" indent="0">
              <a:buNone/>
            </a:pPr>
            <a:r>
              <a:rPr lang="en-US" sz="1700" dirty="0">
                <a:solidFill>
                  <a:srgbClr val="76665B"/>
                </a:solidFill>
                <a:latin typeface="Calibri" pitchFamily="34" charset="0"/>
                <a:ea typeface="Calibri" pitchFamily="34" charset="-122"/>
                <a:cs typeface="Calibri" pitchFamily="34" charset="-120"/>
              </a:rPr>
              <a:t>Gemeinsame Methoden für Preis und Beschreibung</a:t>
            </a:r>
            <a:endParaRPr lang="en-US" sz="1700" dirty="0"/>
          </a:p>
        </p:txBody>
      </p:sp>
      <p:sp>
        <p:nvSpPr>
          <p:cNvPr id="11" name="Shape 9"/>
          <p:cNvSpPr/>
          <p:nvPr/>
        </p:nvSpPr>
        <p:spPr>
          <a:xfrm>
            <a:off x="640080" y="2697480"/>
            <a:ext cx="612648" cy="612648"/>
          </a:xfrm>
          <a:prstGeom prst="rect">
            <a:avLst/>
          </a:prstGeom>
          <a:solidFill>
            <a:srgbClr val="45634D"/>
          </a:solidFill>
          <a:ln w="12700">
            <a:solidFill>
              <a:srgbClr val="45634D"/>
            </a:solidFill>
            <a:prstDash val="solid"/>
          </a:ln>
        </p:spPr>
        <p:txBody>
          <a:bodyPr/>
          <a:lstStyle/>
          <a:p>
            <a:endParaRPr lang="de-DE"/>
          </a:p>
        </p:txBody>
      </p:sp>
      <p:sp>
        <p:nvSpPr>
          <p:cNvPr id="12" name="Text 10"/>
          <p:cNvSpPr/>
          <p:nvPr/>
        </p:nvSpPr>
        <p:spPr>
          <a:xfrm>
            <a:off x="804672" y="2788920"/>
            <a:ext cx="320040" cy="365760"/>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1"/>
          <p:cNvSpPr/>
          <p:nvPr/>
        </p:nvSpPr>
        <p:spPr>
          <a:xfrm>
            <a:off x="1490472" y="2697480"/>
            <a:ext cx="4297680" cy="411480"/>
          </a:xfrm>
          <a:prstGeom prst="rect">
            <a:avLst/>
          </a:prstGeom>
          <a:noFill/>
          <a:ln/>
        </p:spPr>
        <p:txBody>
          <a:bodyPr wrap="square" lIns="0" tIns="0" rIns="0" bIns="0" rtlCol="0" anchor="t"/>
          <a:lstStyle/>
          <a:p>
            <a:pPr marL="0" indent="0">
              <a:buNone/>
            </a:pPr>
            <a:r>
              <a:rPr lang="en-US" sz="2400" b="1" dirty="0">
                <a:solidFill>
                  <a:srgbClr val="30241F"/>
                </a:solidFill>
                <a:latin typeface="Calibri" pitchFamily="34" charset="0"/>
                <a:ea typeface="Calibri" pitchFamily="34" charset="-122"/>
                <a:cs typeface="Calibri" pitchFamily="34" charset="-120"/>
              </a:rPr>
              <a:t>Concrete Component</a:t>
            </a:r>
            <a:endParaRPr lang="en-US" sz="2400" dirty="0"/>
          </a:p>
        </p:txBody>
      </p:sp>
      <p:sp>
        <p:nvSpPr>
          <p:cNvPr id="14" name="Text 12"/>
          <p:cNvSpPr/>
          <p:nvPr/>
        </p:nvSpPr>
        <p:spPr>
          <a:xfrm>
            <a:off x="5715000" y="2697480"/>
            <a:ext cx="5486400" cy="411480"/>
          </a:xfrm>
          <a:prstGeom prst="rect">
            <a:avLst/>
          </a:prstGeom>
          <a:noFill/>
          <a:ln/>
        </p:spPr>
        <p:txBody>
          <a:bodyPr wrap="square" lIns="0" tIns="0" rIns="0" bIns="0" rtlCol="0" anchor="t"/>
          <a:lstStyle/>
          <a:p>
            <a:pPr marL="0" indent="0">
              <a:buNone/>
            </a:pPr>
            <a:r>
              <a:rPr lang="en-US" sz="2200" b="1" dirty="0">
                <a:solidFill>
                  <a:srgbClr val="30241F"/>
                </a:solidFill>
                <a:latin typeface="Calibri" pitchFamily="34" charset="0"/>
                <a:ea typeface="Calibri" pitchFamily="34" charset="-122"/>
                <a:cs typeface="Calibri" pitchFamily="34" charset="-120"/>
              </a:rPr>
              <a:t>Espresso / Filterkaffee</a:t>
            </a:r>
            <a:endParaRPr lang="en-US" sz="2200" dirty="0"/>
          </a:p>
        </p:txBody>
      </p:sp>
      <p:sp>
        <p:nvSpPr>
          <p:cNvPr id="15" name="Text 13"/>
          <p:cNvSpPr/>
          <p:nvPr/>
        </p:nvSpPr>
        <p:spPr>
          <a:xfrm>
            <a:off x="5715000" y="3136392"/>
            <a:ext cx="5486400" cy="438912"/>
          </a:xfrm>
          <a:prstGeom prst="rect">
            <a:avLst/>
          </a:prstGeom>
          <a:noFill/>
          <a:ln/>
        </p:spPr>
        <p:txBody>
          <a:bodyPr wrap="square" lIns="0" tIns="0" rIns="0" bIns="0" rtlCol="0" anchor="t"/>
          <a:lstStyle/>
          <a:p>
            <a:pPr marL="0" indent="0">
              <a:buNone/>
            </a:pPr>
            <a:r>
              <a:rPr lang="en-US" sz="1700" dirty="0">
                <a:solidFill>
                  <a:srgbClr val="76665B"/>
                </a:solidFill>
                <a:latin typeface="Calibri" pitchFamily="34" charset="0"/>
                <a:ea typeface="Calibri" pitchFamily="34" charset="-122"/>
                <a:cs typeface="Calibri" pitchFamily="34" charset="-120"/>
              </a:rPr>
              <a:t>Liefert das Grundverhalten</a:t>
            </a:r>
            <a:endParaRPr lang="en-US" sz="1700" dirty="0"/>
          </a:p>
        </p:txBody>
      </p:sp>
      <p:sp>
        <p:nvSpPr>
          <p:cNvPr id="16" name="Shape 14"/>
          <p:cNvSpPr/>
          <p:nvPr/>
        </p:nvSpPr>
        <p:spPr>
          <a:xfrm>
            <a:off x="640080" y="3703320"/>
            <a:ext cx="612648" cy="612648"/>
          </a:xfrm>
          <a:prstGeom prst="rect">
            <a:avLst/>
          </a:prstGeom>
          <a:solidFill>
            <a:srgbClr val="45634D"/>
          </a:solidFill>
          <a:ln w="12700">
            <a:solidFill>
              <a:srgbClr val="45634D"/>
            </a:solidFill>
            <a:prstDash val="solid"/>
          </a:ln>
        </p:spPr>
        <p:txBody>
          <a:bodyPr/>
          <a:lstStyle/>
          <a:p>
            <a:endParaRPr lang="de-DE"/>
          </a:p>
        </p:txBody>
      </p:sp>
      <p:sp>
        <p:nvSpPr>
          <p:cNvPr id="17" name="Text 15"/>
          <p:cNvSpPr/>
          <p:nvPr/>
        </p:nvSpPr>
        <p:spPr>
          <a:xfrm>
            <a:off x="804672" y="3794760"/>
            <a:ext cx="320040" cy="365760"/>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8" name="Text 16"/>
          <p:cNvSpPr/>
          <p:nvPr/>
        </p:nvSpPr>
        <p:spPr>
          <a:xfrm>
            <a:off x="1490472" y="3703320"/>
            <a:ext cx="4297680" cy="411480"/>
          </a:xfrm>
          <a:prstGeom prst="rect">
            <a:avLst/>
          </a:prstGeom>
          <a:noFill/>
          <a:ln/>
        </p:spPr>
        <p:txBody>
          <a:bodyPr wrap="square" lIns="0" tIns="0" rIns="0" bIns="0" rtlCol="0" anchor="t"/>
          <a:lstStyle/>
          <a:p>
            <a:pPr marL="0" indent="0">
              <a:buNone/>
            </a:pPr>
            <a:r>
              <a:rPr lang="en-US" sz="2400" b="1" dirty="0">
                <a:solidFill>
                  <a:srgbClr val="30241F"/>
                </a:solidFill>
                <a:latin typeface="Calibri" pitchFamily="34" charset="0"/>
                <a:ea typeface="Calibri" pitchFamily="34" charset="-122"/>
                <a:cs typeface="Calibri" pitchFamily="34" charset="-120"/>
              </a:rPr>
              <a:t>Decorator</a:t>
            </a:r>
            <a:endParaRPr lang="en-US" sz="2400" dirty="0"/>
          </a:p>
        </p:txBody>
      </p:sp>
      <p:sp>
        <p:nvSpPr>
          <p:cNvPr id="19" name="Text 17"/>
          <p:cNvSpPr/>
          <p:nvPr/>
        </p:nvSpPr>
        <p:spPr>
          <a:xfrm>
            <a:off x="5715000" y="3703320"/>
            <a:ext cx="5486400" cy="411480"/>
          </a:xfrm>
          <a:prstGeom prst="rect">
            <a:avLst/>
          </a:prstGeom>
          <a:noFill/>
          <a:ln/>
        </p:spPr>
        <p:txBody>
          <a:bodyPr wrap="square" lIns="0" tIns="0" rIns="0" bIns="0" rtlCol="0" anchor="t"/>
          <a:lstStyle/>
          <a:p>
            <a:pPr marL="0" indent="0">
              <a:buNone/>
            </a:pPr>
            <a:r>
              <a:rPr lang="en-US" sz="2200" b="1" dirty="0">
                <a:solidFill>
                  <a:srgbClr val="30241F"/>
                </a:solidFill>
                <a:latin typeface="Calibri" pitchFamily="34" charset="0"/>
                <a:ea typeface="Calibri" pitchFamily="34" charset="-122"/>
                <a:cs typeface="Calibri" pitchFamily="34" charset="-120"/>
              </a:rPr>
              <a:t>GetraenkDekorierer</a:t>
            </a:r>
            <a:endParaRPr lang="en-US" sz="2200" dirty="0"/>
          </a:p>
        </p:txBody>
      </p:sp>
      <p:sp>
        <p:nvSpPr>
          <p:cNvPr id="20" name="Text 18"/>
          <p:cNvSpPr/>
          <p:nvPr/>
        </p:nvSpPr>
        <p:spPr>
          <a:xfrm>
            <a:off x="5715000" y="4142232"/>
            <a:ext cx="5486400" cy="438912"/>
          </a:xfrm>
          <a:prstGeom prst="rect">
            <a:avLst/>
          </a:prstGeom>
          <a:noFill/>
          <a:ln/>
        </p:spPr>
        <p:txBody>
          <a:bodyPr wrap="square" lIns="0" tIns="0" rIns="0" bIns="0" rtlCol="0" anchor="t"/>
          <a:lstStyle/>
          <a:p>
            <a:pPr marL="0" indent="0">
              <a:buNone/>
            </a:pPr>
            <a:r>
              <a:rPr lang="en-US" sz="1700" dirty="0">
                <a:solidFill>
                  <a:srgbClr val="76665B"/>
                </a:solidFill>
                <a:latin typeface="Calibri" pitchFamily="34" charset="0"/>
                <a:ea typeface="Calibri" pitchFamily="34" charset="-122"/>
                <a:cs typeface="Calibri" pitchFamily="34" charset="-120"/>
              </a:rPr>
              <a:t>Enthält eine Referenz auf ein Getraenk</a:t>
            </a:r>
            <a:endParaRPr lang="en-US" sz="1700" dirty="0"/>
          </a:p>
        </p:txBody>
      </p:sp>
      <p:sp>
        <p:nvSpPr>
          <p:cNvPr id="21" name="Shape 19"/>
          <p:cNvSpPr/>
          <p:nvPr/>
        </p:nvSpPr>
        <p:spPr>
          <a:xfrm>
            <a:off x="640080" y="4709160"/>
            <a:ext cx="612648" cy="612648"/>
          </a:xfrm>
          <a:prstGeom prst="rect">
            <a:avLst/>
          </a:prstGeom>
          <a:solidFill>
            <a:srgbClr val="45634D"/>
          </a:solidFill>
          <a:ln w="12700">
            <a:solidFill>
              <a:srgbClr val="45634D"/>
            </a:solidFill>
            <a:prstDash val="solid"/>
          </a:ln>
        </p:spPr>
        <p:txBody>
          <a:bodyPr/>
          <a:lstStyle/>
          <a:p>
            <a:endParaRPr lang="de-DE"/>
          </a:p>
        </p:txBody>
      </p:sp>
      <p:sp>
        <p:nvSpPr>
          <p:cNvPr id="22" name="Text 20"/>
          <p:cNvSpPr/>
          <p:nvPr/>
        </p:nvSpPr>
        <p:spPr>
          <a:xfrm>
            <a:off x="804672" y="4800600"/>
            <a:ext cx="320040" cy="365760"/>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3" name="Text 21"/>
          <p:cNvSpPr/>
          <p:nvPr/>
        </p:nvSpPr>
        <p:spPr>
          <a:xfrm>
            <a:off x="1490472" y="4709160"/>
            <a:ext cx="4297680" cy="411480"/>
          </a:xfrm>
          <a:prstGeom prst="rect">
            <a:avLst/>
          </a:prstGeom>
          <a:noFill/>
          <a:ln/>
        </p:spPr>
        <p:txBody>
          <a:bodyPr wrap="square" lIns="0" tIns="0" rIns="0" bIns="0" rtlCol="0" anchor="t"/>
          <a:lstStyle/>
          <a:p>
            <a:pPr marL="0" indent="0">
              <a:buNone/>
            </a:pPr>
            <a:r>
              <a:rPr lang="en-US" sz="2400" b="1" dirty="0">
                <a:solidFill>
                  <a:srgbClr val="30241F"/>
                </a:solidFill>
                <a:latin typeface="Calibri" pitchFamily="34" charset="0"/>
                <a:ea typeface="Calibri" pitchFamily="34" charset="-122"/>
                <a:cs typeface="Calibri" pitchFamily="34" charset="-120"/>
              </a:rPr>
              <a:t>Concrete Decorator</a:t>
            </a:r>
            <a:endParaRPr lang="en-US" sz="2400" dirty="0"/>
          </a:p>
        </p:txBody>
      </p:sp>
      <p:sp>
        <p:nvSpPr>
          <p:cNvPr id="24" name="Text 22"/>
          <p:cNvSpPr/>
          <p:nvPr/>
        </p:nvSpPr>
        <p:spPr>
          <a:xfrm>
            <a:off x="5715000" y="4709160"/>
            <a:ext cx="5486400" cy="411480"/>
          </a:xfrm>
          <a:prstGeom prst="rect">
            <a:avLst/>
          </a:prstGeom>
          <a:noFill/>
          <a:ln/>
        </p:spPr>
        <p:txBody>
          <a:bodyPr wrap="square" lIns="0" tIns="0" rIns="0" bIns="0" rtlCol="0" anchor="t"/>
          <a:lstStyle/>
          <a:p>
            <a:pPr marL="0" indent="0">
              <a:buNone/>
            </a:pPr>
            <a:r>
              <a:rPr lang="en-US" sz="2200" b="1" dirty="0">
                <a:solidFill>
                  <a:srgbClr val="30241F"/>
                </a:solidFill>
                <a:latin typeface="Calibri" pitchFamily="34" charset="0"/>
                <a:ea typeface="Calibri" pitchFamily="34" charset="-122"/>
                <a:cs typeface="Calibri" pitchFamily="34" charset="-120"/>
              </a:rPr>
              <a:t>Milch / Sirup / Sahne</a:t>
            </a:r>
            <a:endParaRPr lang="en-US" sz="2200" dirty="0"/>
          </a:p>
        </p:txBody>
      </p:sp>
      <p:sp>
        <p:nvSpPr>
          <p:cNvPr id="25" name="Text 23"/>
          <p:cNvSpPr/>
          <p:nvPr/>
        </p:nvSpPr>
        <p:spPr>
          <a:xfrm>
            <a:off x="5715000" y="5148072"/>
            <a:ext cx="5486400" cy="438912"/>
          </a:xfrm>
          <a:prstGeom prst="rect">
            <a:avLst/>
          </a:prstGeom>
          <a:noFill/>
          <a:ln/>
        </p:spPr>
        <p:txBody>
          <a:bodyPr wrap="square" lIns="0" tIns="0" rIns="0" bIns="0" rtlCol="0" anchor="t"/>
          <a:lstStyle/>
          <a:p>
            <a:pPr marL="0" indent="0">
              <a:buNone/>
            </a:pPr>
            <a:r>
              <a:rPr lang="en-US" sz="1700" dirty="0">
                <a:solidFill>
                  <a:srgbClr val="76665B"/>
                </a:solidFill>
                <a:latin typeface="Calibri" pitchFamily="34" charset="0"/>
                <a:ea typeface="Calibri" pitchFamily="34" charset="-122"/>
                <a:cs typeface="Calibri" pitchFamily="34" charset="-120"/>
              </a:rPr>
              <a:t>Ergänzt das Getränk um einen Zusatz</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0E7"/>
        </a:solidFill>
        <a:effectLst/>
      </p:bgPr>
    </p:bg>
    <p:spTree>
      <p:nvGrpSpPr>
        <p:cNvPr id="1" name=""/>
        <p:cNvGrpSpPr/>
        <p:nvPr/>
      </p:nvGrpSpPr>
      <p:grpSpPr>
        <a:xfrm>
          <a:off x="0" y="0"/>
          <a:ext cx="0" cy="0"/>
          <a:chOff x="0" y="0"/>
          <a:chExt cx="0" cy="0"/>
        </a:xfrm>
      </p:grpSpPr>
      <p:sp>
        <p:nvSpPr>
          <p:cNvPr id="2" name="Text 0"/>
          <p:cNvSpPr/>
          <p:nvPr/>
        </p:nvSpPr>
        <p:spPr>
          <a:xfrm>
            <a:off x="594360" y="228600"/>
            <a:ext cx="10058400" cy="256032"/>
          </a:xfrm>
          <a:prstGeom prst="rect">
            <a:avLst/>
          </a:prstGeom>
          <a:noFill/>
          <a:ln/>
        </p:spPr>
        <p:txBody>
          <a:bodyPr wrap="square" lIns="0" tIns="0" rIns="0" bIns="0" rtlCol="0" anchor="t"/>
          <a:lstStyle/>
          <a:p>
            <a:pPr marL="0" indent="0">
              <a:buNone/>
            </a:pPr>
            <a:r>
              <a:rPr lang="en-US" sz="1100" b="1" kern="0" spc="180" dirty="0">
                <a:solidFill>
                  <a:srgbClr val="76665B"/>
                </a:solidFill>
                <a:latin typeface="Calibri" pitchFamily="34" charset="0"/>
                <a:ea typeface="Calibri" pitchFamily="34" charset="-122"/>
                <a:cs typeface="Calibri" pitchFamily="34" charset="-120"/>
              </a:rPr>
              <a:t>02 / Klassenstruktur</a:t>
            </a:r>
            <a:endParaRPr lang="en-US" sz="1100" dirty="0"/>
          </a:p>
        </p:txBody>
      </p:sp>
      <p:sp>
        <p:nvSpPr>
          <p:cNvPr id="3" name="Text 1"/>
          <p:cNvSpPr/>
          <p:nvPr/>
        </p:nvSpPr>
        <p:spPr>
          <a:xfrm>
            <a:off x="594360" y="585216"/>
            <a:ext cx="10972800" cy="941832"/>
          </a:xfrm>
          <a:prstGeom prst="rect">
            <a:avLst/>
          </a:prstGeom>
          <a:noFill/>
          <a:ln/>
        </p:spPr>
        <p:txBody>
          <a:bodyPr wrap="square" lIns="0" tIns="0" rIns="0" bIns="0" rtlCol="0" anchor="t"/>
          <a:lstStyle/>
          <a:p>
            <a:pPr marL="0" indent="0">
              <a:buNone/>
            </a:pPr>
            <a:r>
              <a:rPr lang="en-US" sz="3600" b="1" dirty="0">
                <a:solidFill>
                  <a:srgbClr val="30241F"/>
                </a:solidFill>
                <a:latin typeface="Georgia" pitchFamily="34" charset="0"/>
                <a:ea typeface="Georgia" pitchFamily="34" charset="-122"/>
                <a:cs typeface="Georgia" pitchFamily="34" charset="-120"/>
              </a:rPr>
              <a:t>Vererbung trifft Komposition</a:t>
            </a:r>
            <a:endParaRPr lang="en-US" sz="3600" dirty="0"/>
          </a:p>
        </p:txBody>
      </p:sp>
      <p:sp>
        <p:nvSpPr>
          <p:cNvPr id="4" name="Text 2"/>
          <p:cNvSpPr/>
          <p:nvPr/>
        </p:nvSpPr>
        <p:spPr>
          <a:xfrm>
            <a:off x="594360" y="6510528"/>
            <a:ext cx="9144000" cy="201168"/>
          </a:xfrm>
          <a:prstGeom prst="rect">
            <a:avLst/>
          </a:prstGeom>
          <a:noFill/>
          <a:ln/>
        </p:spPr>
        <p:txBody>
          <a:bodyPr wrap="square" lIns="0" tIns="0" rIns="0" bIns="0" rtlCol="0" anchor="t"/>
          <a:lstStyle/>
          <a:p>
            <a:pPr marL="0" indent="0">
              <a:buNone/>
            </a:pPr>
            <a:r>
              <a:rPr lang="en-US" sz="1000" dirty="0">
                <a:solidFill>
                  <a:srgbClr val="76665B"/>
                </a:solidFill>
                <a:latin typeface="Calibri" pitchFamily="34" charset="0"/>
                <a:ea typeface="Calibri" pitchFamily="34" charset="-122"/>
                <a:cs typeface="Calibri" pitchFamily="34" charset="-120"/>
              </a:rPr>
              <a:t>Kaffee mit Zusätzen · Java-Demo + Python-Übung</a:t>
            </a:r>
            <a:endParaRPr lang="en-US" sz="1000" dirty="0"/>
          </a:p>
        </p:txBody>
      </p:sp>
      <p:sp>
        <p:nvSpPr>
          <p:cNvPr id="5" name="Text 3"/>
          <p:cNvSpPr/>
          <p:nvPr/>
        </p:nvSpPr>
        <p:spPr>
          <a:xfrm>
            <a:off x="11082528" y="6455664"/>
            <a:ext cx="502920" cy="274320"/>
          </a:xfrm>
          <a:prstGeom prst="rect">
            <a:avLst/>
          </a:prstGeom>
          <a:noFill/>
          <a:ln/>
        </p:spPr>
        <p:txBody>
          <a:bodyPr wrap="square" lIns="0" tIns="0" rIns="0" bIns="0" rtlCol="0" anchor="t"/>
          <a:lstStyle/>
          <a:p>
            <a:pPr marL="0" indent="0" algn="r">
              <a:buNone/>
            </a:pPr>
            <a:r>
              <a:rPr lang="en-US" sz="1200" dirty="0">
                <a:solidFill>
                  <a:srgbClr val="76665B"/>
                </a:solidFill>
                <a:latin typeface="Calibri" pitchFamily="34" charset="0"/>
                <a:ea typeface="Calibri" pitchFamily="34" charset="-122"/>
                <a:cs typeface="Calibri" pitchFamily="34" charset="-120"/>
              </a:rPr>
              <a:t>05</a:t>
            </a:r>
            <a:endParaRPr lang="en-US" sz="1200" dirty="0"/>
          </a:p>
        </p:txBody>
      </p:sp>
      <p:pic>
        <p:nvPicPr>
          <p:cNvPr id="36" name="Grafik 35">
            <a:extLst>
              <a:ext uri="{FF2B5EF4-FFF2-40B4-BE49-F238E27FC236}">
                <a16:creationId xmlns:a16="http://schemas.microsoft.com/office/drawing/2014/main" id="{DDE7E854-7B52-B35C-83E8-E41E33F3A66B}"/>
              </a:ext>
            </a:extLst>
          </p:cNvPr>
          <p:cNvPicPr>
            <a:picLocks noChangeAspect="1"/>
          </p:cNvPicPr>
          <p:nvPr/>
        </p:nvPicPr>
        <p:blipFill>
          <a:blip r:embed="rId3"/>
          <a:stretch>
            <a:fillRect/>
          </a:stretch>
        </p:blipFill>
        <p:spPr>
          <a:xfrm>
            <a:off x="226577" y="585216"/>
            <a:ext cx="11738846" cy="530437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rgbClr val="F6F0E7"/>
        </a:solidFill>
        <a:effectLst/>
      </p:bgPr>
    </p:bg>
    <p:spTree>
      <p:nvGrpSpPr>
        <p:cNvPr id="1" name="">
          <a:extLst>
            <a:ext uri="{FF2B5EF4-FFF2-40B4-BE49-F238E27FC236}">
              <a16:creationId xmlns:a16="http://schemas.microsoft.com/office/drawing/2014/main" id="{3DA45199-A208-7A3D-3E24-A3F917234C6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4F46827-262B-1227-8B2E-EEB39808EE39}"/>
              </a:ext>
            </a:extLst>
          </p:cNvPr>
          <p:cNvSpPr/>
          <p:nvPr/>
        </p:nvSpPr>
        <p:spPr>
          <a:xfrm>
            <a:off x="594360" y="228600"/>
            <a:ext cx="10058400" cy="256032"/>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80" normalizeH="0" baseline="0" noProof="0" dirty="0">
                <a:ln>
                  <a:noFill/>
                </a:ln>
                <a:solidFill>
                  <a:srgbClr val="76665B"/>
                </a:solidFill>
                <a:effectLst/>
                <a:uLnTx/>
                <a:uFillTx/>
                <a:latin typeface="Calibri" pitchFamily="34" charset="0"/>
                <a:ea typeface="Calibri" pitchFamily="34" charset="-122"/>
                <a:cs typeface="Calibri" pitchFamily="34" charset="-120"/>
              </a:rPr>
              <a:t>02 / Klassenstruktur</a:t>
            </a:r>
            <a:endParaRPr kumimoji="0" lang="en-US" sz="1100" b="0" i="0" u="none" strike="noStrike" kern="1200" cap="none" spc="0" normalizeH="0" baseline="0" noProof="0" dirty="0">
              <a:ln>
                <a:noFill/>
              </a:ln>
              <a:solidFill>
                <a:prstClr val="black"/>
              </a:solidFill>
              <a:effectLst/>
              <a:uLnTx/>
              <a:uFillTx/>
              <a:latin typeface="Calibri"/>
              <a:ea typeface="+mn-ea"/>
              <a:cs typeface="+mn-cs"/>
            </a:endParaRPr>
          </a:p>
        </p:txBody>
      </p:sp>
      <p:sp>
        <p:nvSpPr>
          <p:cNvPr id="3" name="Text 1">
            <a:extLst>
              <a:ext uri="{FF2B5EF4-FFF2-40B4-BE49-F238E27FC236}">
                <a16:creationId xmlns:a16="http://schemas.microsoft.com/office/drawing/2014/main" id="{FE3F92EE-70ED-10D7-5AA1-6C4227B9A666}"/>
              </a:ext>
            </a:extLst>
          </p:cNvPr>
          <p:cNvSpPr/>
          <p:nvPr/>
        </p:nvSpPr>
        <p:spPr>
          <a:xfrm>
            <a:off x="594360" y="585216"/>
            <a:ext cx="10972800" cy="941832"/>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30241F"/>
                </a:solidFill>
                <a:effectLst/>
                <a:uLnTx/>
                <a:uFillTx/>
                <a:latin typeface="Georgia" pitchFamily="34" charset="0"/>
                <a:ea typeface="Georgia" pitchFamily="34" charset="-122"/>
                <a:cs typeface="Georgia" pitchFamily="34" charset="-120"/>
              </a:rPr>
              <a:t>Vererbung trifft Komposition</a:t>
            </a:r>
            <a:endParaRPr kumimoji="0" lang="en-US" sz="36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Text 2">
            <a:extLst>
              <a:ext uri="{FF2B5EF4-FFF2-40B4-BE49-F238E27FC236}">
                <a16:creationId xmlns:a16="http://schemas.microsoft.com/office/drawing/2014/main" id="{5C8D2C7A-3630-2284-90EC-3AFB95A98661}"/>
              </a:ext>
            </a:extLst>
          </p:cNvPr>
          <p:cNvSpPr/>
          <p:nvPr/>
        </p:nvSpPr>
        <p:spPr>
          <a:xfrm>
            <a:off x="594360" y="6510528"/>
            <a:ext cx="9144000" cy="201168"/>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6665B"/>
                </a:solidFill>
                <a:effectLst/>
                <a:uLnTx/>
                <a:uFillTx/>
                <a:latin typeface="Calibri" pitchFamily="34" charset="0"/>
                <a:ea typeface="Calibri" pitchFamily="34" charset="-122"/>
                <a:cs typeface="Calibri" pitchFamily="34" charset="-120"/>
              </a:rPr>
              <a:t>Kaffee mit Zusätzen · Java-Demo + Python-Übung</a:t>
            </a:r>
            <a:endParaRPr kumimoji="0" lang="en-US" sz="10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Text 3">
            <a:extLst>
              <a:ext uri="{FF2B5EF4-FFF2-40B4-BE49-F238E27FC236}">
                <a16:creationId xmlns:a16="http://schemas.microsoft.com/office/drawing/2014/main" id="{1CABEA19-F8BC-2D83-D1C5-3A213EBB3C33}"/>
              </a:ext>
            </a:extLst>
          </p:cNvPr>
          <p:cNvSpPr/>
          <p:nvPr/>
        </p:nvSpPr>
        <p:spPr>
          <a:xfrm>
            <a:off x="11082528" y="6455664"/>
            <a:ext cx="502920" cy="274320"/>
          </a:xfrm>
          <a:prstGeom prst="rect">
            <a:avLst/>
          </a:prstGeom>
          <a:noFill/>
          <a:ln/>
        </p:spPr>
        <p:txBody>
          <a:bodyPr wrap="square" lIns="0" tIns="0" rIns="0" bIns="0" rtlCol="0" anchor="t"/>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76665B"/>
                </a:solidFill>
                <a:effectLst/>
                <a:uLnTx/>
                <a:uFillTx/>
                <a:latin typeface="Calibri" pitchFamily="34" charset="0"/>
                <a:ea typeface="Calibri" pitchFamily="34" charset="-122"/>
                <a:cs typeface="Calibri" pitchFamily="34" charset="-120"/>
              </a:rPr>
              <a:t>05</a:t>
            </a: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Shape 4">
            <a:extLst>
              <a:ext uri="{FF2B5EF4-FFF2-40B4-BE49-F238E27FC236}">
                <a16:creationId xmlns:a16="http://schemas.microsoft.com/office/drawing/2014/main" id="{D607E429-41FD-2D4F-FCB1-227FC7E2F584}"/>
              </a:ext>
            </a:extLst>
          </p:cNvPr>
          <p:cNvSpPr/>
          <p:nvPr/>
        </p:nvSpPr>
        <p:spPr>
          <a:xfrm>
            <a:off x="3749040" y="1600200"/>
            <a:ext cx="4480560" cy="1024128"/>
          </a:xfrm>
          <a:prstGeom prst="rect">
            <a:avLst/>
          </a:prstGeom>
          <a:solidFill>
            <a:srgbClr val="45634D"/>
          </a:solidFill>
          <a:ln w="12700">
            <a:solidFill>
              <a:srgbClr val="45634D"/>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5">
            <a:extLst>
              <a:ext uri="{FF2B5EF4-FFF2-40B4-BE49-F238E27FC236}">
                <a16:creationId xmlns:a16="http://schemas.microsoft.com/office/drawing/2014/main" id="{F12249E9-BBFF-305C-CD46-B14C0932C25D}"/>
              </a:ext>
            </a:extLst>
          </p:cNvPr>
          <p:cNvSpPr/>
          <p:nvPr/>
        </p:nvSpPr>
        <p:spPr>
          <a:xfrm>
            <a:off x="3959352" y="1719072"/>
            <a:ext cx="4069080" cy="347472"/>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«interface» Getraenk</a:t>
            </a:r>
            <a:endParaRPr kumimoji="0" lang="en-US" sz="22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Text 6">
            <a:extLst>
              <a:ext uri="{FF2B5EF4-FFF2-40B4-BE49-F238E27FC236}">
                <a16:creationId xmlns:a16="http://schemas.microsoft.com/office/drawing/2014/main" id="{FED66E5F-D908-49E9-2507-901307C204B0}"/>
              </a:ext>
            </a:extLst>
          </p:cNvPr>
          <p:cNvSpPr/>
          <p:nvPr/>
        </p:nvSpPr>
        <p:spPr>
          <a:xfrm>
            <a:off x="3959352" y="2157984"/>
            <a:ext cx="4069080" cy="292608"/>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getPreis()  ·  getBeschreibung()</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Shape 7">
            <a:extLst>
              <a:ext uri="{FF2B5EF4-FFF2-40B4-BE49-F238E27FC236}">
                <a16:creationId xmlns:a16="http://schemas.microsoft.com/office/drawing/2014/main" id="{4F1EA339-C5BD-AF52-8DA2-215FFD65FC33}"/>
              </a:ext>
            </a:extLst>
          </p:cNvPr>
          <p:cNvSpPr/>
          <p:nvPr/>
        </p:nvSpPr>
        <p:spPr>
          <a:xfrm>
            <a:off x="640080" y="3108960"/>
            <a:ext cx="3063240" cy="1261872"/>
          </a:xfrm>
          <a:prstGeom prst="rect">
            <a:avLst/>
          </a:prstGeom>
          <a:solidFill>
            <a:srgbClr val="FFFCF7"/>
          </a:solidFill>
          <a:ln w="12700">
            <a:solidFill>
              <a:srgbClr val="FFFCF7"/>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8">
            <a:extLst>
              <a:ext uri="{FF2B5EF4-FFF2-40B4-BE49-F238E27FC236}">
                <a16:creationId xmlns:a16="http://schemas.microsoft.com/office/drawing/2014/main" id="{3AA84312-A048-5C25-5EE6-70E0726B1621}"/>
              </a:ext>
            </a:extLst>
          </p:cNvPr>
          <p:cNvSpPr/>
          <p:nvPr/>
        </p:nvSpPr>
        <p:spPr>
          <a:xfrm>
            <a:off x="850392" y="3337560"/>
            <a:ext cx="2651760" cy="548640"/>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30241F"/>
                </a:solidFill>
                <a:effectLst/>
                <a:uLnTx/>
                <a:uFillTx/>
                <a:latin typeface="Calibri" pitchFamily="34" charset="0"/>
                <a:ea typeface="Calibri" pitchFamily="34" charset="-122"/>
                <a:cs typeface="Calibri" pitchFamily="34" charset="-120"/>
              </a:rPr>
              <a:t>Espresso / Filterkaffee</a:t>
            </a:r>
            <a:endParaRPr kumimoji="0" lang="en-US" sz="2200" b="0" i="0" u="none" strike="noStrike" kern="1200" cap="none" spc="0" normalizeH="0" baseline="0" noProof="0" dirty="0">
              <a:ln>
                <a:noFill/>
              </a:ln>
              <a:solidFill>
                <a:prstClr val="black"/>
              </a:solidFill>
              <a:effectLst/>
              <a:uLnTx/>
              <a:uFillTx/>
              <a:latin typeface="Calibri"/>
              <a:ea typeface="+mn-ea"/>
              <a:cs typeface="+mn-cs"/>
            </a:endParaRPr>
          </a:p>
        </p:txBody>
      </p:sp>
      <p:sp>
        <p:nvSpPr>
          <p:cNvPr id="11" name="Shape 9">
            <a:extLst>
              <a:ext uri="{FF2B5EF4-FFF2-40B4-BE49-F238E27FC236}">
                <a16:creationId xmlns:a16="http://schemas.microsoft.com/office/drawing/2014/main" id="{69E98F24-DD92-E35E-A8DF-D22155F4D0C5}"/>
              </a:ext>
            </a:extLst>
          </p:cNvPr>
          <p:cNvSpPr/>
          <p:nvPr/>
        </p:nvSpPr>
        <p:spPr>
          <a:xfrm>
            <a:off x="5577840" y="3108960"/>
            <a:ext cx="5486400" cy="1261872"/>
          </a:xfrm>
          <a:prstGeom prst="rect">
            <a:avLst/>
          </a:prstGeom>
          <a:solidFill>
            <a:srgbClr val="FFFCF7"/>
          </a:solidFill>
          <a:ln w="12700">
            <a:solidFill>
              <a:srgbClr val="FFFCF7"/>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10">
            <a:extLst>
              <a:ext uri="{FF2B5EF4-FFF2-40B4-BE49-F238E27FC236}">
                <a16:creationId xmlns:a16="http://schemas.microsoft.com/office/drawing/2014/main" id="{D301EA9C-A8FB-D503-7C04-046DD9831208}"/>
              </a:ext>
            </a:extLst>
          </p:cNvPr>
          <p:cNvSpPr/>
          <p:nvPr/>
        </p:nvSpPr>
        <p:spPr>
          <a:xfrm>
            <a:off x="5806440" y="3273552"/>
            <a:ext cx="5029200" cy="438912"/>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300" b="1" i="0" u="none" strike="noStrike" kern="1200" cap="none" spc="0" normalizeH="0" baseline="0" noProof="0" dirty="0">
                <a:ln>
                  <a:noFill/>
                </a:ln>
                <a:solidFill>
                  <a:srgbClr val="30241F"/>
                </a:solidFill>
                <a:effectLst/>
                <a:uLnTx/>
                <a:uFillTx/>
                <a:latin typeface="Calibri" pitchFamily="34" charset="0"/>
                <a:ea typeface="Calibri" pitchFamily="34" charset="-122"/>
                <a:cs typeface="Calibri" pitchFamily="34" charset="-120"/>
              </a:rPr>
              <a:t>GetraenkDekorierer</a:t>
            </a:r>
            <a:endParaRPr kumimoji="0" lang="en-US" sz="23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Text 11">
            <a:extLst>
              <a:ext uri="{FF2B5EF4-FFF2-40B4-BE49-F238E27FC236}">
                <a16:creationId xmlns:a16="http://schemas.microsoft.com/office/drawing/2014/main" id="{A05FDB29-9A2F-EEA1-87BF-AC31EF75883D}"/>
              </a:ext>
            </a:extLst>
          </p:cNvPr>
          <p:cNvSpPr/>
          <p:nvPr/>
        </p:nvSpPr>
        <p:spPr>
          <a:xfrm>
            <a:off x="5806440" y="3794760"/>
            <a:ext cx="5029200" cy="338328"/>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76665B"/>
                </a:solidFill>
                <a:effectLst/>
                <a:uLnTx/>
                <a:uFillTx/>
                <a:latin typeface="Calibri" pitchFamily="34" charset="0"/>
                <a:ea typeface="Calibri" pitchFamily="34" charset="-122"/>
                <a:cs typeface="Calibri" pitchFamily="34" charset="-120"/>
              </a:rPr>
              <a:t>− getraenk: Getraenk</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14" name="Shape 12">
            <a:extLst>
              <a:ext uri="{FF2B5EF4-FFF2-40B4-BE49-F238E27FC236}">
                <a16:creationId xmlns:a16="http://schemas.microsoft.com/office/drawing/2014/main" id="{2C44326E-362F-B763-D3AF-3243543C76B5}"/>
              </a:ext>
            </a:extLst>
          </p:cNvPr>
          <p:cNvSpPr/>
          <p:nvPr/>
        </p:nvSpPr>
        <p:spPr>
          <a:xfrm flipV="1">
            <a:off x="2194560" y="2633472"/>
            <a:ext cx="1691640" cy="466344"/>
          </a:xfrm>
          <a:prstGeom prst="line">
            <a:avLst/>
          </a:prstGeom>
          <a:noFill/>
          <a:ln w="22860">
            <a:solidFill>
              <a:srgbClr val="76665B"/>
            </a:solidFill>
            <a:prstDash val="dash"/>
            <a:headEnd type="none"/>
            <a:tailEnd type="triangle"/>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Shape 13">
            <a:extLst>
              <a:ext uri="{FF2B5EF4-FFF2-40B4-BE49-F238E27FC236}">
                <a16:creationId xmlns:a16="http://schemas.microsoft.com/office/drawing/2014/main" id="{9BEB9A18-52E4-F52B-F1BB-8F0D845B85FF}"/>
              </a:ext>
            </a:extLst>
          </p:cNvPr>
          <p:cNvSpPr/>
          <p:nvPr/>
        </p:nvSpPr>
        <p:spPr>
          <a:xfrm flipH="1" flipV="1">
            <a:off x="7040880" y="2633472"/>
            <a:ext cx="411480" cy="466344"/>
          </a:xfrm>
          <a:prstGeom prst="line">
            <a:avLst/>
          </a:prstGeom>
          <a:noFill/>
          <a:ln w="22860">
            <a:solidFill>
              <a:srgbClr val="76665B"/>
            </a:solidFill>
            <a:prstDash val="dash"/>
            <a:headEnd type="none"/>
            <a:tailEnd type="triangle"/>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 14">
            <a:extLst>
              <a:ext uri="{FF2B5EF4-FFF2-40B4-BE49-F238E27FC236}">
                <a16:creationId xmlns:a16="http://schemas.microsoft.com/office/drawing/2014/main" id="{77EBF6DC-00F1-5335-6FFF-AC3222274E71}"/>
              </a:ext>
            </a:extLst>
          </p:cNvPr>
          <p:cNvSpPr/>
          <p:nvPr/>
        </p:nvSpPr>
        <p:spPr>
          <a:xfrm>
            <a:off x="822960" y="2587752"/>
            <a:ext cx="2194560" cy="274320"/>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76665B"/>
                </a:solidFill>
                <a:effectLst/>
                <a:uLnTx/>
                <a:uFillTx/>
                <a:latin typeface="Calibri" pitchFamily="34" charset="0"/>
                <a:ea typeface="Calibri" pitchFamily="34" charset="-122"/>
                <a:cs typeface="Calibri" pitchFamily="34" charset="-120"/>
              </a:rPr>
              <a:t>implementiert</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7" name="Text 15">
            <a:extLst>
              <a:ext uri="{FF2B5EF4-FFF2-40B4-BE49-F238E27FC236}">
                <a16:creationId xmlns:a16="http://schemas.microsoft.com/office/drawing/2014/main" id="{DD446F42-968B-2FBF-CA01-52E3CE87FBD0}"/>
              </a:ext>
            </a:extLst>
          </p:cNvPr>
          <p:cNvSpPr/>
          <p:nvPr/>
        </p:nvSpPr>
        <p:spPr>
          <a:xfrm>
            <a:off x="8229600" y="2670048"/>
            <a:ext cx="2286000" cy="274320"/>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76665B"/>
                </a:solidFill>
                <a:effectLst/>
                <a:uLnTx/>
                <a:uFillTx/>
                <a:latin typeface="Calibri" pitchFamily="34" charset="0"/>
                <a:ea typeface="Calibri" pitchFamily="34" charset="-122"/>
                <a:cs typeface="Calibri" pitchFamily="34" charset="-120"/>
              </a:rPr>
              <a:t>implementiert</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8" name="Shape 16">
            <a:extLst>
              <a:ext uri="{FF2B5EF4-FFF2-40B4-BE49-F238E27FC236}">
                <a16:creationId xmlns:a16="http://schemas.microsoft.com/office/drawing/2014/main" id="{28369F6F-EC90-D4F2-8C6F-2DE9E9597510}"/>
              </a:ext>
            </a:extLst>
          </p:cNvPr>
          <p:cNvSpPr/>
          <p:nvPr/>
        </p:nvSpPr>
        <p:spPr>
          <a:xfrm>
            <a:off x="4800600" y="4069080"/>
            <a:ext cx="777240" cy="0"/>
          </a:xfrm>
          <a:prstGeom prst="line">
            <a:avLst/>
          </a:prstGeom>
          <a:noFill/>
          <a:ln w="22860">
            <a:solidFill>
              <a:srgbClr val="A75B2A"/>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Shape 17">
            <a:extLst>
              <a:ext uri="{FF2B5EF4-FFF2-40B4-BE49-F238E27FC236}">
                <a16:creationId xmlns:a16="http://schemas.microsoft.com/office/drawing/2014/main" id="{DA77EB61-0C53-D3A2-F3D6-973B0DE1EE00}"/>
              </a:ext>
            </a:extLst>
          </p:cNvPr>
          <p:cNvSpPr/>
          <p:nvPr/>
        </p:nvSpPr>
        <p:spPr>
          <a:xfrm flipV="1">
            <a:off x="4800600" y="2651760"/>
            <a:ext cx="0" cy="1417320"/>
          </a:xfrm>
          <a:prstGeom prst="line">
            <a:avLst/>
          </a:prstGeom>
          <a:noFill/>
          <a:ln w="22860">
            <a:solidFill>
              <a:srgbClr val="A75B2A"/>
            </a:solidFill>
            <a:prstDash val="solid"/>
            <a:headEnd type="none"/>
            <a:tailEnd type="triangle"/>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8">
            <a:extLst>
              <a:ext uri="{FF2B5EF4-FFF2-40B4-BE49-F238E27FC236}">
                <a16:creationId xmlns:a16="http://schemas.microsoft.com/office/drawing/2014/main" id="{0A56103F-5150-1897-0A2F-AF941783E2CE}"/>
              </a:ext>
            </a:extLst>
          </p:cNvPr>
          <p:cNvSpPr/>
          <p:nvPr/>
        </p:nvSpPr>
        <p:spPr>
          <a:xfrm>
            <a:off x="3767328" y="4242816"/>
            <a:ext cx="1645920" cy="658368"/>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A75B2A"/>
                </a:solidFill>
                <a:effectLst/>
                <a:uLnTx/>
                <a:uFillTx/>
                <a:latin typeface="Calibri" pitchFamily="34" charset="0"/>
                <a:ea typeface="Calibri" pitchFamily="34" charset="-122"/>
                <a:cs typeface="Calibri" pitchFamily="34" charset="-120"/>
              </a:rPr>
              <a:t>enthält</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A75B2A"/>
                </a:solidFill>
                <a:effectLst/>
                <a:uLnTx/>
                <a:uFillTx/>
                <a:latin typeface="Calibri" pitchFamily="34" charset="0"/>
                <a:ea typeface="Calibri" pitchFamily="34" charset="-122"/>
                <a:cs typeface="Calibri" pitchFamily="34" charset="-120"/>
              </a:rPr>
              <a:t>Getraenk</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21" name="Shape 19">
            <a:extLst>
              <a:ext uri="{FF2B5EF4-FFF2-40B4-BE49-F238E27FC236}">
                <a16:creationId xmlns:a16="http://schemas.microsoft.com/office/drawing/2014/main" id="{7B5E8EE9-3D2F-FF6C-D65B-758232A6413A}"/>
              </a:ext>
            </a:extLst>
          </p:cNvPr>
          <p:cNvSpPr/>
          <p:nvPr/>
        </p:nvSpPr>
        <p:spPr>
          <a:xfrm>
            <a:off x="4572000" y="5193792"/>
            <a:ext cx="2139696" cy="640080"/>
          </a:xfrm>
          <a:prstGeom prst="rect">
            <a:avLst/>
          </a:prstGeom>
          <a:solidFill>
            <a:srgbClr val="E8D6C3"/>
          </a:solidFill>
          <a:ln w="12700">
            <a:solidFill>
              <a:srgbClr val="E8D6C3"/>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 20">
            <a:extLst>
              <a:ext uri="{FF2B5EF4-FFF2-40B4-BE49-F238E27FC236}">
                <a16:creationId xmlns:a16="http://schemas.microsoft.com/office/drawing/2014/main" id="{5E97DA4D-950D-199E-C908-110F0E9DC9FE}"/>
              </a:ext>
            </a:extLst>
          </p:cNvPr>
          <p:cNvSpPr/>
          <p:nvPr/>
        </p:nvSpPr>
        <p:spPr>
          <a:xfrm>
            <a:off x="4736592" y="5367528"/>
            <a:ext cx="1828800" cy="365760"/>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30241F"/>
                </a:solidFill>
                <a:effectLst/>
                <a:uLnTx/>
                <a:uFillTx/>
                <a:latin typeface="Calibri" pitchFamily="34" charset="0"/>
                <a:ea typeface="Calibri" pitchFamily="34" charset="-122"/>
                <a:cs typeface="Calibri" pitchFamily="34" charset="-120"/>
              </a:rPr>
              <a:t>Milch</a:t>
            </a:r>
            <a:endParaRPr kumimoji="0" lang="en-US" sz="2100" b="0" i="0" u="none" strike="noStrike" kern="1200" cap="none" spc="0" normalizeH="0" baseline="0" noProof="0" dirty="0">
              <a:ln>
                <a:noFill/>
              </a:ln>
              <a:solidFill>
                <a:prstClr val="black"/>
              </a:solidFill>
              <a:effectLst/>
              <a:uLnTx/>
              <a:uFillTx/>
              <a:latin typeface="Calibri"/>
              <a:ea typeface="+mn-ea"/>
              <a:cs typeface="+mn-cs"/>
            </a:endParaRPr>
          </a:p>
        </p:txBody>
      </p:sp>
      <p:sp>
        <p:nvSpPr>
          <p:cNvPr id="23" name="Shape 21">
            <a:extLst>
              <a:ext uri="{FF2B5EF4-FFF2-40B4-BE49-F238E27FC236}">
                <a16:creationId xmlns:a16="http://schemas.microsoft.com/office/drawing/2014/main" id="{9E50DCD6-82AF-ECDA-770A-FAEA133C1850}"/>
              </a:ext>
            </a:extLst>
          </p:cNvPr>
          <p:cNvSpPr/>
          <p:nvPr/>
        </p:nvSpPr>
        <p:spPr>
          <a:xfrm flipV="1">
            <a:off x="5641848" y="4389120"/>
            <a:ext cx="2542032" cy="777240"/>
          </a:xfrm>
          <a:prstGeom prst="line">
            <a:avLst/>
          </a:prstGeom>
          <a:noFill/>
          <a:ln w="22860">
            <a:solidFill>
              <a:srgbClr val="76665B"/>
            </a:solidFill>
            <a:prstDash val="solid"/>
            <a:headEnd type="none"/>
            <a:tailEnd type="triangle"/>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Shape 22">
            <a:extLst>
              <a:ext uri="{FF2B5EF4-FFF2-40B4-BE49-F238E27FC236}">
                <a16:creationId xmlns:a16="http://schemas.microsoft.com/office/drawing/2014/main" id="{77D3AA1E-4766-DB76-E93E-53D181D0AB0B}"/>
              </a:ext>
            </a:extLst>
          </p:cNvPr>
          <p:cNvSpPr/>
          <p:nvPr/>
        </p:nvSpPr>
        <p:spPr>
          <a:xfrm>
            <a:off x="6986016" y="5193792"/>
            <a:ext cx="2139696" cy="640080"/>
          </a:xfrm>
          <a:prstGeom prst="rect">
            <a:avLst/>
          </a:prstGeom>
          <a:solidFill>
            <a:srgbClr val="E8D6C3"/>
          </a:solidFill>
          <a:ln w="12700">
            <a:solidFill>
              <a:srgbClr val="E8D6C3"/>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a:extLst>
              <a:ext uri="{FF2B5EF4-FFF2-40B4-BE49-F238E27FC236}">
                <a16:creationId xmlns:a16="http://schemas.microsoft.com/office/drawing/2014/main" id="{9958C885-26DF-D3E3-983F-855D556902BA}"/>
              </a:ext>
            </a:extLst>
          </p:cNvPr>
          <p:cNvSpPr/>
          <p:nvPr/>
        </p:nvSpPr>
        <p:spPr>
          <a:xfrm>
            <a:off x="7150608" y="5367528"/>
            <a:ext cx="1828800" cy="365760"/>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30241F"/>
                </a:solidFill>
                <a:effectLst/>
                <a:uLnTx/>
                <a:uFillTx/>
                <a:latin typeface="Calibri" pitchFamily="34" charset="0"/>
                <a:ea typeface="Calibri" pitchFamily="34" charset="-122"/>
                <a:cs typeface="Calibri" pitchFamily="34" charset="-120"/>
              </a:rPr>
              <a:t>Sirup</a:t>
            </a:r>
            <a:endParaRPr kumimoji="0" lang="en-US" sz="2100" b="0" i="0" u="none" strike="noStrike" kern="1200" cap="none" spc="0" normalizeH="0" baseline="0" noProof="0" dirty="0">
              <a:ln>
                <a:noFill/>
              </a:ln>
              <a:solidFill>
                <a:prstClr val="black"/>
              </a:solidFill>
              <a:effectLst/>
              <a:uLnTx/>
              <a:uFillTx/>
              <a:latin typeface="Calibri"/>
              <a:ea typeface="+mn-ea"/>
              <a:cs typeface="+mn-cs"/>
            </a:endParaRPr>
          </a:p>
        </p:txBody>
      </p:sp>
      <p:sp>
        <p:nvSpPr>
          <p:cNvPr id="26" name="Shape 24">
            <a:extLst>
              <a:ext uri="{FF2B5EF4-FFF2-40B4-BE49-F238E27FC236}">
                <a16:creationId xmlns:a16="http://schemas.microsoft.com/office/drawing/2014/main" id="{83BB58EC-59B0-A3D5-93A0-9DB35BD3B4F2}"/>
              </a:ext>
            </a:extLst>
          </p:cNvPr>
          <p:cNvSpPr/>
          <p:nvPr/>
        </p:nvSpPr>
        <p:spPr>
          <a:xfrm flipV="1">
            <a:off x="8055864" y="4389120"/>
            <a:ext cx="128016" cy="777240"/>
          </a:xfrm>
          <a:prstGeom prst="line">
            <a:avLst/>
          </a:prstGeom>
          <a:noFill/>
          <a:ln w="22860">
            <a:solidFill>
              <a:srgbClr val="76665B"/>
            </a:solidFill>
            <a:prstDash val="solid"/>
            <a:headEnd type="none"/>
            <a:tailEnd type="triangle"/>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Shape 25">
            <a:extLst>
              <a:ext uri="{FF2B5EF4-FFF2-40B4-BE49-F238E27FC236}">
                <a16:creationId xmlns:a16="http://schemas.microsoft.com/office/drawing/2014/main" id="{95C762F4-D06D-55D6-D38B-B64E320152FF}"/>
              </a:ext>
            </a:extLst>
          </p:cNvPr>
          <p:cNvSpPr/>
          <p:nvPr/>
        </p:nvSpPr>
        <p:spPr>
          <a:xfrm>
            <a:off x="9400032" y="5193792"/>
            <a:ext cx="2139696" cy="640080"/>
          </a:xfrm>
          <a:prstGeom prst="rect">
            <a:avLst/>
          </a:prstGeom>
          <a:solidFill>
            <a:srgbClr val="E8D6C3"/>
          </a:solidFill>
          <a:ln w="12700">
            <a:solidFill>
              <a:srgbClr val="E8D6C3"/>
            </a:solidFill>
            <a:prstDash val="soli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6">
            <a:extLst>
              <a:ext uri="{FF2B5EF4-FFF2-40B4-BE49-F238E27FC236}">
                <a16:creationId xmlns:a16="http://schemas.microsoft.com/office/drawing/2014/main" id="{0E702EBB-9641-1A98-9F94-B72767E07CE1}"/>
              </a:ext>
            </a:extLst>
          </p:cNvPr>
          <p:cNvSpPr/>
          <p:nvPr/>
        </p:nvSpPr>
        <p:spPr>
          <a:xfrm>
            <a:off x="9564624" y="5367528"/>
            <a:ext cx="1828800" cy="365760"/>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30241F"/>
                </a:solidFill>
                <a:effectLst/>
                <a:uLnTx/>
                <a:uFillTx/>
                <a:latin typeface="Calibri" pitchFamily="34" charset="0"/>
                <a:ea typeface="Calibri" pitchFamily="34" charset="-122"/>
                <a:cs typeface="Calibri" pitchFamily="34" charset="-120"/>
              </a:rPr>
              <a:t>Sahne</a:t>
            </a:r>
            <a:endParaRPr kumimoji="0" lang="en-US" sz="2100" b="0" i="0" u="none" strike="noStrike" kern="1200" cap="none" spc="0" normalizeH="0" baseline="0" noProof="0" dirty="0">
              <a:ln>
                <a:noFill/>
              </a:ln>
              <a:solidFill>
                <a:prstClr val="black"/>
              </a:solidFill>
              <a:effectLst/>
              <a:uLnTx/>
              <a:uFillTx/>
              <a:latin typeface="Calibri"/>
              <a:ea typeface="+mn-ea"/>
              <a:cs typeface="+mn-cs"/>
            </a:endParaRPr>
          </a:p>
        </p:txBody>
      </p:sp>
      <p:sp>
        <p:nvSpPr>
          <p:cNvPr id="29" name="Shape 27">
            <a:extLst>
              <a:ext uri="{FF2B5EF4-FFF2-40B4-BE49-F238E27FC236}">
                <a16:creationId xmlns:a16="http://schemas.microsoft.com/office/drawing/2014/main" id="{36A3ADBE-135F-7291-45D3-7245199F6B56}"/>
              </a:ext>
            </a:extLst>
          </p:cNvPr>
          <p:cNvSpPr/>
          <p:nvPr/>
        </p:nvSpPr>
        <p:spPr>
          <a:xfrm flipH="1" flipV="1">
            <a:off x="8183880" y="4389120"/>
            <a:ext cx="2286000" cy="777240"/>
          </a:xfrm>
          <a:prstGeom prst="line">
            <a:avLst/>
          </a:prstGeom>
          <a:noFill/>
          <a:ln w="22860">
            <a:solidFill>
              <a:srgbClr val="76665B"/>
            </a:solidFill>
            <a:prstDash val="solid"/>
            <a:headEnd type="none"/>
            <a:tailEnd type="triangle"/>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8">
            <a:extLst>
              <a:ext uri="{FF2B5EF4-FFF2-40B4-BE49-F238E27FC236}">
                <a16:creationId xmlns:a16="http://schemas.microsoft.com/office/drawing/2014/main" id="{9F956227-5E6E-474C-07CC-076CE5B2CBDE}"/>
              </a:ext>
            </a:extLst>
          </p:cNvPr>
          <p:cNvSpPr/>
          <p:nvPr/>
        </p:nvSpPr>
        <p:spPr>
          <a:xfrm>
            <a:off x="731520" y="4956048"/>
            <a:ext cx="3246120" cy="914400"/>
          </a:xfrm>
          <a:prstGeom prst="rect">
            <a:avLst/>
          </a:prstGeom>
          <a:noFill/>
          <a:ln/>
        </p:spPr>
        <p:txBody>
          <a:bodyPr wrap="square" lIns="0" tIns="0" rIns="0" bIns="0"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0241F"/>
                </a:solidFill>
                <a:effectLst/>
                <a:uLnTx/>
                <a:uFillTx/>
                <a:latin typeface="Calibri" pitchFamily="34" charset="0"/>
                <a:ea typeface="Calibri" pitchFamily="34" charset="-122"/>
                <a:cs typeface="Calibri" pitchFamily="34" charset="-120"/>
              </a:rPr>
              <a:t>Die Zusätze erben vom GetraenkDekorierer.</a:t>
            </a: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43925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0E7"/>
        </a:solidFill>
        <a:effectLst/>
      </p:bgPr>
    </p:bg>
    <p:spTree>
      <p:nvGrpSpPr>
        <p:cNvPr id="1" name=""/>
        <p:cNvGrpSpPr/>
        <p:nvPr/>
      </p:nvGrpSpPr>
      <p:grpSpPr>
        <a:xfrm>
          <a:off x="0" y="0"/>
          <a:ext cx="0" cy="0"/>
          <a:chOff x="0" y="0"/>
          <a:chExt cx="0" cy="0"/>
        </a:xfrm>
      </p:grpSpPr>
      <p:sp>
        <p:nvSpPr>
          <p:cNvPr id="2" name="Text 0"/>
          <p:cNvSpPr/>
          <p:nvPr/>
        </p:nvSpPr>
        <p:spPr>
          <a:xfrm>
            <a:off x="594360" y="228600"/>
            <a:ext cx="10058400" cy="256032"/>
          </a:xfrm>
          <a:prstGeom prst="rect">
            <a:avLst/>
          </a:prstGeom>
          <a:noFill/>
          <a:ln/>
        </p:spPr>
        <p:txBody>
          <a:bodyPr wrap="square" lIns="0" tIns="0" rIns="0" bIns="0" rtlCol="0" anchor="t"/>
          <a:lstStyle/>
          <a:p>
            <a:pPr marL="0" indent="0">
              <a:buNone/>
            </a:pPr>
            <a:r>
              <a:rPr lang="en-US" sz="1100" b="1" kern="0" spc="180" dirty="0">
                <a:solidFill>
                  <a:srgbClr val="76665B"/>
                </a:solidFill>
                <a:latin typeface="Calibri" pitchFamily="34" charset="0"/>
                <a:ea typeface="Calibri" pitchFamily="34" charset="-122"/>
                <a:cs typeface="Calibri" pitchFamily="34" charset="-120"/>
              </a:rPr>
              <a:t>02 / Delegation</a:t>
            </a:r>
            <a:endParaRPr lang="en-US" sz="1100" dirty="0"/>
          </a:p>
        </p:txBody>
      </p:sp>
      <p:sp>
        <p:nvSpPr>
          <p:cNvPr id="3" name="Text 1"/>
          <p:cNvSpPr/>
          <p:nvPr/>
        </p:nvSpPr>
        <p:spPr>
          <a:xfrm>
            <a:off x="594360" y="585216"/>
            <a:ext cx="10972800" cy="941832"/>
          </a:xfrm>
          <a:prstGeom prst="rect">
            <a:avLst/>
          </a:prstGeom>
          <a:noFill/>
          <a:ln/>
        </p:spPr>
        <p:txBody>
          <a:bodyPr wrap="square" lIns="0" tIns="0" rIns="0" bIns="0" rtlCol="0" anchor="t"/>
          <a:lstStyle/>
          <a:p>
            <a:pPr marL="0" indent="0">
              <a:buNone/>
            </a:pPr>
            <a:r>
              <a:rPr lang="en-US" sz="3600" b="1" dirty="0">
                <a:solidFill>
                  <a:srgbClr val="30241F"/>
                </a:solidFill>
                <a:latin typeface="Georgia" pitchFamily="34" charset="0"/>
                <a:ea typeface="Georgia" pitchFamily="34" charset="-122"/>
                <a:cs typeface="Georgia" pitchFamily="34" charset="-120"/>
              </a:rPr>
              <a:t>Preisberechnung durch die Objektkette</a:t>
            </a:r>
            <a:endParaRPr lang="en-US" sz="3600" dirty="0"/>
          </a:p>
        </p:txBody>
      </p:sp>
      <p:sp>
        <p:nvSpPr>
          <p:cNvPr id="4" name="Text 2"/>
          <p:cNvSpPr/>
          <p:nvPr/>
        </p:nvSpPr>
        <p:spPr>
          <a:xfrm>
            <a:off x="594360" y="6510528"/>
            <a:ext cx="9144000" cy="201168"/>
          </a:xfrm>
          <a:prstGeom prst="rect">
            <a:avLst/>
          </a:prstGeom>
          <a:noFill/>
          <a:ln/>
        </p:spPr>
        <p:txBody>
          <a:bodyPr wrap="square" lIns="0" tIns="0" rIns="0" bIns="0" rtlCol="0" anchor="t"/>
          <a:lstStyle/>
          <a:p>
            <a:pPr marL="0" indent="0">
              <a:buNone/>
            </a:pPr>
            <a:r>
              <a:rPr lang="en-US" sz="1000" dirty="0">
                <a:solidFill>
                  <a:srgbClr val="76665B"/>
                </a:solidFill>
                <a:latin typeface="Calibri" pitchFamily="34" charset="0"/>
                <a:ea typeface="Calibri" pitchFamily="34" charset="-122"/>
                <a:cs typeface="Calibri" pitchFamily="34" charset="-120"/>
              </a:rPr>
              <a:t>Kaffee mit Zusätzen · Java-Demo + Python-Übung</a:t>
            </a:r>
            <a:endParaRPr lang="en-US" sz="1000" dirty="0"/>
          </a:p>
        </p:txBody>
      </p:sp>
      <p:sp>
        <p:nvSpPr>
          <p:cNvPr id="5" name="Text 3"/>
          <p:cNvSpPr/>
          <p:nvPr/>
        </p:nvSpPr>
        <p:spPr>
          <a:xfrm>
            <a:off x="11082528" y="6455664"/>
            <a:ext cx="502920" cy="274320"/>
          </a:xfrm>
          <a:prstGeom prst="rect">
            <a:avLst/>
          </a:prstGeom>
          <a:noFill/>
          <a:ln/>
        </p:spPr>
        <p:txBody>
          <a:bodyPr wrap="square" lIns="0" tIns="0" rIns="0" bIns="0" rtlCol="0" anchor="t"/>
          <a:lstStyle/>
          <a:p>
            <a:pPr marL="0" indent="0" algn="r">
              <a:buNone/>
            </a:pPr>
            <a:r>
              <a:rPr lang="en-US" sz="1200" dirty="0">
                <a:solidFill>
                  <a:srgbClr val="76665B"/>
                </a:solidFill>
                <a:latin typeface="Calibri" pitchFamily="34" charset="0"/>
                <a:ea typeface="Calibri" pitchFamily="34" charset="-122"/>
                <a:cs typeface="Calibri" pitchFamily="34" charset="-120"/>
              </a:rPr>
              <a:t>06</a:t>
            </a:r>
            <a:endParaRPr lang="en-US" sz="1200" dirty="0"/>
          </a:p>
        </p:txBody>
      </p:sp>
      <p:sp>
        <p:nvSpPr>
          <p:cNvPr id="6" name="Text 4"/>
          <p:cNvSpPr/>
          <p:nvPr/>
        </p:nvSpPr>
        <p:spPr>
          <a:xfrm>
            <a:off x="685800" y="1691640"/>
            <a:ext cx="9144000" cy="256032"/>
          </a:xfrm>
          <a:prstGeom prst="rect">
            <a:avLst/>
          </a:prstGeom>
          <a:noFill/>
          <a:ln/>
        </p:spPr>
        <p:txBody>
          <a:bodyPr wrap="square" lIns="0" tIns="0" rIns="0" bIns="0" rtlCol="0" anchor="t"/>
          <a:lstStyle/>
          <a:p>
            <a:pPr marL="0" indent="0">
              <a:buNone/>
            </a:pPr>
            <a:r>
              <a:rPr lang="en-US" sz="1100" b="1" kern="0" spc="180" dirty="0">
                <a:solidFill>
                  <a:srgbClr val="76665B"/>
                </a:solidFill>
                <a:latin typeface="Calibri" pitchFamily="34" charset="0"/>
                <a:ea typeface="Calibri" pitchFamily="34" charset="-122"/>
                <a:cs typeface="Calibri" pitchFamily="34" charset="-120"/>
              </a:rPr>
              <a:t>AUFRUF: GETPREIS()</a:t>
            </a:r>
            <a:endParaRPr lang="en-US" sz="1100" dirty="0"/>
          </a:p>
        </p:txBody>
      </p:sp>
      <p:sp>
        <p:nvSpPr>
          <p:cNvPr id="7" name="Shape 5"/>
          <p:cNvSpPr/>
          <p:nvPr/>
        </p:nvSpPr>
        <p:spPr>
          <a:xfrm>
            <a:off x="685800" y="2258568"/>
            <a:ext cx="3246120" cy="941832"/>
          </a:xfrm>
          <a:prstGeom prst="rect">
            <a:avLst/>
          </a:prstGeom>
          <a:solidFill>
            <a:srgbClr val="FFFCF7"/>
          </a:solidFill>
          <a:ln w="12700">
            <a:solidFill>
              <a:srgbClr val="FFFCF7"/>
            </a:solidFill>
            <a:prstDash val="solid"/>
          </a:ln>
        </p:spPr>
        <p:txBody>
          <a:bodyPr/>
          <a:lstStyle/>
          <a:p>
            <a:endParaRPr lang="de-DE"/>
          </a:p>
        </p:txBody>
      </p:sp>
      <p:sp>
        <p:nvSpPr>
          <p:cNvPr id="8" name="Text 6"/>
          <p:cNvSpPr/>
          <p:nvPr/>
        </p:nvSpPr>
        <p:spPr>
          <a:xfrm>
            <a:off x="914400" y="2542032"/>
            <a:ext cx="2743200" cy="457200"/>
          </a:xfrm>
          <a:prstGeom prst="rect">
            <a:avLst/>
          </a:prstGeom>
          <a:noFill/>
          <a:ln/>
        </p:spPr>
        <p:txBody>
          <a:bodyPr wrap="square" lIns="0" tIns="0" rIns="0" bIns="0" rtlCol="0" anchor="t"/>
          <a:lstStyle/>
          <a:p>
            <a:pPr marL="0" indent="0">
              <a:buNone/>
            </a:pPr>
            <a:r>
              <a:rPr lang="en-US" sz="2600" b="1" dirty="0">
                <a:solidFill>
                  <a:srgbClr val="30241F"/>
                </a:solidFill>
                <a:latin typeface="Calibri" pitchFamily="34" charset="0"/>
                <a:ea typeface="Calibri" pitchFamily="34" charset="-122"/>
                <a:cs typeface="Calibri" pitchFamily="34" charset="-120"/>
              </a:rPr>
              <a:t>Sirup</a:t>
            </a:r>
            <a:endParaRPr lang="en-US" sz="2600" dirty="0"/>
          </a:p>
        </p:txBody>
      </p:sp>
      <p:sp>
        <p:nvSpPr>
          <p:cNvPr id="9" name="Shape 7"/>
          <p:cNvSpPr/>
          <p:nvPr/>
        </p:nvSpPr>
        <p:spPr>
          <a:xfrm>
            <a:off x="4434840" y="2258568"/>
            <a:ext cx="3246120" cy="941832"/>
          </a:xfrm>
          <a:prstGeom prst="rect">
            <a:avLst/>
          </a:prstGeom>
          <a:solidFill>
            <a:srgbClr val="FFFCF7"/>
          </a:solidFill>
          <a:ln w="12700">
            <a:solidFill>
              <a:srgbClr val="FFFCF7"/>
            </a:solidFill>
            <a:prstDash val="solid"/>
          </a:ln>
        </p:spPr>
        <p:txBody>
          <a:bodyPr/>
          <a:lstStyle/>
          <a:p>
            <a:endParaRPr lang="de-DE"/>
          </a:p>
        </p:txBody>
      </p:sp>
      <p:sp>
        <p:nvSpPr>
          <p:cNvPr id="10" name="Text 8"/>
          <p:cNvSpPr/>
          <p:nvPr/>
        </p:nvSpPr>
        <p:spPr>
          <a:xfrm>
            <a:off x="4663440" y="2542032"/>
            <a:ext cx="2743200" cy="457200"/>
          </a:xfrm>
          <a:prstGeom prst="rect">
            <a:avLst/>
          </a:prstGeom>
          <a:noFill/>
          <a:ln/>
        </p:spPr>
        <p:txBody>
          <a:bodyPr wrap="square" lIns="0" tIns="0" rIns="0" bIns="0" rtlCol="0" anchor="t"/>
          <a:lstStyle/>
          <a:p>
            <a:pPr marL="0" indent="0">
              <a:buNone/>
            </a:pPr>
            <a:r>
              <a:rPr lang="en-US" sz="2600" b="1" dirty="0">
                <a:solidFill>
                  <a:srgbClr val="30241F"/>
                </a:solidFill>
                <a:latin typeface="Calibri" pitchFamily="34" charset="0"/>
                <a:ea typeface="Calibri" pitchFamily="34" charset="-122"/>
                <a:cs typeface="Calibri" pitchFamily="34" charset="-120"/>
              </a:rPr>
              <a:t>Milch</a:t>
            </a:r>
            <a:endParaRPr lang="en-US" sz="2600" dirty="0"/>
          </a:p>
        </p:txBody>
      </p:sp>
      <p:sp>
        <p:nvSpPr>
          <p:cNvPr id="11" name="Shape 9"/>
          <p:cNvSpPr/>
          <p:nvPr/>
        </p:nvSpPr>
        <p:spPr>
          <a:xfrm>
            <a:off x="8183880" y="2258568"/>
            <a:ext cx="3246120" cy="941832"/>
          </a:xfrm>
          <a:prstGeom prst="rect">
            <a:avLst/>
          </a:prstGeom>
          <a:solidFill>
            <a:srgbClr val="45634D"/>
          </a:solidFill>
          <a:ln w="12700">
            <a:solidFill>
              <a:srgbClr val="45634D"/>
            </a:solidFill>
            <a:prstDash val="solid"/>
          </a:ln>
        </p:spPr>
        <p:txBody>
          <a:bodyPr/>
          <a:lstStyle/>
          <a:p>
            <a:endParaRPr lang="de-DE"/>
          </a:p>
        </p:txBody>
      </p:sp>
      <p:sp>
        <p:nvSpPr>
          <p:cNvPr id="12" name="Text 10"/>
          <p:cNvSpPr/>
          <p:nvPr/>
        </p:nvSpPr>
        <p:spPr>
          <a:xfrm>
            <a:off x="8412480" y="2542032"/>
            <a:ext cx="2743200" cy="457200"/>
          </a:xfrm>
          <a:prstGeom prst="rect">
            <a:avLst/>
          </a:prstGeom>
          <a:noFill/>
          <a:ln/>
        </p:spPr>
        <p:txBody>
          <a:bodyPr wrap="square" lIns="0" tIns="0" rIns="0" bIns="0" rtlCol="0" anchor="t"/>
          <a:lstStyle/>
          <a:p>
            <a:pPr marL="0" indent="0">
              <a:buNone/>
            </a:pPr>
            <a:r>
              <a:rPr lang="en-US" sz="2600" b="1" dirty="0">
                <a:solidFill>
                  <a:srgbClr val="FFFFFF"/>
                </a:solidFill>
                <a:latin typeface="Calibri" pitchFamily="34" charset="0"/>
                <a:ea typeface="Calibri" pitchFamily="34" charset="-122"/>
                <a:cs typeface="Calibri" pitchFamily="34" charset="-120"/>
              </a:rPr>
              <a:t>Espresso</a:t>
            </a:r>
            <a:endParaRPr lang="en-US" sz="2600" dirty="0"/>
          </a:p>
        </p:txBody>
      </p:sp>
      <p:sp>
        <p:nvSpPr>
          <p:cNvPr id="13" name="Shape 11"/>
          <p:cNvSpPr/>
          <p:nvPr/>
        </p:nvSpPr>
        <p:spPr>
          <a:xfrm>
            <a:off x="3959352" y="2724912"/>
            <a:ext cx="429768" cy="0"/>
          </a:xfrm>
          <a:prstGeom prst="line">
            <a:avLst/>
          </a:prstGeom>
          <a:noFill/>
          <a:ln w="22860">
            <a:solidFill>
              <a:srgbClr val="A75B2A"/>
            </a:solidFill>
            <a:prstDash val="solid"/>
            <a:headEnd type="none"/>
            <a:tailEnd type="triangle"/>
          </a:ln>
        </p:spPr>
        <p:txBody>
          <a:bodyPr/>
          <a:lstStyle/>
          <a:p>
            <a:endParaRPr lang="de-DE"/>
          </a:p>
        </p:txBody>
      </p:sp>
      <p:sp>
        <p:nvSpPr>
          <p:cNvPr id="14" name="Shape 12"/>
          <p:cNvSpPr/>
          <p:nvPr/>
        </p:nvSpPr>
        <p:spPr>
          <a:xfrm>
            <a:off x="7708392" y="2724912"/>
            <a:ext cx="429768" cy="0"/>
          </a:xfrm>
          <a:prstGeom prst="line">
            <a:avLst/>
          </a:prstGeom>
          <a:noFill/>
          <a:ln w="22860">
            <a:solidFill>
              <a:srgbClr val="A75B2A"/>
            </a:solidFill>
            <a:prstDash val="solid"/>
            <a:headEnd type="none"/>
            <a:tailEnd type="triangle"/>
          </a:ln>
        </p:spPr>
        <p:txBody>
          <a:bodyPr/>
          <a:lstStyle/>
          <a:p>
            <a:endParaRPr lang="de-DE"/>
          </a:p>
        </p:txBody>
      </p:sp>
      <p:sp>
        <p:nvSpPr>
          <p:cNvPr id="15" name="Text 13"/>
          <p:cNvSpPr/>
          <p:nvPr/>
        </p:nvSpPr>
        <p:spPr>
          <a:xfrm>
            <a:off x="914400" y="3648456"/>
            <a:ext cx="2743200" cy="512064"/>
          </a:xfrm>
          <a:prstGeom prst="rect">
            <a:avLst/>
          </a:prstGeom>
          <a:noFill/>
          <a:ln/>
        </p:spPr>
        <p:txBody>
          <a:bodyPr wrap="square" lIns="0" tIns="0" rIns="0" bIns="0" rtlCol="0" anchor="t"/>
          <a:lstStyle/>
          <a:p>
            <a:pPr marL="0" indent="0">
              <a:buNone/>
            </a:pPr>
            <a:r>
              <a:rPr lang="en-US" sz="3000" b="1" dirty="0">
                <a:solidFill>
                  <a:srgbClr val="30241F"/>
                </a:solidFill>
                <a:latin typeface="Calibri" pitchFamily="34" charset="0"/>
                <a:ea typeface="Calibri" pitchFamily="34" charset="-122"/>
                <a:cs typeface="Calibri" pitchFamily="34" charset="-120"/>
              </a:rPr>
              <a:t>3,20 Euro</a:t>
            </a:r>
            <a:endParaRPr lang="en-US" sz="3000" dirty="0"/>
          </a:p>
        </p:txBody>
      </p:sp>
      <p:sp>
        <p:nvSpPr>
          <p:cNvPr id="16" name="Text 14"/>
          <p:cNvSpPr/>
          <p:nvPr/>
        </p:nvSpPr>
        <p:spPr>
          <a:xfrm>
            <a:off x="4663440" y="3648456"/>
            <a:ext cx="2743200" cy="512064"/>
          </a:xfrm>
          <a:prstGeom prst="rect">
            <a:avLst/>
          </a:prstGeom>
          <a:noFill/>
          <a:ln/>
        </p:spPr>
        <p:txBody>
          <a:bodyPr wrap="square" lIns="0" tIns="0" rIns="0" bIns="0" rtlCol="0" anchor="t"/>
          <a:lstStyle/>
          <a:p>
            <a:pPr marL="0" indent="0">
              <a:buNone/>
            </a:pPr>
            <a:r>
              <a:rPr lang="en-US" sz="3000" b="1" dirty="0">
                <a:solidFill>
                  <a:srgbClr val="30241F"/>
                </a:solidFill>
                <a:latin typeface="Calibri" pitchFamily="34" charset="0"/>
                <a:ea typeface="Calibri" pitchFamily="34" charset="-122"/>
                <a:cs typeface="Calibri" pitchFamily="34" charset="-120"/>
              </a:rPr>
              <a:t>2,50 Euro</a:t>
            </a:r>
            <a:endParaRPr lang="en-US" sz="3000" dirty="0"/>
          </a:p>
        </p:txBody>
      </p:sp>
      <p:sp>
        <p:nvSpPr>
          <p:cNvPr id="17" name="Text 15"/>
          <p:cNvSpPr/>
          <p:nvPr/>
        </p:nvSpPr>
        <p:spPr>
          <a:xfrm>
            <a:off x="8412480" y="3648456"/>
            <a:ext cx="2743200" cy="512064"/>
          </a:xfrm>
          <a:prstGeom prst="rect">
            <a:avLst/>
          </a:prstGeom>
          <a:noFill/>
          <a:ln/>
        </p:spPr>
        <p:txBody>
          <a:bodyPr wrap="square" lIns="0" tIns="0" rIns="0" bIns="0" rtlCol="0" anchor="t"/>
          <a:lstStyle/>
          <a:p>
            <a:pPr marL="0" indent="0">
              <a:buNone/>
            </a:pPr>
            <a:r>
              <a:rPr lang="en-US" sz="3000" b="1" dirty="0">
                <a:solidFill>
                  <a:srgbClr val="30241F"/>
                </a:solidFill>
                <a:latin typeface="Calibri" pitchFamily="34" charset="0"/>
                <a:ea typeface="Calibri" pitchFamily="34" charset="-122"/>
                <a:cs typeface="Calibri" pitchFamily="34" charset="-120"/>
              </a:rPr>
              <a:t>2,00 Euro</a:t>
            </a:r>
            <a:endParaRPr lang="en-US" sz="3000" dirty="0"/>
          </a:p>
        </p:txBody>
      </p:sp>
      <p:sp>
        <p:nvSpPr>
          <p:cNvPr id="18" name="Shape 16"/>
          <p:cNvSpPr/>
          <p:nvPr/>
        </p:nvSpPr>
        <p:spPr>
          <a:xfrm flipH="1">
            <a:off x="7680960" y="3886200"/>
            <a:ext cx="365760" cy="0"/>
          </a:xfrm>
          <a:prstGeom prst="line">
            <a:avLst/>
          </a:prstGeom>
          <a:noFill/>
          <a:ln w="22860">
            <a:solidFill>
              <a:srgbClr val="45634D"/>
            </a:solidFill>
            <a:prstDash val="solid"/>
            <a:headEnd type="none"/>
            <a:tailEnd type="triangle"/>
          </a:ln>
        </p:spPr>
        <p:txBody>
          <a:bodyPr/>
          <a:lstStyle/>
          <a:p>
            <a:endParaRPr lang="de-DE"/>
          </a:p>
        </p:txBody>
      </p:sp>
      <p:sp>
        <p:nvSpPr>
          <p:cNvPr id="19" name="Shape 17"/>
          <p:cNvSpPr/>
          <p:nvPr/>
        </p:nvSpPr>
        <p:spPr>
          <a:xfrm flipH="1">
            <a:off x="3931920" y="3886200"/>
            <a:ext cx="365760" cy="0"/>
          </a:xfrm>
          <a:prstGeom prst="line">
            <a:avLst/>
          </a:prstGeom>
          <a:noFill/>
          <a:ln w="22860">
            <a:solidFill>
              <a:srgbClr val="45634D"/>
            </a:solidFill>
            <a:prstDash val="solid"/>
            <a:headEnd type="none"/>
            <a:tailEnd type="triangle"/>
          </a:ln>
        </p:spPr>
        <p:txBody>
          <a:bodyPr/>
          <a:lstStyle/>
          <a:p>
            <a:endParaRPr lang="de-DE"/>
          </a:p>
        </p:txBody>
      </p:sp>
      <p:sp>
        <p:nvSpPr>
          <p:cNvPr id="20" name="Text 18"/>
          <p:cNvSpPr/>
          <p:nvPr/>
        </p:nvSpPr>
        <p:spPr>
          <a:xfrm>
            <a:off x="914400" y="4315968"/>
            <a:ext cx="2743200" cy="365760"/>
          </a:xfrm>
          <a:prstGeom prst="rect">
            <a:avLst/>
          </a:prstGeom>
          <a:noFill/>
          <a:ln/>
        </p:spPr>
        <p:txBody>
          <a:bodyPr wrap="square" lIns="0" tIns="0" rIns="0" bIns="0" rtlCol="0" anchor="t"/>
          <a:lstStyle/>
          <a:p>
            <a:pPr marL="0" indent="0">
              <a:buNone/>
            </a:pPr>
            <a:r>
              <a:rPr lang="en-US" sz="2000" dirty="0">
                <a:solidFill>
                  <a:srgbClr val="76665B"/>
                </a:solidFill>
                <a:latin typeface="Calibri" pitchFamily="34" charset="0"/>
                <a:ea typeface="Calibri" pitchFamily="34" charset="-122"/>
                <a:cs typeface="Calibri" pitchFamily="34" charset="-120"/>
              </a:rPr>
              <a:t>+ 0,70 Euro</a:t>
            </a:r>
            <a:endParaRPr lang="en-US" sz="2000" dirty="0"/>
          </a:p>
        </p:txBody>
      </p:sp>
      <p:sp>
        <p:nvSpPr>
          <p:cNvPr id="21" name="Text 19"/>
          <p:cNvSpPr/>
          <p:nvPr/>
        </p:nvSpPr>
        <p:spPr>
          <a:xfrm>
            <a:off x="4663440" y="4315968"/>
            <a:ext cx="2743200" cy="365760"/>
          </a:xfrm>
          <a:prstGeom prst="rect">
            <a:avLst/>
          </a:prstGeom>
          <a:noFill/>
          <a:ln/>
        </p:spPr>
        <p:txBody>
          <a:bodyPr wrap="square" lIns="0" tIns="0" rIns="0" bIns="0" rtlCol="0" anchor="t"/>
          <a:lstStyle/>
          <a:p>
            <a:pPr marL="0" indent="0">
              <a:buNone/>
            </a:pPr>
            <a:r>
              <a:rPr lang="en-US" sz="2000" dirty="0">
                <a:solidFill>
                  <a:srgbClr val="76665B"/>
                </a:solidFill>
                <a:latin typeface="Calibri" pitchFamily="34" charset="0"/>
                <a:ea typeface="Calibri" pitchFamily="34" charset="-122"/>
                <a:cs typeface="Calibri" pitchFamily="34" charset="-120"/>
              </a:rPr>
              <a:t>+ 0,50 Euro</a:t>
            </a:r>
            <a:endParaRPr lang="en-US" sz="2000" dirty="0"/>
          </a:p>
        </p:txBody>
      </p:sp>
      <p:sp>
        <p:nvSpPr>
          <p:cNvPr id="22" name="Text 20"/>
          <p:cNvSpPr/>
          <p:nvPr/>
        </p:nvSpPr>
        <p:spPr>
          <a:xfrm>
            <a:off x="8412480" y="4315968"/>
            <a:ext cx="2743200" cy="365760"/>
          </a:xfrm>
          <a:prstGeom prst="rect">
            <a:avLst/>
          </a:prstGeom>
          <a:noFill/>
          <a:ln/>
        </p:spPr>
        <p:txBody>
          <a:bodyPr wrap="square" lIns="0" tIns="0" rIns="0" bIns="0" rtlCol="0" anchor="t"/>
          <a:lstStyle/>
          <a:p>
            <a:pPr marL="0" indent="0">
              <a:buNone/>
            </a:pPr>
            <a:r>
              <a:rPr lang="en-US" sz="2000" dirty="0">
                <a:solidFill>
                  <a:srgbClr val="76665B"/>
                </a:solidFill>
                <a:latin typeface="Calibri" pitchFamily="34" charset="0"/>
                <a:ea typeface="Calibri" pitchFamily="34" charset="-122"/>
                <a:cs typeface="Calibri" pitchFamily="34" charset="-120"/>
              </a:rPr>
              <a:t>Grundpreis</a:t>
            </a:r>
            <a:endParaRPr lang="en-US" sz="2000" dirty="0"/>
          </a:p>
        </p:txBody>
      </p:sp>
      <p:sp>
        <p:nvSpPr>
          <p:cNvPr id="23" name="Shape 21"/>
          <p:cNvSpPr/>
          <p:nvPr/>
        </p:nvSpPr>
        <p:spPr>
          <a:xfrm>
            <a:off x="685800" y="5157216"/>
            <a:ext cx="10789920" cy="777240"/>
          </a:xfrm>
          <a:prstGeom prst="rect">
            <a:avLst/>
          </a:prstGeom>
          <a:solidFill>
            <a:srgbClr val="E8D6C3"/>
          </a:solidFill>
          <a:ln w="12700">
            <a:solidFill>
              <a:srgbClr val="E8D6C3"/>
            </a:solidFill>
            <a:prstDash val="solid"/>
          </a:ln>
        </p:spPr>
        <p:txBody>
          <a:bodyPr/>
          <a:lstStyle/>
          <a:p>
            <a:endParaRPr lang="de-DE"/>
          </a:p>
        </p:txBody>
      </p:sp>
      <p:sp>
        <p:nvSpPr>
          <p:cNvPr id="24" name="Text 22"/>
          <p:cNvSpPr/>
          <p:nvPr/>
        </p:nvSpPr>
        <p:spPr>
          <a:xfrm>
            <a:off x="932688" y="5358384"/>
            <a:ext cx="10287000" cy="393192"/>
          </a:xfrm>
          <a:prstGeom prst="rect">
            <a:avLst/>
          </a:prstGeom>
          <a:noFill/>
          <a:ln/>
        </p:spPr>
        <p:txBody>
          <a:bodyPr wrap="square" lIns="0" tIns="0" rIns="0" bIns="0" rtlCol="0" anchor="t"/>
          <a:lstStyle/>
          <a:p>
            <a:pPr marL="0" indent="0">
              <a:buNone/>
            </a:pPr>
            <a:r>
              <a:rPr lang="en-US" sz="2700" b="1" dirty="0">
                <a:solidFill>
                  <a:srgbClr val="30241F"/>
                </a:solidFill>
                <a:latin typeface="Calibri" pitchFamily="34" charset="0"/>
                <a:ea typeface="Calibri" pitchFamily="34" charset="-122"/>
                <a:cs typeface="Calibri" pitchFamily="34" charset="-120"/>
              </a:rPr>
              <a:t>2,00 + 0,50 + 0,70 = 3,20 Euro</a:t>
            </a:r>
            <a:endParaRPr lang="en-US" sz="2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0E7"/>
        </a:solidFill>
        <a:effectLst/>
      </p:bgPr>
    </p:bg>
    <p:spTree>
      <p:nvGrpSpPr>
        <p:cNvPr id="1" name=""/>
        <p:cNvGrpSpPr/>
        <p:nvPr/>
      </p:nvGrpSpPr>
      <p:grpSpPr>
        <a:xfrm>
          <a:off x="0" y="0"/>
          <a:ext cx="0" cy="0"/>
          <a:chOff x="0" y="0"/>
          <a:chExt cx="0" cy="0"/>
        </a:xfrm>
      </p:grpSpPr>
      <p:sp>
        <p:nvSpPr>
          <p:cNvPr id="2" name="Text 0"/>
          <p:cNvSpPr/>
          <p:nvPr/>
        </p:nvSpPr>
        <p:spPr>
          <a:xfrm>
            <a:off x="594360" y="228600"/>
            <a:ext cx="10058400" cy="256032"/>
          </a:xfrm>
          <a:prstGeom prst="rect">
            <a:avLst/>
          </a:prstGeom>
          <a:noFill/>
          <a:ln/>
        </p:spPr>
        <p:txBody>
          <a:bodyPr wrap="square" lIns="0" tIns="0" rIns="0" bIns="0" rtlCol="0" anchor="t"/>
          <a:lstStyle/>
          <a:p>
            <a:pPr marL="0" indent="0">
              <a:buNone/>
            </a:pPr>
            <a:r>
              <a:rPr lang="en-US" sz="1100" b="1" kern="0" spc="180" dirty="0">
                <a:solidFill>
                  <a:srgbClr val="76665B"/>
                </a:solidFill>
                <a:latin typeface="Calibri" pitchFamily="34" charset="0"/>
                <a:ea typeface="Calibri" pitchFamily="34" charset="-122"/>
                <a:cs typeface="Calibri" pitchFamily="34" charset="-120"/>
              </a:rPr>
              <a:t>03 / Code verstehen</a:t>
            </a:r>
            <a:endParaRPr lang="en-US" sz="1100" dirty="0"/>
          </a:p>
        </p:txBody>
      </p:sp>
      <p:sp>
        <p:nvSpPr>
          <p:cNvPr id="3" name="Text 1"/>
          <p:cNvSpPr/>
          <p:nvPr/>
        </p:nvSpPr>
        <p:spPr>
          <a:xfrm>
            <a:off x="594360" y="585216"/>
            <a:ext cx="10972800" cy="941832"/>
          </a:xfrm>
          <a:prstGeom prst="rect">
            <a:avLst/>
          </a:prstGeom>
          <a:noFill/>
          <a:ln/>
        </p:spPr>
        <p:txBody>
          <a:bodyPr wrap="square" lIns="0" tIns="0" rIns="0" bIns="0" rtlCol="0" anchor="t"/>
          <a:lstStyle/>
          <a:p>
            <a:pPr marL="0" indent="0">
              <a:buNone/>
            </a:pPr>
            <a:r>
              <a:rPr lang="en-US" sz="3600" b="1" dirty="0">
                <a:solidFill>
                  <a:srgbClr val="30241F"/>
                </a:solidFill>
                <a:latin typeface="Georgia" pitchFamily="34" charset="0"/>
                <a:ea typeface="Georgia" pitchFamily="34" charset="-122"/>
                <a:cs typeface="Georgia" pitchFamily="34" charset="-120"/>
              </a:rPr>
              <a:t>Java: Weiterleiten und erweitern</a:t>
            </a:r>
            <a:endParaRPr lang="en-US" sz="3600" dirty="0"/>
          </a:p>
        </p:txBody>
      </p:sp>
      <p:sp>
        <p:nvSpPr>
          <p:cNvPr id="4" name="Text 2"/>
          <p:cNvSpPr/>
          <p:nvPr/>
        </p:nvSpPr>
        <p:spPr>
          <a:xfrm>
            <a:off x="594360" y="6510528"/>
            <a:ext cx="9144000" cy="201168"/>
          </a:xfrm>
          <a:prstGeom prst="rect">
            <a:avLst/>
          </a:prstGeom>
          <a:noFill/>
          <a:ln/>
        </p:spPr>
        <p:txBody>
          <a:bodyPr wrap="square" lIns="0" tIns="0" rIns="0" bIns="0" rtlCol="0" anchor="t"/>
          <a:lstStyle/>
          <a:p>
            <a:pPr marL="0" indent="0">
              <a:buNone/>
            </a:pPr>
            <a:r>
              <a:rPr lang="en-US" sz="1000" dirty="0">
                <a:solidFill>
                  <a:srgbClr val="76665B"/>
                </a:solidFill>
                <a:latin typeface="Calibri" pitchFamily="34" charset="0"/>
                <a:ea typeface="Calibri" pitchFamily="34" charset="-122"/>
                <a:cs typeface="Calibri" pitchFamily="34" charset="-120"/>
              </a:rPr>
              <a:t>Kaffee mit Zusätzen · Java-Demo + Python-Übung</a:t>
            </a:r>
            <a:endParaRPr lang="en-US" sz="1000" dirty="0"/>
          </a:p>
        </p:txBody>
      </p:sp>
      <p:sp>
        <p:nvSpPr>
          <p:cNvPr id="5" name="Text 3"/>
          <p:cNvSpPr/>
          <p:nvPr/>
        </p:nvSpPr>
        <p:spPr>
          <a:xfrm>
            <a:off x="11082528" y="6455664"/>
            <a:ext cx="502920" cy="274320"/>
          </a:xfrm>
          <a:prstGeom prst="rect">
            <a:avLst/>
          </a:prstGeom>
          <a:noFill/>
          <a:ln/>
        </p:spPr>
        <p:txBody>
          <a:bodyPr wrap="square" lIns="0" tIns="0" rIns="0" bIns="0" rtlCol="0" anchor="t"/>
          <a:lstStyle/>
          <a:p>
            <a:pPr marL="0" indent="0" algn="r">
              <a:buNone/>
            </a:pPr>
            <a:r>
              <a:rPr lang="en-US" sz="1200" dirty="0">
                <a:solidFill>
                  <a:srgbClr val="76665B"/>
                </a:solidFill>
                <a:latin typeface="Calibri" pitchFamily="34" charset="0"/>
                <a:ea typeface="Calibri" pitchFamily="34" charset="-122"/>
                <a:cs typeface="Calibri" pitchFamily="34" charset="-120"/>
              </a:rPr>
              <a:t>07</a:t>
            </a:r>
            <a:endParaRPr lang="en-US" sz="1200" dirty="0"/>
          </a:p>
        </p:txBody>
      </p:sp>
      <p:sp>
        <p:nvSpPr>
          <p:cNvPr id="6" name="Text 4"/>
          <p:cNvSpPr/>
          <p:nvPr/>
        </p:nvSpPr>
        <p:spPr>
          <a:xfrm>
            <a:off x="685800" y="1691640"/>
            <a:ext cx="6400800" cy="256032"/>
          </a:xfrm>
          <a:prstGeom prst="rect">
            <a:avLst/>
          </a:prstGeom>
          <a:noFill/>
          <a:ln/>
        </p:spPr>
        <p:txBody>
          <a:bodyPr wrap="square" lIns="0" tIns="0" rIns="0" bIns="0" rtlCol="0" anchor="t"/>
          <a:lstStyle/>
          <a:p>
            <a:pPr marL="0" indent="0">
              <a:buNone/>
            </a:pPr>
            <a:r>
              <a:rPr lang="en-US" sz="1100" b="1" kern="0" spc="180" dirty="0">
                <a:solidFill>
                  <a:srgbClr val="76665B"/>
                </a:solidFill>
                <a:latin typeface="Calibri" pitchFamily="34" charset="0"/>
                <a:ea typeface="Calibri" pitchFamily="34" charset="-122"/>
                <a:cs typeface="Calibri" pitchFamily="34" charset="-120"/>
              </a:rPr>
              <a:t>GETRAENKDEKORIERER.JAVA</a:t>
            </a:r>
            <a:endParaRPr lang="en-US" sz="1100" dirty="0"/>
          </a:p>
        </p:txBody>
      </p:sp>
      <p:sp>
        <p:nvSpPr>
          <p:cNvPr id="7" name="Shape 5"/>
          <p:cNvSpPr/>
          <p:nvPr/>
        </p:nvSpPr>
        <p:spPr>
          <a:xfrm>
            <a:off x="685800" y="2075688"/>
            <a:ext cx="6812280" cy="3310128"/>
          </a:xfrm>
          <a:prstGeom prst="rect">
            <a:avLst/>
          </a:prstGeom>
          <a:solidFill>
            <a:srgbClr val="30241F"/>
          </a:solidFill>
          <a:ln w="12700">
            <a:solidFill>
              <a:srgbClr val="30241F"/>
            </a:solidFill>
            <a:prstDash val="solid"/>
          </a:ln>
        </p:spPr>
        <p:txBody>
          <a:bodyPr/>
          <a:lstStyle/>
          <a:p>
            <a:endParaRPr lang="de-DE"/>
          </a:p>
        </p:txBody>
      </p:sp>
      <p:sp>
        <p:nvSpPr>
          <p:cNvPr id="8" name="Text 6"/>
          <p:cNvSpPr/>
          <p:nvPr/>
        </p:nvSpPr>
        <p:spPr>
          <a:xfrm>
            <a:off x="896112" y="2258568"/>
            <a:ext cx="6391656" cy="2944368"/>
          </a:xfrm>
          <a:prstGeom prst="rect">
            <a:avLst/>
          </a:prstGeom>
          <a:noFill/>
          <a:ln/>
        </p:spPr>
        <p:txBody>
          <a:bodyPr wrap="square" lIns="0" tIns="0" rIns="0" bIns="0" rtlCol="0" anchor="t"/>
          <a:lstStyle/>
          <a:p>
            <a:pPr marL="0" indent="0">
              <a:buNone/>
            </a:pPr>
            <a:r>
              <a:rPr lang="en-US" sz="1600" dirty="0">
                <a:solidFill>
                  <a:srgbClr val="F6F0E7"/>
                </a:solidFill>
                <a:latin typeface="Consolas" pitchFamily="34" charset="0"/>
                <a:ea typeface="Consolas" pitchFamily="34" charset="-122"/>
                <a:cs typeface="Consolas" pitchFamily="34" charset="-120"/>
              </a:rPr>
              <a:t>public BigDecimal getPreis() {</a:t>
            </a:r>
            <a:endParaRPr lang="en-US" sz="1600" dirty="0"/>
          </a:p>
          <a:p>
            <a:pPr marL="0" indent="0">
              <a:buNone/>
            </a:pPr>
            <a:r>
              <a:rPr lang="en-US" sz="1600" dirty="0">
                <a:solidFill>
                  <a:srgbClr val="F6F0E7"/>
                </a:solidFill>
                <a:latin typeface="Consolas" pitchFamily="34" charset="0"/>
                <a:ea typeface="Consolas" pitchFamily="34" charset="-122"/>
                <a:cs typeface="Consolas" pitchFamily="34" charset="-120"/>
              </a:rPr>
              <a:t>    return getraenk.getPreis().add(aufpreis);</a:t>
            </a:r>
            <a:endParaRPr lang="en-US" sz="1600" dirty="0"/>
          </a:p>
          <a:p>
            <a:pPr marL="0" indent="0">
              <a:buNone/>
            </a:pPr>
            <a:r>
              <a:rPr lang="en-US" sz="1600" dirty="0">
                <a:solidFill>
                  <a:srgbClr val="F6F0E7"/>
                </a:solidFill>
                <a:latin typeface="Consolas" pitchFamily="34" charset="0"/>
                <a:ea typeface="Consolas" pitchFamily="34" charset="-122"/>
                <a:cs typeface="Consolas" pitchFamily="34" charset="-120"/>
              </a:rPr>
              <a:t>}</a:t>
            </a:r>
            <a:endParaRPr lang="en-US" sz="1600" dirty="0"/>
          </a:p>
          <a:p>
            <a:pPr marL="0" indent="0">
              <a:buNone/>
            </a:pPr>
            <a:endParaRPr lang="en-US" sz="1600" dirty="0"/>
          </a:p>
          <a:p>
            <a:pPr marL="0" indent="0">
              <a:buNone/>
            </a:pPr>
            <a:r>
              <a:rPr lang="en-US" sz="1600" dirty="0">
                <a:solidFill>
                  <a:srgbClr val="F6F0E7"/>
                </a:solidFill>
                <a:latin typeface="Consolas" pitchFamily="34" charset="0"/>
                <a:ea typeface="Consolas" pitchFamily="34" charset="-122"/>
                <a:cs typeface="Consolas" pitchFamily="34" charset="-120"/>
              </a:rPr>
              <a:t>public String getBeschreibung() {</a:t>
            </a:r>
            <a:endParaRPr lang="en-US" sz="1600" dirty="0"/>
          </a:p>
          <a:p>
            <a:pPr marL="0" indent="0">
              <a:buNone/>
            </a:pPr>
            <a:r>
              <a:rPr lang="en-US" sz="1600" dirty="0">
                <a:solidFill>
                  <a:srgbClr val="F6F0E7"/>
                </a:solidFill>
                <a:latin typeface="Consolas" pitchFamily="34" charset="0"/>
                <a:ea typeface="Consolas" pitchFamily="34" charset="-122"/>
                <a:cs typeface="Consolas" pitchFamily="34" charset="-120"/>
              </a:rPr>
              <a:t>    return getraenk.getBeschreibung()</a:t>
            </a:r>
            <a:endParaRPr lang="en-US" sz="1600" dirty="0"/>
          </a:p>
          <a:p>
            <a:pPr marL="0" indent="0">
              <a:buNone/>
            </a:pPr>
            <a:r>
              <a:rPr lang="en-US" sz="1600" dirty="0">
                <a:solidFill>
                  <a:srgbClr val="F6F0E7"/>
                </a:solidFill>
                <a:latin typeface="Consolas" pitchFamily="34" charset="0"/>
                <a:ea typeface="Consolas" pitchFamily="34" charset="-122"/>
                <a:cs typeface="Consolas" pitchFamily="34" charset="-120"/>
              </a:rPr>
              <a:t>            + ", " + name;</a:t>
            </a:r>
            <a:endParaRPr lang="en-US" sz="1600" dirty="0"/>
          </a:p>
          <a:p>
            <a:pPr marL="0" indent="0">
              <a:buNone/>
            </a:pPr>
            <a:r>
              <a:rPr lang="en-US" sz="1600" dirty="0">
                <a:solidFill>
                  <a:srgbClr val="F6F0E7"/>
                </a:solidFill>
                <a:latin typeface="Consolas" pitchFamily="34" charset="0"/>
                <a:ea typeface="Consolas" pitchFamily="34" charset="-122"/>
                <a:cs typeface="Consolas" pitchFamily="34" charset="-120"/>
              </a:rPr>
              <a:t>}</a:t>
            </a:r>
            <a:endParaRPr lang="en-US" sz="1600" dirty="0"/>
          </a:p>
        </p:txBody>
      </p:sp>
      <p:sp>
        <p:nvSpPr>
          <p:cNvPr id="9" name="Text 7"/>
          <p:cNvSpPr/>
          <p:nvPr/>
        </p:nvSpPr>
        <p:spPr>
          <a:xfrm>
            <a:off x="7891272" y="1691640"/>
            <a:ext cx="3657600" cy="256032"/>
          </a:xfrm>
          <a:prstGeom prst="rect">
            <a:avLst/>
          </a:prstGeom>
          <a:noFill/>
          <a:ln/>
        </p:spPr>
        <p:txBody>
          <a:bodyPr wrap="square" lIns="0" tIns="0" rIns="0" bIns="0" rtlCol="0" anchor="t"/>
          <a:lstStyle/>
          <a:p>
            <a:pPr marL="0" indent="0">
              <a:buNone/>
            </a:pPr>
            <a:r>
              <a:rPr lang="en-US" sz="1100" b="1" kern="0" spc="180" dirty="0">
                <a:solidFill>
                  <a:srgbClr val="76665B"/>
                </a:solidFill>
                <a:latin typeface="Calibri" pitchFamily="34" charset="0"/>
                <a:ea typeface="Calibri" pitchFamily="34" charset="-122"/>
                <a:cs typeface="Calibri" pitchFamily="34" charset="-120"/>
              </a:rPr>
              <a:t>MILCH.JAVA</a:t>
            </a:r>
            <a:endParaRPr lang="en-US" sz="1100" dirty="0"/>
          </a:p>
        </p:txBody>
      </p:sp>
      <p:sp>
        <p:nvSpPr>
          <p:cNvPr id="10" name="Shape 8"/>
          <p:cNvSpPr/>
          <p:nvPr/>
        </p:nvSpPr>
        <p:spPr>
          <a:xfrm>
            <a:off x="7891272" y="2075688"/>
            <a:ext cx="3602736" cy="1920240"/>
          </a:xfrm>
          <a:prstGeom prst="rect">
            <a:avLst/>
          </a:prstGeom>
          <a:solidFill>
            <a:srgbClr val="30241F"/>
          </a:solidFill>
          <a:ln w="12700">
            <a:solidFill>
              <a:srgbClr val="30241F"/>
            </a:solidFill>
            <a:prstDash val="solid"/>
          </a:ln>
        </p:spPr>
        <p:txBody>
          <a:bodyPr/>
          <a:lstStyle/>
          <a:p>
            <a:endParaRPr lang="de-DE"/>
          </a:p>
        </p:txBody>
      </p:sp>
      <p:sp>
        <p:nvSpPr>
          <p:cNvPr id="11" name="Text 9"/>
          <p:cNvSpPr/>
          <p:nvPr/>
        </p:nvSpPr>
        <p:spPr>
          <a:xfrm>
            <a:off x="8101584" y="2258568"/>
            <a:ext cx="3182112" cy="1554480"/>
          </a:xfrm>
          <a:prstGeom prst="rect">
            <a:avLst/>
          </a:prstGeom>
          <a:noFill/>
          <a:ln/>
        </p:spPr>
        <p:txBody>
          <a:bodyPr wrap="square" lIns="0" tIns="0" rIns="0" bIns="0" rtlCol="0" anchor="t"/>
          <a:lstStyle/>
          <a:p>
            <a:pPr marL="0" indent="0">
              <a:buNone/>
            </a:pPr>
            <a:r>
              <a:rPr lang="en-US" sz="1400" dirty="0">
                <a:solidFill>
                  <a:srgbClr val="F6F0E7"/>
                </a:solidFill>
                <a:latin typeface="Consolas" pitchFamily="34" charset="0"/>
                <a:ea typeface="Consolas" pitchFamily="34" charset="-122"/>
                <a:cs typeface="Consolas" pitchFamily="34" charset="-120"/>
              </a:rPr>
              <a:t>public Milch(Getraenk g) {</a:t>
            </a:r>
            <a:endParaRPr lang="en-US" sz="1400" dirty="0"/>
          </a:p>
          <a:p>
            <a:pPr marL="0" indent="0">
              <a:buNone/>
            </a:pPr>
            <a:r>
              <a:rPr lang="en-US" sz="1400" dirty="0">
                <a:solidFill>
                  <a:srgbClr val="F6F0E7"/>
                </a:solidFill>
                <a:latin typeface="Consolas" pitchFamily="34" charset="0"/>
                <a:ea typeface="Consolas" pitchFamily="34" charset="-122"/>
                <a:cs typeface="Consolas" pitchFamily="34" charset="-120"/>
              </a:rPr>
              <a:t>    super(g, "Milch", "0.50");</a:t>
            </a:r>
            <a:endParaRPr lang="en-US" sz="1400" dirty="0"/>
          </a:p>
          <a:p>
            <a:pPr marL="0" indent="0">
              <a:buNone/>
            </a:pPr>
            <a:r>
              <a:rPr lang="en-US" sz="1400" dirty="0">
                <a:solidFill>
                  <a:srgbClr val="F6F0E7"/>
                </a:solidFill>
                <a:latin typeface="Consolas" pitchFamily="34" charset="0"/>
                <a:ea typeface="Consolas" pitchFamily="34" charset="-122"/>
                <a:cs typeface="Consolas" pitchFamily="34" charset="-120"/>
              </a:rPr>
              <a:t>}</a:t>
            </a:r>
            <a:endParaRPr lang="en-US" sz="1400" dirty="0"/>
          </a:p>
        </p:txBody>
      </p:sp>
      <p:sp>
        <p:nvSpPr>
          <p:cNvPr id="12" name="Text 10"/>
          <p:cNvSpPr/>
          <p:nvPr/>
        </p:nvSpPr>
        <p:spPr>
          <a:xfrm>
            <a:off x="7909560" y="4498848"/>
            <a:ext cx="3566160" cy="1005840"/>
          </a:xfrm>
          <a:prstGeom prst="rect">
            <a:avLst/>
          </a:prstGeom>
          <a:noFill/>
          <a:ln/>
        </p:spPr>
        <p:txBody>
          <a:bodyPr wrap="square" lIns="0" tIns="0" rIns="0" bIns="0" rtlCol="0" anchor="t"/>
          <a:lstStyle/>
          <a:p>
            <a:pPr marL="0" indent="0">
              <a:buNone/>
            </a:pPr>
            <a:r>
              <a:rPr lang="en-US" sz="2200" b="1" dirty="0">
                <a:solidFill>
                  <a:srgbClr val="30241F"/>
                </a:solidFill>
                <a:latin typeface="Calibri" pitchFamily="34" charset="0"/>
                <a:ea typeface="Calibri" pitchFamily="34" charset="-122"/>
                <a:cs typeface="Calibri" pitchFamily="34" charset="-120"/>
              </a:rPr>
              <a:t>Jeder konkrete Zusatz liefert</a:t>
            </a:r>
            <a:endParaRPr lang="en-US" sz="2200" dirty="0"/>
          </a:p>
          <a:p>
            <a:pPr marL="0" indent="0">
              <a:buNone/>
            </a:pPr>
            <a:r>
              <a:rPr lang="en-US" sz="2200" b="1" dirty="0">
                <a:solidFill>
                  <a:srgbClr val="30241F"/>
                </a:solidFill>
                <a:latin typeface="Calibri" pitchFamily="34" charset="0"/>
                <a:ea typeface="Calibri" pitchFamily="34" charset="-122"/>
                <a:cs typeface="Calibri" pitchFamily="34" charset="-120"/>
              </a:rPr>
              <a:t>Name und Aufpreis.</a:t>
            </a:r>
            <a:endParaRPr lang="en-US" sz="2200" dirty="0"/>
          </a:p>
        </p:txBody>
      </p:sp>
      <p:sp>
        <p:nvSpPr>
          <p:cNvPr id="13" name="Text 11"/>
          <p:cNvSpPr/>
          <p:nvPr/>
        </p:nvSpPr>
        <p:spPr>
          <a:xfrm>
            <a:off x="731520" y="5678424"/>
            <a:ext cx="10607040" cy="402336"/>
          </a:xfrm>
          <a:prstGeom prst="rect">
            <a:avLst/>
          </a:prstGeom>
          <a:noFill/>
          <a:ln/>
        </p:spPr>
        <p:txBody>
          <a:bodyPr wrap="square" lIns="0" tIns="0" rIns="0" bIns="0" rtlCol="0" anchor="t"/>
          <a:lstStyle/>
          <a:p>
            <a:pPr marL="0" indent="0">
              <a:buNone/>
            </a:pPr>
            <a:r>
              <a:rPr lang="en-US" sz="2000" dirty="0">
                <a:solidFill>
                  <a:srgbClr val="76665B"/>
                </a:solidFill>
                <a:latin typeface="Calibri" pitchFamily="34" charset="0"/>
                <a:ea typeface="Calibri" pitchFamily="34" charset="-122"/>
                <a:cs typeface="Calibri" pitchFamily="34" charset="-120"/>
              </a:rPr>
              <a:t>BigDecimal aus Strings hält die Preisberechnung exakt.</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6F0E7"/>
        </a:solidFill>
        <a:effectLst/>
      </p:bgPr>
    </p:bg>
    <p:spTree>
      <p:nvGrpSpPr>
        <p:cNvPr id="1" name=""/>
        <p:cNvGrpSpPr/>
        <p:nvPr/>
      </p:nvGrpSpPr>
      <p:grpSpPr>
        <a:xfrm>
          <a:off x="0" y="0"/>
          <a:ext cx="0" cy="0"/>
          <a:chOff x="0" y="0"/>
          <a:chExt cx="0" cy="0"/>
        </a:xfrm>
      </p:grpSpPr>
      <p:sp>
        <p:nvSpPr>
          <p:cNvPr id="2" name="Text 0"/>
          <p:cNvSpPr/>
          <p:nvPr/>
        </p:nvSpPr>
        <p:spPr>
          <a:xfrm>
            <a:off x="594360" y="228600"/>
            <a:ext cx="10058400" cy="256032"/>
          </a:xfrm>
          <a:prstGeom prst="rect">
            <a:avLst/>
          </a:prstGeom>
          <a:noFill/>
          <a:ln/>
        </p:spPr>
        <p:txBody>
          <a:bodyPr wrap="square" lIns="0" tIns="0" rIns="0" bIns="0" rtlCol="0" anchor="t"/>
          <a:lstStyle/>
          <a:p>
            <a:pPr marL="0" indent="0">
              <a:buNone/>
            </a:pPr>
            <a:r>
              <a:rPr lang="en-US" sz="1100" b="1" kern="0" spc="180" dirty="0">
                <a:solidFill>
                  <a:srgbClr val="76665B"/>
                </a:solidFill>
                <a:latin typeface="Calibri" pitchFamily="34" charset="0"/>
                <a:ea typeface="Calibri" pitchFamily="34" charset="-122"/>
                <a:cs typeface="Calibri" pitchFamily="34" charset="-120"/>
              </a:rPr>
              <a:t>03 / Java-Demo</a:t>
            </a:r>
            <a:endParaRPr lang="en-US" sz="1100" dirty="0"/>
          </a:p>
        </p:txBody>
      </p:sp>
      <p:sp>
        <p:nvSpPr>
          <p:cNvPr id="3" name="Text 1"/>
          <p:cNvSpPr/>
          <p:nvPr/>
        </p:nvSpPr>
        <p:spPr>
          <a:xfrm>
            <a:off x="594360" y="585216"/>
            <a:ext cx="10972800" cy="941832"/>
          </a:xfrm>
          <a:prstGeom prst="rect">
            <a:avLst/>
          </a:prstGeom>
          <a:noFill/>
          <a:ln/>
        </p:spPr>
        <p:txBody>
          <a:bodyPr wrap="square" lIns="0" tIns="0" rIns="0" bIns="0" rtlCol="0" anchor="t"/>
          <a:lstStyle/>
          <a:p>
            <a:pPr marL="0" indent="0">
              <a:buNone/>
            </a:pPr>
            <a:r>
              <a:rPr lang="en-US" sz="3600" b="1" dirty="0">
                <a:solidFill>
                  <a:srgbClr val="30241F"/>
                </a:solidFill>
                <a:latin typeface="Georgia" pitchFamily="34" charset="0"/>
                <a:ea typeface="Georgia" pitchFamily="34" charset="-122"/>
                <a:cs typeface="Georgia" pitchFamily="34" charset="-120"/>
              </a:rPr>
              <a:t>Kombinationen in der Java-Demo</a:t>
            </a:r>
            <a:endParaRPr lang="en-US" sz="3600" dirty="0"/>
          </a:p>
        </p:txBody>
      </p:sp>
      <p:sp>
        <p:nvSpPr>
          <p:cNvPr id="4" name="Text 2"/>
          <p:cNvSpPr/>
          <p:nvPr/>
        </p:nvSpPr>
        <p:spPr>
          <a:xfrm>
            <a:off x="594360" y="6510528"/>
            <a:ext cx="9144000" cy="201168"/>
          </a:xfrm>
          <a:prstGeom prst="rect">
            <a:avLst/>
          </a:prstGeom>
          <a:noFill/>
          <a:ln/>
        </p:spPr>
        <p:txBody>
          <a:bodyPr wrap="square" lIns="0" tIns="0" rIns="0" bIns="0" rtlCol="0" anchor="t"/>
          <a:lstStyle/>
          <a:p>
            <a:pPr marL="0" indent="0">
              <a:buNone/>
            </a:pPr>
            <a:r>
              <a:rPr lang="en-US" sz="1000" dirty="0">
                <a:solidFill>
                  <a:srgbClr val="76665B"/>
                </a:solidFill>
                <a:latin typeface="Calibri" pitchFamily="34" charset="0"/>
                <a:ea typeface="Calibri" pitchFamily="34" charset="-122"/>
                <a:cs typeface="Calibri" pitchFamily="34" charset="-120"/>
              </a:rPr>
              <a:t>Kaffee mit Zusätzen · Java-Demo + Python-Übung</a:t>
            </a:r>
            <a:endParaRPr lang="en-US" sz="1000" dirty="0"/>
          </a:p>
        </p:txBody>
      </p:sp>
      <p:sp>
        <p:nvSpPr>
          <p:cNvPr id="5" name="Text 3"/>
          <p:cNvSpPr/>
          <p:nvPr/>
        </p:nvSpPr>
        <p:spPr>
          <a:xfrm>
            <a:off x="11082528" y="6455664"/>
            <a:ext cx="502920" cy="274320"/>
          </a:xfrm>
          <a:prstGeom prst="rect">
            <a:avLst/>
          </a:prstGeom>
          <a:noFill/>
          <a:ln/>
        </p:spPr>
        <p:txBody>
          <a:bodyPr wrap="square" lIns="0" tIns="0" rIns="0" bIns="0" rtlCol="0" anchor="t"/>
          <a:lstStyle/>
          <a:p>
            <a:pPr marL="0" indent="0" algn="r">
              <a:buNone/>
            </a:pPr>
            <a:r>
              <a:rPr lang="en-US" sz="1200" dirty="0">
                <a:solidFill>
                  <a:srgbClr val="76665B"/>
                </a:solidFill>
                <a:latin typeface="Calibri" pitchFamily="34" charset="0"/>
                <a:ea typeface="Calibri" pitchFamily="34" charset="-122"/>
                <a:cs typeface="Calibri" pitchFamily="34" charset="-120"/>
              </a:rPr>
              <a:t>08</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927080" cy="3291840"/>
        </p:xfrm>
        <a:graphic>
          <a:graphicData uri="http://schemas.openxmlformats.org/drawingml/2006/table">
            <a:tbl>
              <a:tblPr/>
              <a:tblGrid>
                <a:gridCol w="5166360">
                  <a:extLst>
                    <a:ext uri="{9D8B030D-6E8A-4147-A177-3AD203B41FA5}">
                      <a16:colId xmlns:a16="http://schemas.microsoft.com/office/drawing/2014/main" val="20000"/>
                    </a:ext>
                  </a:extLst>
                </a:gridCol>
                <a:gridCol w="397764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tblGrid>
              <a:tr h="658368">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Objektkette</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45634D"/>
                    </a:solidFill>
                  </a:tcPr>
                </a:tc>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Beschreibung</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45634D"/>
                    </a:solidFill>
                  </a:tcPr>
                </a:tc>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Preis</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45634D"/>
                    </a:solidFill>
                  </a:tcPr>
                </a:tc>
                <a:extLst>
                  <a:ext uri="{0D108BD9-81ED-4DB2-BD59-A6C34878D82A}">
                    <a16:rowId xmlns:a16="http://schemas.microsoft.com/office/drawing/2014/main" val="10000"/>
                  </a:ext>
                </a:extLst>
              </a:tr>
              <a:tr h="658368">
                <a:tc>
                  <a:txBody>
                    <a:bodyPr/>
                    <a:lstStyle/>
                    <a:p>
                      <a:pPr marL="0" indent="0">
                        <a:buNone/>
                      </a:pPr>
                      <a:r>
                        <a:rPr lang="en-US" sz="1700" dirty="0">
                          <a:solidFill>
                            <a:srgbClr val="30241F"/>
                          </a:solidFill>
                          <a:latin typeface="Calibri" pitchFamily="34" charset="0"/>
                          <a:ea typeface="Calibri" pitchFamily="34" charset="-122"/>
                          <a:cs typeface="Calibri" pitchFamily="34" charset="-120"/>
                        </a:rPr>
                        <a:t>new Espresso()</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FFFCF7"/>
                    </a:solidFill>
                  </a:tcPr>
                </a:tc>
                <a:tc>
                  <a:txBody>
                    <a:bodyPr/>
                    <a:lstStyle/>
                    <a:p>
                      <a:pPr marL="0" indent="0">
                        <a:buNone/>
                      </a:pPr>
                      <a:r>
                        <a:rPr lang="en-US" sz="1700" dirty="0">
                          <a:solidFill>
                            <a:srgbClr val="30241F"/>
                          </a:solidFill>
                          <a:latin typeface="Calibri" pitchFamily="34" charset="0"/>
                          <a:ea typeface="Calibri" pitchFamily="34" charset="-122"/>
                          <a:cs typeface="Calibri" pitchFamily="34" charset="-120"/>
                        </a:rPr>
                        <a:t>Espresso</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FFFCF7"/>
                    </a:solidFill>
                  </a:tcPr>
                </a:tc>
                <a:tc>
                  <a:txBody>
                    <a:bodyPr/>
                    <a:lstStyle/>
                    <a:p>
                      <a:pPr marL="0" indent="0">
                        <a:buNone/>
                      </a:pPr>
                      <a:r>
                        <a:rPr lang="en-US" sz="1700" dirty="0">
                          <a:solidFill>
                            <a:srgbClr val="30241F"/>
                          </a:solidFill>
                          <a:latin typeface="Calibri" pitchFamily="34" charset="0"/>
                          <a:ea typeface="Calibri" pitchFamily="34" charset="-122"/>
                          <a:cs typeface="Calibri" pitchFamily="34" charset="-120"/>
                        </a:rPr>
                        <a:t>2,00 Euro</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FFFCF7"/>
                    </a:solidFill>
                  </a:tcPr>
                </a:tc>
                <a:extLst>
                  <a:ext uri="{0D108BD9-81ED-4DB2-BD59-A6C34878D82A}">
                    <a16:rowId xmlns:a16="http://schemas.microsoft.com/office/drawing/2014/main" val="10001"/>
                  </a:ext>
                </a:extLst>
              </a:tr>
              <a:tr h="658368">
                <a:tc>
                  <a:txBody>
                    <a:bodyPr/>
                    <a:lstStyle/>
                    <a:p>
                      <a:pPr marL="0" indent="0">
                        <a:buNone/>
                      </a:pPr>
                      <a:r>
                        <a:rPr lang="en-US" sz="1700" dirty="0">
                          <a:solidFill>
                            <a:srgbClr val="30241F"/>
                          </a:solidFill>
                          <a:latin typeface="Calibri" pitchFamily="34" charset="0"/>
                          <a:ea typeface="Calibri" pitchFamily="34" charset="-122"/>
                          <a:cs typeface="Calibri" pitchFamily="34" charset="-120"/>
                        </a:rPr>
                        <a:t>new Milch(new Espresso())</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FFFCF7"/>
                    </a:solidFill>
                  </a:tcPr>
                </a:tc>
                <a:tc>
                  <a:txBody>
                    <a:bodyPr/>
                    <a:lstStyle/>
                    <a:p>
                      <a:pPr marL="0" indent="0">
                        <a:buNone/>
                      </a:pPr>
                      <a:r>
                        <a:rPr lang="en-US" sz="1700" dirty="0">
                          <a:solidFill>
                            <a:srgbClr val="30241F"/>
                          </a:solidFill>
                          <a:latin typeface="Calibri" pitchFamily="34" charset="0"/>
                          <a:ea typeface="Calibri" pitchFamily="34" charset="-122"/>
                          <a:cs typeface="Calibri" pitchFamily="34" charset="-120"/>
                        </a:rPr>
                        <a:t>Espresso, Milch</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FFFCF7"/>
                    </a:solidFill>
                  </a:tcPr>
                </a:tc>
                <a:tc>
                  <a:txBody>
                    <a:bodyPr/>
                    <a:lstStyle/>
                    <a:p>
                      <a:pPr marL="0" indent="0">
                        <a:buNone/>
                      </a:pPr>
                      <a:r>
                        <a:rPr lang="en-US" sz="1700" dirty="0">
                          <a:solidFill>
                            <a:srgbClr val="30241F"/>
                          </a:solidFill>
                          <a:latin typeface="Calibri" pitchFamily="34" charset="0"/>
                          <a:ea typeface="Calibri" pitchFamily="34" charset="-122"/>
                          <a:cs typeface="Calibri" pitchFamily="34" charset="-120"/>
                        </a:rPr>
                        <a:t>2,50 Euro</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FFFCF7"/>
                    </a:solidFill>
                  </a:tcPr>
                </a:tc>
                <a:extLst>
                  <a:ext uri="{0D108BD9-81ED-4DB2-BD59-A6C34878D82A}">
                    <a16:rowId xmlns:a16="http://schemas.microsoft.com/office/drawing/2014/main" val="10002"/>
                  </a:ext>
                </a:extLst>
              </a:tr>
              <a:tr h="658368">
                <a:tc>
                  <a:txBody>
                    <a:bodyPr/>
                    <a:lstStyle/>
                    <a:p>
                      <a:pPr marL="0" indent="0">
                        <a:buNone/>
                      </a:pPr>
                      <a:r>
                        <a:rPr lang="en-US" sz="1700" dirty="0">
                          <a:solidFill>
                            <a:srgbClr val="30241F"/>
                          </a:solidFill>
                          <a:latin typeface="Calibri" pitchFamily="34" charset="0"/>
                          <a:ea typeface="Calibri" pitchFamily="34" charset="-122"/>
                          <a:cs typeface="Calibri" pitchFamily="34" charset="-120"/>
                        </a:rPr>
                        <a:t>new Sirup(new Milch(new Espresso()))</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FFFCF7"/>
                    </a:solidFill>
                  </a:tcPr>
                </a:tc>
                <a:tc>
                  <a:txBody>
                    <a:bodyPr/>
                    <a:lstStyle/>
                    <a:p>
                      <a:pPr marL="0" indent="0">
                        <a:buNone/>
                      </a:pPr>
                      <a:r>
                        <a:rPr lang="en-US" sz="1700" dirty="0">
                          <a:solidFill>
                            <a:srgbClr val="30241F"/>
                          </a:solidFill>
                          <a:latin typeface="Calibri" pitchFamily="34" charset="0"/>
                          <a:ea typeface="Calibri" pitchFamily="34" charset="-122"/>
                          <a:cs typeface="Calibri" pitchFamily="34" charset="-120"/>
                        </a:rPr>
                        <a:t>Espresso, Milch, Sirup</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FFFCF7"/>
                    </a:solidFill>
                  </a:tcPr>
                </a:tc>
                <a:tc>
                  <a:txBody>
                    <a:bodyPr/>
                    <a:lstStyle/>
                    <a:p>
                      <a:pPr marL="0" indent="0">
                        <a:buNone/>
                      </a:pPr>
                      <a:r>
                        <a:rPr lang="en-US" sz="1700" dirty="0">
                          <a:solidFill>
                            <a:srgbClr val="30241F"/>
                          </a:solidFill>
                          <a:latin typeface="Calibri" pitchFamily="34" charset="0"/>
                          <a:ea typeface="Calibri" pitchFamily="34" charset="-122"/>
                          <a:cs typeface="Calibri" pitchFamily="34" charset="-120"/>
                        </a:rPr>
                        <a:t>3,20 Euro</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FFFCF7"/>
                    </a:solidFill>
                  </a:tcPr>
                </a:tc>
                <a:extLst>
                  <a:ext uri="{0D108BD9-81ED-4DB2-BD59-A6C34878D82A}">
                    <a16:rowId xmlns:a16="http://schemas.microsoft.com/office/drawing/2014/main" val="10003"/>
                  </a:ext>
                </a:extLst>
              </a:tr>
              <a:tr h="658368">
                <a:tc>
                  <a:txBody>
                    <a:bodyPr/>
                    <a:lstStyle/>
                    <a:p>
                      <a:pPr marL="0" indent="0">
                        <a:buNone/>
                      </a:pPr>
                      <a:r>
                        <a:rPr lang="en-US" sz="1700" dirty="0">
                          <a:solidFill>
                            <a:srgbClr val="30241F"/>
                          </a:solidFill>
                          <a:latin typeface="Calibri" pitchFamily="34" charset="0"/>
                          <a:ea typeface="Calibri" pitchFamily="34" charset="-122"/>
                          <a:cs typeface="Calibri" pitchFamily="34" charset="-120"/>
                        </a:rPr>
                        <a:t>new Milch(new Milch(new Espresso()))</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FFFCF7"/>
                    </a:solidFill>
                  </a:tcPr>
                </a:tc>
                <a:tc>
                  <a:txBody>
                    <a:bodyPr/>
                    <a:lstStyle/>
                    <a:p>
                      <a:pPr marL="0" indent="0">
                        <a:buNone/>
                      </a:pPr>
                      <a:r>
                        <a:rPr lang="en-US" sz="1700" dirty="0">
                          <a:solidFill>
                            <a:srgbClr val="30241F"/>
                          </a:solidFill>
                          <a:latin typeface="Calibri" pitchFamily="34" charset="0"/>
                          <a:ea typeface="Calibri" pitchFamily="34" charset="-122"/>
                          <a:cs typeface="Calibri" pitchFamily="34" charset="-120"/>
                        </a:rPr>
                        <a:t>Espresso, Milch, Milch</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FFFCF7"/>
                    </a:solidFill>
                  </a:tcPr>
                </a:tc>
                <a:tc>
                  <a:txBody>
                    <a:bodyPr/>
                    <a:lstStyle/>
                    <a:p>
                      <a:pPr marL="0" indent="0">
                        <a:buNone/>
                      </a:pPr>
                      <a:r>
                        <a:rPr lang="en-US" sz="1700" dirty="0">
                          <a:solidFill>
                            <a:srgbClr val="30241F"/>
                          </a:solidFill>
                          <a:latin typeface="Calibri" pitchFamily="34" charset="0"/>
                          <a:ea typeface="Calibri" pitchFamily="34" charset="-122"/>
                          <a:cs typeface="Calibri" pitchFamily="34" charset="-120"/>
                        </a:rPr>
                        <a:t>3,00 Euro</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FFFCF7"/>
                    </a:solidFill>
                  </a:tcPr>
                </a:tc>
                <a:extLst>
                  <a:ext uri="{0D108BD9-81ED-4DB2-BD59-A6C34878D82A}">
                    <a16:rowId xmlns:a16="http://schemas.microsoft.com/office/drawing/2014/main" val="10004"/>
                  </a:ext>
                </a:extLst>
              </a:tr>
            </a:tbl>
          </a:graphicData>
        </a:graphic>
      </p:graphicFrame>
      <p:sp>
        <p:nvSpPr>
          <p:cNvPr id="7" name="Shape 4"/>
          <p:cNvSpPr/>
          <p:nvPr/>
        </p:nvSpPr>
        <p:spPr>
          <a:xfrm>
            <a:off x="685800" y="5513832"/>
            <a:ext cx="594360" cy="502920"/>
          </a:xfrm>
          <a:prstGeom prst="rect">
            <a:avLst/>
          </a:prstGeom>
          <a:solidFill>
            <a:srgbClr val="45634D"/>
          </a:solidFill>
          <a:ln w="12700">
            <a:solidFill>
              <a:srgbClr val="45634D"/>
            </a:solidFill>
            <a:prstDash val="solid"/>
          </a:ln>
        </p:spPr>
        <p:txBody>
          <a:bodyPr/>
          <a:lstStyle/>
          <a:p>
            <a:endParaRPr lang="de-DE"/>
          </a:p>
        </p:txBody>
      </p:sp>
      <p:sp>
        <p:nvSpPr>
          <p:cNvPr id="8" name="Text 5"/>
          <p:cNvSpPr/>
          <p:nvPr/>
        </p:nvSpPr>
        <p:spPr>
          <a:xfrm>
            <a:off x="859536" y="5559552"/>
            <a:ext cx="274320" cy="365760"/>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6" name="Text 6"/>
          <p:cNvSpPr/>
          <p:nvPr/>
        </p:nvSpPr>
        <p:spPr>
          <a:xfrm>
            <a:off x="1554480" y="5504688"/>
            <a:ext cx="9875520" cy="640080"/>
          </a:xfrm>
          <a:prstGeom prst="rect">
            <a:avLst/>
          </a:prstGeom>
          <a:noFill/>
          <a:ln/>
        </p:spPr>
        <p:txBody>
          <a:bodyPr wrap="square" lIns="0" tIns="0" rIns="0" bIns="0" rtlCol="0" anchor="t"/>
          <a:lstStyle/>
          <a:p>
            <a:pPr marL="0" indent="0">
              <a:buNone/>
            </a:pPr>
            <a:r>
              <a:rPr lang="en-US" sz="2200" dirty="0">
                <a:solidFill>
                  <a:srgbClr val="30241F"/>
                </a:solidFill>
                <a:latin typeface="Calibri" pitchFamily="34" charset="0"/>
                <a:ea typeface="Calibri" pitchFamily="34" charset="-122"/>
                <a:cs typeface="Calibri" pitchFamily="34" charset="-120"/>
              </a:rPr>
              <a:t>Was passiert, wenn wir Milch zweimal um denselben Espresso legen?</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6F0E7"/>
        </a:solidFill>
        <a:effectLst/>
      </p:bgPr>
    </p:bg>
    <p:spTree>
      <p:nvGrpSpPr>
        <p:cNvPr id="1" name=""/>
        <p:cNvGrpSpPr/>
        <p:nvPr/>
      </p:nvGrpSpPr>
      <p:grpSpPr>
        <a:xfrm>
          <a:off x="0" y="0"/>
          <a:ext cx="0" cy="0"/>
          <a:chOff x="0" y="0"/>
          <a:chExt cx="0" cy="0"/>
        </a:xfrm>
      </p:grpSpPr>
      <p:sp>
        <p:nvSpPr>
          <p:cNvPr id="2" name="Text 0"/>
          <p:cNvSpPr/>
          <p:nvPr/>
        </p:nvSpPr>
        <p:spPr>
          <a:xfrm>
            <a:off x="594360" y="228600"/>
            <a:ext cx="10058400" cy="256032"/>
          </a:xfrm>
          <a:prstGeom prst="rect">
            <a:avLst/>
          </a:prstGeom>
          <a:noFill/>
          <a:ln/>
        </p:spPr>
        <p:txBody>
          <a:bodyPr wrap="square" lIns="0" tIns="0" rIns="0" bIns="0" rtlCol="0" anchor="t"/>
          <a:lstStyle/>
          <a:p>
            <a:pPr marL="0" indent="0">
              <a:buNone/>
            </a:pPr>
            <a:r>
              <a:rPr lang="en-US" sz="1100" b="1" kern="0" spc="180" dirty="0">
                <a:solidFill>
                  <a:srgbClr val="76665B"/>
                </a:solidFill>
                <a:latin typeface="Calibri" pitchFamily="34" charset="0"/>
                <a:ea typeface="Calibri" pitchFamily="34" charset="-122"/>
                <a:cs typeface="Calibri" pitchFamily="34" charset="-120"/>
              </a:rPr>
              <a:t>04 / Vorteile und Grenzen</a:t>
            </a:r>
            <a:endParaRPr lang="en-US" sz="1100" dirty="0"/>
          </a:p>
        </p:txBody>
      </p:sp>
      <p:sp>
        <p:nvSpPr>
          <p:cNvPr id="3" name="Text 1"/>
          <p:cNvSpPr/>
          <p:nvPr/>
        </p:nvSpPr>
        <p:spPr>
          <a:xfrm>
            <a:off x="594360" y="585216"/>
            <a:ext cx="10972800" cy="941832"/>
          </a:xfrm>
          <a:prstGeom prst="rect">
            <a:avLst/>
          </a:prstGeom>
          <a:noFill/>
          <a:ln/>
        </p:spPr>
        <p:txBody>
          <a:bodyPr wrap="square" lIns="0" tIns="0" rIns="0" bIns="0" rtlCol="0" anchor="t"/>
          <a:lstStyle/>
          <a:p>
            <a:pPr marL="0" indent="0">
              <a:buNone/>
            </a:pPr>
            <a:r>
              <a:rPr lang="en-US" sz="3600" b="1" dirty="0">
                <a:solidFill>
                  <a:srgbClr val="30241F"/>
                </a:solidFill>
                <a:latin typeface="Georgia" pitchFamily="34" charset="0"/>
                <a:ea typeface="Georgia" pitchFamily="34" charset="-122"/>
                <a:cs typeface="Georgia" pitchFamily="34" charset="-120"/>
              </a:rPr>
              <a:t>Flexibilität hat einen Preis</a:t>
            </a:r>
            <a:endParaRPr lang="en-US" sz="3600" dirty="0"/>
          </a:p>
        </p:txBody>
      </p:sp>
      <p:sp>
        <p:nvSpPr>
          <p:cNvPr id="4" name="Text 2"/>
          <p:cNvSpPr/>
          <p:nvPr/>
        </p:nvSpPr>
        <p:spPr>
          <a:xfrm>
            <a:off x="594360" y="6510528"/>
            <a:ext cx="9144000" cy="201168"/>
          </a:xfrm>
          <a:prstGeom prst="rect">
            <a:avLst/>
          </a:prstGeom>
          <a:noFill/>
          <a:ln/>
        </p:spPr>
        <p:txBody>
          <a:bodyPr wrap="square" lIns="0" tIns="0" rIns="0" bIns="0" rtlCol="0" anchor="t"/>
          <a:lstStyle/>
          <a:p>
            <a:pPr marL="0" indent="0">
              <a:buNone/>
            </a:pPr>
            <a:r>
              <a:rPr lang="en-US" sz="1000" dirty="0">
                <a:solidFill>
                  <a:srgbClr val="76665B"/>
                </a:solidFill>
                <a:latin typeface="Calibri" pitchFamily="34" charset="0"/>
                <a:ea typeface="Calibri" pitchFamily="34" charset="-122"/>
                <a:cs typeface="Calibri" pitchFamily="34" charset="-120"/>
              </a:rPr>
              <a:t>Kaffee mit Zusätzen · Java-Demo + Python-Übung</a:t>
            </a:r>
            <a:endParaRPr lang="en-US" sz="1000" dirty="0"/>
          </a:p>
        </p:txBody>
      </p:sp>
      <p:sp>
        <p:nvSpPr>
          <p:cNvPr id="5" name="Text 3"/>
          <p:cNvSpPr/>
          <p:nvPr/>
        </p:nvSpPr>
        <p:spPr>
          <a:xfrm>
            <a:off x="11082528" y="6455664"/>
            <a:ext cx="502920" cy="274320"/>
          </a:xfrm>
          <a:prstGeom prst="rect">
            <a:avLst/>
          </a:prstGeom>
          <a:noFill/>
          <a:ln/>
        </p:spPr>
        <p:txBody>
          <a:bodyPr wrap="square" lIns="0" tIns="0" rIns="0" bIns="0" rtlCol="0" anchor="t"/>
          <a:lstStyle/>
          <a:p>
            <a:pPr marL="0" indent="0" algn="r">
              <a:buNone/>
            </a:pPr>
            <a:r>
              <a:rPr lang="en-US" sz="1200" dirty="0">
                <a:solidFill>
                  <a:srgbClr val="76665B"/>
                </a:solidFill>
                <a:latin typeface="Calibri" pitchFamily="34" charset="0"/>
                <a:ea typeface="Calibri" pitchFamily="34" charset="-122"/>
                <a:cs typeface="Calibri" pitchFamily="34" charset="-120"/>
              </a:rPr>
              <a:t>09</a:t>
            </a:r>
            <a:endParaRPr lang="en-US" sz="1200" dirty="0"/>
          </a:p>
        </p:txBody>
      </p:sp>
      <p:sp>
        <p:nvSpPr>
          <p:cNvPr id="6" name="Shape 4"/>
          <p:cNvSpPr/>
          <p:nvPr/>
        </p:nvSpPr>
        <p:spPr>
          <a:xfrm>
            <a:off x="685800" y="1737360"/>
            <a:ext cx="5257800" cy="4251960"/>
          </a:xfrm>
          <a:prstGeom prst="rect">
            <a:avLst/>
          </a:prstGeom>
          <a:solidFill>
            <a:srgbClr val="FFFCF7"/>
          </a:solidFill>
          <a:ln w="12700">
            <a:solidFill>
              <a:srgbClr val="FFFCF7"/>
            </a:solidFill>
            <a:prstDash val="solid"/>
          </a:ln>
        </p:spPr>
        <p:txBody>
          <a:bodyPr/>
          <a:lstStyle/>
          <a:p>
            <a:endParaRPr lang="de-DE"/>
          </a:p>
        </p:txBody>
      </p:sp>
      <p:sp>
        <p:nvSpPr>
          <p:cNvPr id="7" name="Shape 5"/>
          <p:cNvSpPr/>
          <p:nvPr/>
        </p:nvSpPr>
        <p:spPr>
          <a:xfrm>
            <a:off x="6263640" y="1737360"/>
            <a:ext cx="5257800" cy="4251960"/>
          </a:xfrm>
          <a:prstGeom prst="rect">
            <a:avLst/>
          </a:prstGeom>
          <a:solidFill>
            <a:srgbClr val="F1DFD7"/>
          </a:solidFill>
          <a:ln w="12700">
            <a:solidFill>
              <a:srgbClr val="F1DFD7"/>
            </a:solidFill>
            <a:prstDash val="solid"/>
          </a:ln>
        </p:spPr>
        <p:txBody>
          <a:bodyPr/>
          <a:lstStyle/>
          <a:p>
            <a:endParaRPr lang="de-DE"/>
          </a:p>
        </p:txBody>
      </p:sp>
      <p:sp>
        <p:nvSpPr>
          <p:cNvPr id="8" name="Text 6"/>
          <p:cNvSpPr/>
          <p:nvPr/>
        </p:nvSpPr>
        <p:spPr>
          <a:xfrm>
            <a:off x="960120" y="2029968"/>
            <a:ext cx="4663440" cy="548640"/>
          </a:xfrm>
          <a:prstGeom prst="rect">
            <a:avLst/>
          </a:prstGeom>
          <a:noFill/>
          <a:ln/>
        </p:spPr>
        <p:txBody>
          <a:bodyPr wrap="square" lIns="0" tIns="0" rIns="0" bIns="0" rtlCol="0" anchor="t"/>
          <a:lstStyle/>
          <a:p>
            <a:pPr marL="0" indent="0">
              <a:buNone/>
            </a:pPr>
            <a:r>
              <a:rPr lang="en-US" sz="2800" b="1" dirty="0">
                <a:solidFill>
                  <a:srgbClr val="45634D"/>
                </a:solidFill>
                <a:latin typeface="Calibri" pitchFamily="34" charset="0"/>
                <a:ea typeface="Calibri" pitchFamily="34" charset="-122"/>
                <a:cs typeface="Calibri" pitchFamily="34" charset="-120"/>
              </a:rPr>
              <a:t>Vorteile</a:t>
            </a:r>
            <a:endParaRPr lang="en-US" sz="2800" dirty="0"/>
          </a:p>
        </p:txBody>
      </p:sp>
      <p:sp>
        <p:nvSpPr>
          <p:cNvPr id="9" name="Text 7"/>
          <p:cNvSpPr/>
          <p:nvPr/>
        </p:nvSpPr>
        <p:spPr>
          <a:xfrm>
            <a:off x="6537960" y="2029968"/>
            <a:ext cx="4663440" cy="548640"/>
          </a:xfrm>
          <a:prstGeom prst="rect">
            <a:avLst/>
          </a:prstGeom>
          <a:noFill/>
          <a:ln/>
        </p:spPr>
        <p:txBody>
          <a:bodyPr wrap="square" lIns="0" tIns="0" rIns="0" bIns="0" rtlCol="0" anchor="t"/>
          <a:lstStyle/>
          <a:p>
            <a:pPr marL="0" indent="0">
              <a:buNone/>
            </a:pPr>
            <a:r>
              <a:rPr lang="en-US" sz="2800" b="1" dirty="0">
                <a:solidFill>
                  <a:srgbClr val="A75B2A"/>
                </a:solidFill>
                <a:latin typeface="Calibri" pitchFamily="34" charset="0"/>
                <a:ea typeface="Calibri" pitchFamily="34" charset="-122"/>
                <a:cs typeface="Calibri" pitchFamily="34" charset="-120"/>
              </a:rPr>
              <a:t>Nachteile</a:t>
            </a:r>
            <a:endParaRPr lang="en-US" sz="2800" dirty="0"/>
          </a:p>
        </p:txBody>
      </p:sp>
      <p:sp>
        <p:nvSpPr>
          <p:cNvPr id="10" name="Text 8"/>
          <p:cNvSpPr/>
          <p:nvPr/>
        </p:nvSpPr>
        <p:spPr>
          <a:xfrm>
            <a:off x="960120" y="2825496"/>
            <a:ext cx="4663440" cy="347472"/>
          </a:xfrm>
          <a:prstGeom prst="rect">
            <a:avLst/>
          </a:prstGeom>
          <a:noFill/>
          <a:ln/>
        </p:spPr>
        <p:txBody>
          <a:bodyPr wrap="square" lIns="0" tIns="0" rIns="0" bIns="0" rtlCol="0" anchor="t"/>
          <a:lstStyle/>
          <a:p>
            <a:pPr marL="0" indent="0">
              <a:buNone/>
            </a:pPr>
            <a:r>
              <a:rPr lang="en-US" sz="2100" b="1" dirty="0">
                <a:solidFill>
                  <a:srgbClr val="30241F"/>
                </a:solidFill>
                <a:latin typeface="Calibri" pitchFamily="34" charset="0"/>
                <a:ea typeface="Calibri" pitchFamily="34" charset="-122"/>
                <a:cs typeface="Calibri" pitchFamily="34" charset="-120"/>
              </a:rPr>
              <a:t>Flexibel kombinieren</a:t>
            </a:r>
            <a:endParaRPr lang="en-US" sz="2100" dirty="0"/>
          </a:p>
        </p:txBody>
      </p:sp>
      <p:sp>
        <p:nvSpPr>
          <p:cNvPr id="11" name="Text 9"/>
          <p:cNvSpPr/>
          <p:nvPr/>
        </p:nvSpPr>
        <p:spPr>
          <a:xfrm>
            <a:off x="960120" y="3246120"/>
            <a:ext cx="4617720" cy="411480"/>
          </a:xfrm>
          <a:prstGeom prst="rect">
            <a:avLst/>
          </a:prstGeom>
          <a:noFill/>
          <a:ln/>
        </p:spPr>
        <p:txBody>
          <a:bodyPr wrap="square" lIns="0" tIns="0" rIns="0" bIns="0" rtlCol="0" anchor="t"/>
          <a:lstStyle/>
          <a:p>
            <a:pPr marL="0" indent="0">
              <a:buNone/>
            </a:pPr>
            <a:r>
              <a:rPr lang="en-US" sz="1700" dirty="0">
                <a:solidFill>
                  <a:srgbClr val="76665B"/>
                </a:solidFill>
                <a:latin typeface="Calibri" pitchFamily="34" charset="0"/>
                <a:ea typeface="Calibri" pitchFamily="34" charset="-122"/>
                <a:cs typeface="Calibri" pitchFamily="34" charset="-120"/>
              </a:rPr>
              <a:t>Zusätze lassen sich frei verschachteln.</a:t>
            </a:r>
            <a:endParaRPr lang="en-US" sz="1700" dirty="0"/>
          </a:p>
        </p:txBody>
      </p:sp>
      <p:sp>
        <p:nvSpPr>
          <p:cNvPr id="12" name="Text 10"/>
          <p:cNvSpPr/>
          <p:nvPr/>
        </p:nvSpPr>
        <p:spPr>
          <a:xfrm>
            <a:off x="960120" y="3767328"/>
            <a:ext cx="4663440" cy="347472"/>
          </a:xfrm>
          <a:prstGeom prst="rect">
            <a:avLst/>
          </a:prstGeom>
          <a:noFill/>
          <a:ln/>
        </p:spPr>
        <p:txBody>
          <a:bodyPr wrap="square" lIns="0" tIns="0" rIns="0" bIns="0" rtlCol="0" anchor="t"/>
          <a:lstStyle/>
          <a:p>
            <a:pPr marL="0" indent="0">
              <a:buNone/>
            </a:pPr>
            <a:r>
              <a:rPr lang="en-US" sz="2100" b="1" dirty="0">
                <a:solidFill>
                  <a:srgbClr val="30241F"/>
                </a:solidFill>
                <a:latin typeface="Calibri" pitchFamily="34" charset="0"/>
                <a:ea typeface="Calibri" pitchFamily="34" charset="-122"/>
                <a:cs typeface="Calibri" pitchFamily="34" charset="-120"/>
              </a:rPr>
              <a:t>Einfach erweitern</a:t>
            </a:r>
            <a:endParaRPr lang="en-US" sz="2100" dirty="0"/>
          </a:p>
        </p:txBody>
      </p:sp>
      <p:sp>
        <p:nvSpPr>
          <p:cNvPr id="13" name="Text 11"/>
          <p:cNvSpPr/>
          <p:nvPr/>
        </p:nvSpPr>
        <p:spPr>
          <a:xfrm>
            <a:off x="960120" y="4187952"/>
            <a:ext cx="4617720" cy="411480"/>
          </a:xfrm>
          <a:prstGeom prst="rect">
            <a:avLst/>
          </a:prstGeom>
          <a:noFill/>
          <a:ln/>
        </p:spPr>
        <p:txBody>
          <a:bodyPr wrap="square" lIns="0" tIns="0" rIns="0" bIns="0" rtlCol="0" anchor="t"/>
          <a:lstStyle/>
          <a:p>
            <a:pPr marL="0" indent="0">
              <a:buNone/>
            </a:pPr>
            <a:r>
              <a:rPr lang="en-US" sz="1700" dirty="0">
                <a:solidFill>
                  <a:srgbClr val="76665B"/>
                </a:solidFill>
                <a:latin typeface="Calibri" pitchFamily="34" charset="0"/>
                <a:ea typeface="Calibri" pitchFamily="34" charset="-122"/>
                <a:cs typeface="Calibri" pitchFamily="34" charset="-120"/>
              </a:rPr>
              <a:t>Neue Dekorierer ergänzen Funktionen.</a:t>
            </a:r>
            <a:endParaRPr lang="en-US" sz="1700" dirty="0"/>
          </a:p>
        </p:txBody>
      </p:sp>
      <p:sp>
        <p:nvSpPr>
          <p:cNvPr id="14" name="Text 12"/>
          <p:cNvSpPr/>
          <p:nvPr/>
        </p:nvSpPr>
        <p:spPr>
          <a:xfrm>
            <a:off x="960120" y="4709160"/>
            <a:ext cx="4663440" cy="347472"/>
          </a:xfrm>
          <a:prstGeom prst="rect">
            <a:avLst/>
          </a:prstGeom>
          <a:noFill/>
          <a:ln/>
        </p:spPr>
        <p:txBody>
          <a:bodyPr wrap="square" lIns="0" tIns="0" rIns="0" bIns="0" rtlCol="0" anchor="t"/>
          <a:lstStyle/>
          <a:p>
            <a:pPr marL="0" indent="0">
              <a:buNone/>
            </a:pPr>
            <a:r>
              <a:rPr lang="en-US" sz="2100" b="1" dirty="0">
                <a:solidFill>
                  <a:srgbClr val="30241F"/>
                </a:solidFill>
                <a:latin typeface="Calibri" pitchFamily="34" charset="0"/>
                <a:ea typeface="Calibri" pitchFamily="34" charset="-122"/>
                <a:cs typeface="Calibri" pitchFamily="34" charset="-120"/>
              </a:rPr>
              <a:t>Klassen übersichtlich halten</a:t>
            </a:r>
            <a:endParaRPr lang="en-US" sz="2100" dirty="0"/>
          </a:p>
        </p:txBody>
      </p:sp>
      <p:sp>
        <p:nvSpPr>
          <p:cNvPr id="15" name="Text 13"/>
          <p:cNvSpPr/>
          <p:nvPr/>
        </p:nvSpPr>
        <p:spPr>
          <a:xfrm>
            <a:off x="960120" y="5129784"/>
            <a:ext cx="4617720" cy="411480"/>
          </a:xfrm>
          <a:prstGeom prst="rect">
            <a:avLst/>
          </a:prstGeom>
          <a:noFill/>
          <a:ln/>
        </p:spPr>
        <p:txBody>
          <a:bodyPr wrap="square" lIns="0" tIns="0" rIns="0" bIns="0" rtlCol="0" anchor="t"/>
          <a:lstStyle/>
          <a:p>
            <a:pPr marL="0" indent="0">
              <a:buNone/>
            </a:pPr>
            <a:r>
              <a:rPr lang="en-US" sz="1700" dirty="0">
                <a:solidFill>
                  <a:srgbClr val="76665B"/>
                </a:solidFill>
                <a:latin typeface="Calibri" pitchFamily="34" charset="0"/>
                <a:ea typeface="Calibri" pitchFamily="34" charset="-122"/>
                <a:cs typeface="Calibri" pitchFamily="34" charset="-120"/>
              </a:rPr>
              <a:t>Eine Aufgabe pro Zusatz.</a:t>
            </a:r>
            <a:endParaRPr lang="en-US" sz="1700" dirty="0"/>
          </a:p>
        </p:txBody>
      </p:sp>
      <p:sp>
        <p:nvSpPr>
          <p:cNvPr id="16" name="Text 14"/>
          <p:cNvSpPr/>
          <p:nvPr/>
        </p:nvSpPr>
        <p:spPr>
          <a:xfrm>
            <a:off x="6537960" y="2825496"/>
            <a:ext cx="4663440" cy="347472"/>
          </a:xfrm>
          <a:prstGeom prst="rect">
            <a:avLst/>
          </a:prstGeom>
          <a:noFill/>
          <a:ln/>
        </p:spPr>
        <p:txBody>
          <a:bodyPr wrap="square" lIns="0" tIns="0" rIns="0" bIns="0" rtlCol="0" anchor="t"/>
          <a:lstStyle/>
          <a:p>
            <a:pPr marL="0" indent="0">
              <a:buNone/>
            </a:pPr>
            <a:r>
              <a:rPr lang="en-US" sz="2100" b="1" dirty="0">
                <a:solidFill>
                  <a:srgbClr val="30241F"/>
                </a:solidFill>
                <a:latin typeface="Calibri" pitchFamily="34" charset="0"/>
                <a:ea typeface="Calibri" pitchFamily="34" charset="-122"/>
                <a:cs typeface="Calibri" pitchFamily="34" charset="-120"/>
              </a:rPr>
              <a:t>Viele kleine Objekte</a:t>
            </a:r>
            <a:endParaRPr lang="en-US" sz="2100" dirty="0"/>
          </a:p>
        </p:txBody>
      </p:sp>
      <p:sp>
        <p:nvSpPr>
          <p:cNvPr id="17" name="Text 15"/>
          <p:cNvSpPr/>
          <p:nvPr/>
        </p:nvSpPr>
        <p:spPr>
          <a:xfrm>
            <a:off x="6537960" y="3246120"/>
            <a:ext cx="4617720" cy="411480"/>
          </a:xfrm>
          <a:prstGeom prst="rect">
            <a:avLst/>
          </a:prstGeom>
          <a:noFill/>
          <a:ln/>
        </p:spPr>
        <p:txBody>
          <a:bodyPr wrap="square" lIns="0" tIns="0" rIns="0" bIns="0" rtlCol="0" anchor="t"/>
          <a:lstStyle/>
          <a:p>
            <a:pPr marL="0" indent="0">
              <a:buNone/>
            </a:pPr>
            <a:r>
              <a:rPr lang="en-US" sz="1700" dirty="0">
                <a:solidFill>
                  <a:srgbClr val="76665B"/>
                </a:solidFill>
                <a:latin typeface="Calibri" pitchFamily="34" charset="0"/>
                <a:ea typeface="Calibri" pitchFamily="34" charset="-122"/>
                <a:cs typeface="Calibri" pitchFamily="34" charset="-120"/>
              </a:rPr>
              <a:t>Aufbau und Initialisierung werden länger.</a:t>
            </a:r>
            <a:endParaRPr lang="en-US" sz="1700" dirty="0"/>
          </a:p>
        </p:txBody>
      </p:sp>
      <p:sp>
        <p:nvSpPr>
          <p:cNvPr id="18" name="Text 16"/>
          <p:cNvSpPr/>
          <p:nvPr/>
        </p:nvSpPr>
        <p:spPr>
          <a:xfrm>
            <a:off x="6537960" y="3767328"/>
            <a:ext cx="4663440" cy="347472"/>
          </a:xfrm>
          <a:prstGeom prst="rect">
            <a:avLst/>
          </a:prstGeom>
          <a:noFill/>
          <a:ln/>
        </p:spPr>
        <p:txBody>
          <a:bodyPr wrap="square" lIns="0" tIns="0" rIns="0" bIns="0" rtlCol="0" anchor="t"/>
          <a:lstStyle/>
          <a:p>
            <a:pPr marL="0" indent="0">
              <a:buNone/>
            </a:pPr>
            <a:r>
              <a:rPr lang="en-US" sz="2100" b="1" dirty="0">
                <a:solidFill>
                  <a:srgbClr val="30241F"/>
                </a:solidFill>
                <a:latin typeface="Calibri" pitchFamily="34" charset="0"/>
                <a:ea typeface="Calibri" pitchFamily="34" charset="-122"/>
                <a:cs typeface="Calibri" pitchFamily="34" charset="-120"/>
              </a:rPr>
              <a:t>Fehlersuche in Ketten</a:t>
            </a:r>
            <a:endParaRPr lang="en-US" sz="2100" dirty="0"/>
          </a:p>
        </p:txBody>
      </p:sp>
      <p:sp>
        <p:nvSpPr>
          <p:cNvPr id="19" name="Text 17"/>
          <p:cNvSpPr/>
          <p:nvPr/>
        </p:nvSpPr>
        <p:spPr>
          <a:xfrm>
            <a:off x="6537960" y="4187952"/>
            <a:ext cx="4617720" cy="411480"/>
          </a:xfrm>
          <a:prstGeom prst="rect">
            <a:avLst/>
          </a:prstGeom>
          <a:noFill/>
          <a:ln/>
        </p:spPr>
        <p:txBody>
          <a:bodyPr wrap="square" lIns="0" tIns="0" rIns="0" bIns="0" rtlCol="0" anchor="t"/>
          <a:lstStyle/>
          <a:p>
            <a:pPr marL="0" indent="0">
              <a:buNone/>
            </a:pPr>
            <a:r>
              <a:rPr lang="en-US" sz="1700" dirty="0">
                <a:solidFill>
                  <a:srgbClr val="76665B"/>
                </a:solidFill>
                <a:latin typeface="Calibri" pitchFamily="34" charset="0"/>
                <a:ea typeface="Calibri" pitchFamily="34" charset="-122"/>
                <a:cs typeface="Calibri" pitchFamily="34" charset="-120"/>
              </a:rPr>
              <a:t>Aufrufe laufen durch mehrere Schichten.</a:t>
            </a:r>
            <a:endParaRPr lang="en-US" sz="1700" dirty="0"/>
          </a:p>
        </p:txBody>
      </p:sp>
      <p:sp>
        <p:nvSpPr>
          <p:cNvPr id="20" name="Text 18"/>
          <p:cNvSpPr/>
          <p:nvPr/>
        </p:nvSpPr>
        <p:spPr>
          <a:xfrm>
            <a:off x="6537960" y="4709160"/>
            <a:ext cx="4663440" cy="347472"/>
          </a:xfrm>
          <a:prstGeom prst="rect">
            <a:avLst/>
          </a:prstGeom>
          <a:noFill/>
          <a:ln/>
        </p:spPr>
        <p:txBody>
          <a:bodyPr wrap="square" lIns="0" tIns="0" rIns="0" bIns="0" rtlCol="0" anchor="t"/>
          <a:lstStyle/>
          <a:p>
            <a:pPr marL="0" indent="0">
              <a:buNone/>
            </a:pPr>
            <a:r>
              <a:rPr lang="en-US" sz="2100" b="1" dirty="0">
                <a:solidFill>
                  <a:srgbClr val="30241F"/>
                </a:solidFill>
                <a:latin typeface="Calibri" pitchFamily="34" charset="0"/>
                <a:ea typeface="Calibri" pitchFamily="34" charset="-122"/>
                <a:cs typeface="Calibri" pitchFamily="34" charset="-120"/>
              </a:rPr>
              <a:t>Andere Objektidentität</a:t>
            </a:r>
            <a:endParaRPr lang="en-US" sz="2100" dirty="0"/>
          </a:p>
        </p:txBody>
      </p:sp>
      <p:sp>
        <p:nvSpPr>
          <p:cNvPr id="21" name="Text 19"/>
          <p:cNvSpPr/>
          <p:nvPr/>
        </p:nvSpPr>
        <p:spPr>
          <a:xfrm>
            <a:off x="6537960" y="5129784"/>
            <a:ext cx="4617720" cy="411480"/>
          </a:xfrm>
          <a:prstGeom prst="rect">
            <a:avLst/>
          </a:prstGeom>
          <a:noFill/>
          <a:ln/>
        </p:spPr>
        <p:txBody>
          <a:bodyPr wrap="square" lIns="0" tIns="0" rIns="0" bIns="0" rtlCol="0" anchor="t"/>
          <a:lstStyle/>
          <a:p>
            <a:pPr marL="0" indent="0">
              <a:buNone/>
            </a:pPr>
            <a:r>
              <a:rPr lang="en-US" sz="1700" dirty="0">
                <a:solidFill>
                  <a:srgbClr val="76665B"/>
                </a:solidFill>
                <a:latin typeface="Calibri" pitchFamily="34" charset="0"/>
                <a:ea typeface="Calibri" pitchFamily="34" charset="-122"/>
                <a:cs typeface="Calibri" pitchFamily="34" charset="-120"/>
              </a:rPr>
              <a:t>Hülle und Inhalt sind nicht dieselbe Instanz.</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6F0E7"/>
        </a:solidFill>
        <a:effectLst/>
      </p:bgPr>
    </p:bg>
    <p:spTree>
      <p:nvGrpSpPr>
        <p:cNvPr id="1" name=""/>
        <p:cNvGrpSpPr/>
        <p:nvPr/>
      </p:nvGrpSpPr>
      <p:grpSpPr>
        <a:xfrm>
          <a:off x="0" y="0"/>
          <a:ext cx="0" cy="0"/>
          <a:chOff x="0" y="0"/>
          <a:chExt cx="0" cy="0"/>
        </a:xfrm>
      </p:grpSpPr>
      <p:sp>
        <p:nvSpPr>
          <p:cNvPr id="2" name="Text 0"/>
          <p:cNvSpPr/>
          <p:nvPr/>
        </p:nvSpPr>
        <p:spPr>
          <a:xfrm>
            <a:off x="594360" y="228600"/>
            <a:ext cx="10058400" cy="256032"/>
          </a:xfrm>
          <a:prstGeom prst="rect">
            <a:avLst/>
          </a:prstGeom>
          <a:noFill/>
          <a:ln/>
        </p:spPr>
        <p:txBody>
          <a:bodyPr wrap="square" lIns="0" tIns="0" rIns="0" bIns="0" rtlCol="0" anchor="t"/>
          <a:lstStyle/>
          <a:p>
            <a:pPr marL="0" indent="0">
              <a:buNone/>
            </a:pPr>
            <a:r>
              <a:rPr lang="en-US" sz="1100" b="1" kern="0" spc="180" dirty="0">
                <a:solidFill>
                  <a:srgbClr val="76665B"/>
                </a:solidFill>
                <a:latin typeface="Calibri" pitchFamily="34" charset="0"/>
                <a:ea typeface="Calibri" pitchFamily="34" charset="-122"/>
                <a:cs typeface="Calibri" pitchFamily="34" charset="-120"/>
              </a:rPr>
              <a:t>04 / Einsatzsituationen</a:t>
            </a:r>
            <a:endParaRPr lang="en-US" sz="1100" dirty="0"/>
          </a:p>
        </p:txBody>
      </p:sp>
      <p:sp>
        <p:nvSpPr>
          <p:cNvPr id="3" name="Text 1"/>
          <p:cNvSpPr/>
          <p:nvPr/>
        </p:nvSpPr>
        <p:spPr>
          <a:xfrm>
            <a:off x="594360" y="585216"/>
            <a:ext cx="10972800" cy="941832"/>
          </a:xfrm>
          <a:prstGeom prst="rect">
            <a:avLst/>
          </a:prstGeom>
          <a:noFill/>
          <a:ln/>
        </p:spPr>
        <p:txBody>
          <a:bodyPr wrap="square" lIns="0" tIns="0" rIns="0" bIns="0" rtlCol="0" anchor="t"/>
          <a:lstStyle/>
          <a:p>
            <a:pPr marL="0" indent="0">
              <a:buNone/>
            </a:pPr>
            <a:r>
              <a:rPr lang="en-US" sz="3600" b="1" dirty="0">
                <a:solidFill>
                  <a:srgbClr val="30241F"/>
                </a:solidFill>
                <a:latin typeface="Georgia" pitchFamily="34" charset="0"/>
                <a:ea typeface="Georgia" pitchFamily="34" charset="-122"/>
                <a:cs typeface="Georgia" pitchFamily="34" charset="-120"/>
              </a:rPr>
              <a:t>Wann lohnt sich das Decorator-Muster?</a:t>
            </a:r>
            <a:endParaRPr lang="en-US" sz="3600" dirty="0"/>
          </a:p>
        </p:txBody>
      </p:sp>
      <p:sp>
        <p:nvSpPr>
          <p:cNvPr id="4" name="Text 2"/>
          <p:cNvSpPr/>
          <p:nvPr/>
        </p:nvSpPr>
        <p:spPr>
          <a:xfrm>
            <a:off x="594360" y="6510528"/>
            <a:ext cx="9144000" cy="201168"/>
          </a:xfrm>
          <a:prstGeom prst="rect">
            <a:avLst/>
          </a:prstGeom>
          <a:noFill/>
          <a:ln/>
        </p:spPr>
        <p:txBody>
          <a:bodyPr wrap="square" lIns="0" tIns="0" rIns="0" bIns="0" rtlCol="0" anchor="t"/>
          <a:lstStyle/>
          <a:p>
            <a:pPr marL="0" indent="0">
              <a:buNone/>
            </a:pPr>
            <a:r>
              <a:rPr lang="en-US" sz="1000" dirty="0">
                <a:solidFill>
                  <a:srgbClr val="76665B"/>
                </a:solidFill>
                <a:latin typeface="Calibri" pitchFamily="34" charset="0"/>
                <a:ea typeface="Calibri" pitchFamily="34" charset="-122"/>
                <a:cs typeface="Calibri" pitchFamily="34" charset="-120"/>
              </a:rPr>
              <a:t>Kaffee mit Zusätzen · Java-Demo + Python-Übung</a:t>
            </a:r>
            <a:endParaRPr lang="en-US" sz="1000" dirty="0"/>
          </a:p>
        </p:txBody>
      </p:sp>
      <p:sp>
        <p:nvSpPr>
          <p:cNvPr id="5" name="Text 3"/>
          <p:cNvSpPr/>
          <p:nvPr/>
        </p:nvSpPr>
        <p:spPr>
          <a:xfrm>
            <a:off x="11082528" y="6455664"/>
            <a:ext cx="502920" cy="274320"/>
          </a:xfrm>
          <a:prstGeom prst="rect">
            <a:avLst/>
          </a:prstGeom>
          <a:noFill/>
          <a:ln/>
        </p:spPr>
        <p:txBody>
          <a:bodyPr wrap="square" lIns="0" tIns="0" rIns="0" bIns="0" rtlCol="0" anchor="t"/>
          <a:lstStyle/>
          <a:p>
            <a:pPr marL="0" indent="0" algn="r">
              <a:buNone/>
            </a:pPr>
            <a:r>
              <a:rPr lang="en-US" sz="1200" dirty="0">
                <a:solidFill>
                  <a:srgbClr val="76665B"/>
                </a:solidFill>
                <a:latin typeface="Calibri" pitchFamily="34" charset="0"/>
                <a:ea typeface="Calibri" pitchFamily="34" charset="-122"/>
                <a:cs typeface="Calibri" pitchFamily="34" charset="-120"/>
              </a:rPr>
              <a:t>10</a:t>
            </a:r>
            <a:endParaRPr lang="en-US" sz="1200" dirty="0"/>
          </a:p>
        </p:txBody>
      </p:sp>
      <p:sp>
        <p:nvSpPr>
          <p:cNvPr id="6" name="Shape 4"/>
          <p:cNvSpPr/>
          <p:nvPr/>
        </p:nvSpPr>
        <p:spPr>
          <a:xfrm>
            <a:off x="685800" y="1801368"/>
            <a:ext cx="5212080" cy="3474720"/>
          </a:xfrm>
          <a:prstGeom prst="rect">
            <a:avLst/>
          </a:prstGeom>
          <a:solidFill>
            <a:srgbClr val="FFFCF7"/>
          </a:solidFill>
          <a:ln w="12700">
            <a:solidFill>
              <a:srgbClr val="FFFCF7"/>
            </a:solidFill>
            <a:prstDash val="solid"/>
          </a:ln>
        </p:spPr>
        <p:txBody>
          <a:bodyPr/>
          <a:lstStyle/>
          <a:p>
            <a:endParaRPr lang="de-DE"/>
          </a:p>
        </p:txBody>
      </p:sp>
      <p:sp>
        <p:nvSpPr>
          <p:cNvPr id="7" name="Text 5"/>
          <p:cNvSpPr/>
          <p:nvPr/>
        </p:nvSpPr>
        <p:spPr>
          <a:xfrm>
            <a:off x="914400" y="2020824"/>
            <a:ext cx="4754880" cy="548640"/>
          </a:xfrm>
          <a:prstGeom prst="rect">
            <a:avLst/>
          </a:prstGeom>
          <a:noFill/>
          <a:ln/>
        </p:spPr>
        <p:txBody>
          <a:bodyPr wrap="square" lIns="0" tIns="0" rIns="0" bIns="0" rtlCol="0" anchor="t"/>
          <a:lstStyle/>
          <a:p>
            <a:pPr marL="0" indent="0">
              <a:buNone/>
            </a:pPr>
            <a:r>
              <a:rPr lang="en-US" sz="2300" b="1" dirty="0">
                <a:solidFill>
                  <a:srgbClr val="30241F"/>
                </a:solidFill>
                <a:latin typeface="Calibri" pitchFamily="34" charset="0"/>
                <a:ea typeface="Calibri" pitchFamily="34" charset="-122"/>
                <a:cs typeface="Calibri" pitchFamily="34" charset="-120"/>
              </a:rPr>
              <a:t>Gut geeignet</a:t>
            </a:r>
            <a:endParaRPr lang="en-US" sz="2300" dirty="0"/>
          </a:p>
        </p:txBody>
      </p:sp>
      <p:sp>
        <p:nvSpPr>
          <p:cNvPr id="8" name="Text 6"/>
          <p:cNvSpPr/>
          <p:nvPr/>
        </p:nvSpPr>
        <p:spPr>
          <a:xfrm>
            <a:off x="914400" y="2715768"/>
            <a:ext cx="4754880" cy="2423160"/>
          </a:xfrm>
          <a:prstGeom prst="rect">
            <a:avLst/>
          </a:prstGeom>
          <a:noFill/>
          <a:ln/>
        </p:spPr>
        <p:txBody>
          <a:bodyPr wrap="square" lIns="0" tIns="0" rIns="0" bIns="0" rtlCol="0" anchor="t"/>
          <a:lstStyle/>
          <a:p>
            <a:pPr marL="0" indent="0">
              <a:buNone/>
            </a:pPr>
            <a:r>
              <a:rPr lang="en-US" sz="1900" dirty="0">
                <a:solidFill>
                  <a:srgbClr val="30241F"/>
                </a:solidFill>
                <a:latin typeface="Calibri" pitchFamily="34" charset="0"/>
                <a:ea typeface="Calibri" pitchFamily="34" charset="-122"/>
                <a:cs typeface="Calibri" pitchFamily="34" charset="-120"/>
              </a:rPr>
              <a:t>Viele optionale Funktionen</a:t>
            </a:r>
            <a:endParaRPr lang="en-US" sz="1900" dirty="0"/>
          </a:p>
          <a:p>
            <a:pPr marL="0" indent="0">
              <a:buNone/>
            </a:pPr>
            <a:endParaRPr lang="en-US" sz="1900" dirty="0"/>
          </a:p>
          <a:p>
            <a:pPr marL="0" indent="0">
              <a:buNone/>
            </a:pPr>
            <a:r>
              <a:rPr lang="en-US" sz="1900" dirty="0">
                <a:solidFill>
                  <a:srgbClr val="30241F"/>
                </a:solidFill>
                <a:latin typeface="Calibri" pitchFamily="34" charset="0"/>
                <a:ea typeface="Calibri" pitchFamily="34" charset="-122"/>
                <a:cs typeface="Calibri" pitchFamily="34" charset="-120"/>
              </a:rPr>
              <a:t>Unabhängig kombinierbare Zusätze</a:t>
            </a:r>
            <a:endParaRPr lang="en-US" sz="1900" dirty="0"/>
          </a:p>
          <a:p>
            <a:pPr marL="0" indent="0">
              <a:buNone/>
            </a:pPr>
            <a:endParaRPr lang="en-US" sz="1900" dirty="0"/>
          </a:p>
          <a:p>
            <a:pPr marL="0" indent="0">
              <a:buNone/>
            </a:pPr>
            <a:r>
              <a:rPr lang="en-US" sz="1900" dirty="0">
                <a:solidFill>
                  <a:srgbClr val="30241F"/>
                </a:solidFill>
                <a:latin typeface="Calibri" pitchFamily="34" charset="0"/>
                <a:ea typeface="Calibri" pitchFamily="34" charset="-122"/>
                <a:cs typeface="Calibri" pitchFamily="34" charset="-120"/>
              </a:rPr>
              <a:t>Erweiterungen einzelner Objekte</a:t>
            </a:r>
            <a:endParaRPr lang="en-US" sz="1900" dirty="0"/>
          </a:p>
        </p:txBody>
      </p:sp>
      <p:sp>
        <p:nvSpPr>
          <p:cNvPr id="9" name="Shape 7"/>
          <p:cNvSpPr/>
          <p:nvPr/>
        </p:nvSpPr>
        <p:spPr>
          <a:xfrm>
            <a:off x="6263640" y="1801368"/>
            <a:ext cx="5212080" cy="3474720"/>
          </a:xfrm>
          <a:prstGeom prst="rect">
            <a:avLst/>
          </a:prstGeom>
          <a:solidFill>
            <a:srgbClr val="E8D6C3"/>
          </a:solidFill>
          <a:ln w="12700">
            <a:solidFill>
              <a:srgbClr val="E8D6C3"/>
            </a:solidFill>
            <a:prstDash val="solid"/>
          </a:ln>
        </p:spPr>
        <p:txBody>
          <a:bodyPr/>
          <a:lstStyle/>
          <a:p>
            <a:endParaRPr lang="de-DE"/>
          </a:p>
        </p:txBody>
      </p:sp>
      <p:sp>
        <p:nvSpPr>
          <p:cNvPr id="10" name="Text 8"/>
          <p:cNvSpPr/>
          <p:nvPr/>
        </p:nvSpPr>
        <p:spPr>
          <a:xfrm>
            <a:off x="6492240" y="2020824"/>
            <a:ext cx="4754880" cy="548640"/>
          </a:xfrm>
          <a:prstGeom prst="rect">
            <a:avLst/>
          </a:prstGeom>
          <a:noFill/>
          <a:ln/>
        </p:spPr>
        <p:txBody>
          <a:bodyPr wrap="square" lIns="0" tIns="0" rIns="0" bIns="0" rtlCol="0" anchor="t"/>
          <a:lstStyle/>
          <a:p>
            <a:pPr marL="0" indent="0">
              <a:buNone/>
            </a:pPr>
            <a:r>
              <a:rPr lang="en-US" sz="2300" b="1" dirty="0">
                <a:solidFill>
                  <a:srgbClr val="30241F"/>
                </a:solidFill>
                <a:latin typeface="Calibri" pitchFamily="34" charset="0"/>
                <a:ea typeface="Calibri" pitchFamily="34" charset="-122"/>
                <a:cs typeface="Calibri" pitchFamily="34" charset="-120"/>
              </a:rPr>
              <a:t>Einfacher genügt oft</a:t>
            </a:r>
            <a:endParaRPr lang="en-US" sz="2300" dirty="0"/>
          </a:p>
        </p:txBody>
      </p:sp>
      <p:sp>
        <p:nvSpPr>
          <p:cNvPr id="11" name="Text 9"/>
          <p:cNvSpPr/>
          <p:nvPr/>
        </p:nvSpPr>
        <p:spPr>
          <a:xfrm>
            <a:off x="6492240" y="2715768"/>
            <a:ext cx="4754880" cy="2423160"/>
          </a:xfrm>
          <a:prstGeom prst="rect">
            <a:avLst/>
          </a:prstGeom>
          <a:noFill/>
          <a:ln/>
        </p:spPr>
        <p:txBody>
          <a:bodyPr wrap="square" lIns="0" tIns="0" rIns="0" bIns="0" rtlCol="0" anchor="t"/>
          <a:lstStyle/>
          <a:p>
            <a:pPr marL="0" indent="0">
              <a:buNone/>
            </a:pPr>
            <a:r>
              <a:rPr lang="en-US" sz="1900" dirty="0">
                <a:solidFill>
                  <a:srgbClr val="30241F"/>
                </a:solidFill>
                <a:latin typeface="Calibri" pitchFamily="34" charset="0"/>
                <a:ea typeface="Calibri" pitchFamily="34" charset="-122"/>
                <a:cs typeface="Calibri" pitchFamily="34" charset="-120"/>
              </a:rPr>
              <a:t>Wenige festgelegte Varianten</a:t>
            </a:r>
            <a:endParaRPr lang="en-US" sz="1900" dirty="0"/>
          </a:p>
          <a:p>
            <a:pPr marL="0" indent="0">
              <a:buNone/>
            </a:pPr>
            <a:endParaRPr lang="en-US" sz="1900" dirty="0"/>
          </a:p>
          <a:p>
            <a:pPr marL="0" indent="0">
              <a:buNone/>
            </a:pPr>
            <a:r>
              <a:rPr lang="en-US" sz="1900" dirty="0">
                <a:solidFill>
                  <a:srgbClr val="30241F"/>
                </a:solidFill>
                <a:latin typeface="Calibri" pitchFamily="34" charset="0"/>
                <a:ea typeface="Calibri" pitchFamily="34" charset="-122"/>
                <a:cs typeface="Calibri" pitchFamily="34" charset="-120"/>
              </a:rPr>
              <a:t>Kaum wechselnde Kombinationen</a:t>
            </a:r>
            <a:endParaRPr lang="en-US" sz="1900" dirty="0"/>
          </a:p>
          <a:p>
            <a:pPr marL="0" indent="0">
              <a:buNone/>
            </a:pPr>
            <a:endParaRPr lang="en-US" sz="1900" dirty="0"/>
          </a:p>
          <a:p>
            <a:pPr marL="0" indent="0">
              <a:buNone/>
            </a:pPr>
            <a:r>
              <a:rPr lang="en-US" sz="1900" dirty="0">
                <a:solidFill>
                  <a:srgbClr val="30241F"/>
                </a:solidFill>
                <a:latin typeface="Calibri" pitchFamily="34" charset="0"/>
                <a:ea typeface="Calibri" pitchFamily="34" charset="-122"/>
                <a:cs typeface="Calibri" pitchFamily="34" charset="-120"/>
              </a:rPr>
              <a:t>Zusätzliche Hüllen bringen wenig Nutzen</a:t>
            </a:r>
            <a:endParaRPr lang="en-US" sz="1900" dirty="0"/>
          </a:p>
        </p:txBody>
      </p:sp>
      <p:sp>
        <p:nvSpPr>
          <p:cNvPr id="12" name="Text 10"/>
          <p:cNvSpPr/>
          <p:nvPr/>
        </p:nvSpPr>
        <p:spPr>
          <a:xfrm>
            <a:off x="777240" y="5486400"/>
            <a:ext cx="10698480" cy="731520"/>
          </a:xfrm>
          <a:prstGeom prst="rect">
            <a:avLst/>
          </a:prstGeom>
          <a:noFill/>
          <a:ln/>
        </p:spPr>
        <p:txBody>
          <a:bodyPr wrap="square" lIns="0" tIns="0" rIns="0" bIns="0" rtlCol="0" anchor="t"/>
          <a:lstStyle/>
          <a:p>
            <a:pPr marL="0" indent="0">
              <a:buNone/>
            </a:pPr>
            <a:r>
              <a:rPr lang="en-US" sz="2000" dirty="0">
                <a:solidFill>
                  <a:srgbClr val="76665B"/>
                </a:solidFill>
                <a:latin typeface="Calibri" pitchFamily="34" charset="0"/>
                <a:ea typeface="Calibri" pitchFamily="34" charset="-122"/>
                <a:cs typeface="Calibri" pitchFamily="34" charset="-120"/>
              </a:rPr>
              <a:t>Beispiele: Getränke mit Zusätzen, Textkomponenten mit Rahmen,</a:t>
            </a:r>
            <a:endParaRPr lang="en-US" sz="2000" dirty="0"/>
          </a:p>
          <a:p>
            <a:pPr marL="0" indent="0">
              <a:buNone/>
            </a:pPr>
            <a:r>
              <a:rPr lang="en-US" sz="2000" dirty="0">
                <a:solidFill>
                  <a:srgbClr val="76665B"/>
                </a:solidFill>
                <a:latin typeface="Calibri" pitchFamily="34" charset="0"/>
                <a:ea typeface="Calibri" pitchFamily="34" charset="-122"/>
                <a:cs typeface="Calibri" pitchFamily="34" charset="-120"/>
              </a:rPr>
              <a:t>Datenströme mit Komprimierung oder Verschlüsselung.</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6F0E7"/>
        </a:solidFill>
        <a:effectLst/>
      </p:bgPr>
    </p:bg>
    <p:spTree>
      <p:nvGrpSpPr>
        <p:cNvPr id="1" name=""/>
        <p:cNvGrpSpPr/>
        <p:nvPr/>
      </p:nvGrpSpPr>
      <p:grpSpPr>
        <a:xfrm>
          <a:off x="0" y="0"/>
          <a:ext cx="0" cy="0"/>
          <a:chOff x="0" y="0"/>
          <a:chExt cx="0" cy="0"/>
        </a:xfrm>
      </p:grpSpPr>
      <p:sp>
        <p:nvSpPr>
          <p:cNvPr id="2" name="Text 0"/>
          <p:cNvSpPr/>
          <p:nvPr/>
        </p:nvSpPr>
        <p:spPr>
          <a:xfrm>
            <a:off x="594360" y="228600"/>
            <a:ext cx="10058400" cy="256032"/>
          </a:xfrm>
          <a:prstGeom prst="rect">
            <a:avLst/>
          </a:prstGeom>
          <a:noFill/>
          <a:ln/>
        </p:spPr>
        <p:txBody>
          <a:bodyPr wrap="square" lIns="0" tIns="0" rIns="0" bIns="0" rtlCol="0" anchor="t"/>
          <a:lstStyle/>
          <a:p>
            <a:pPr marL="0" indent="0">
              <a:buNone/>
            </a:pPr>
            <a:r>
              <a:rPr lang="en-US" sz="1100" b="1" kern="0" spc="180" dirty="0">
                <a:solidFill>
                  <a:srgbClr val="76665B"/>
                </a:solidFill>
                <a:latin typeface="Calibri" pitchFamily="34" charset="0"/>
                <a:ea typeface="Calibri" pitchFamily="34" charset="-122"/>
                <a:cs typeface="Calibri" pitchFamily="34" charset="-120"/>
              </a:rPr>
              <a:t>05 / Klassenübung</a:t>
            </a:r>
            <a:endParaRPr lang="en-US" sz="1100" dirty="0"/>
          </a:p>
        </p:txBody>
      </p:sp>
      <p:sp>
        <p:nvSpPr>
          <p:cNvPr id="3" name="Text 1"/>
          <p:cNvSpPr/>
          <p:nvPr/>
        </p:nvSpPr>
        <p:spPr>
          <a:xfrm>
            <a:off x="594360" y="585216"/>
            <a:ext cx="10972800" cy="941832"/>
          </a:xfrm>
          <a:prstGeom prst="rect">
            <a:avLst/>
          </a:prstGeom>
          <a:noFill/>
          <a:ln/>
        </p:spPr>
        <p:txBody>
          <a:bodyPr wrap="square" lIns="0" tIns="0" rIns="0" bIns="0" rtlCol="0" anchor="t"/>
          <a:lstStyle/>
          <a:p>
            <a:pPr marL="0" indent="0">
              <a:buNone/>
            </a:pPr>
            <a:r>
              <a:rPr lang="en-US" sz="3600" b="1" dirty="0">
                <a:solidFill>
                  <a:srgbClr val="30241F"/>
                </a:solidFill>
                <a:latin typeface="Georgia" pitchFamily="34" charset="0"/>
                <a:ea typeface="Georgia" pitchFamily="34" charset="-122"/>
                <a:cs typeface="Georgia" pitchFamily="34" charset="-120"/>
              </a:rPr>
              <a:t>Jetzt ergänzt ihr Karamell in Python</a:t>
            </a:r>
            <a:endParaRPr lang="en-US" sz="3600" dirty="0"/>
          </a:p>
        </p:txBody>
      </p:sp>
      <p:sp>
        <p:nvSpPr>
          <p:cNvPr id="4" name="Text 2"/>
          <p:cNvSpPr/>
          <p:nvPr/>
        </p:nvSpPr>
        <p:spPr>
          <a:xfrm>
            <a:off x="594360" y="6510528"/>
            <a:ext cx="9144000" cy="201168"/>
          </a:xfrm>
          <a:prstGeom prst="rect">
            <a:avLst/>
          </a:prstGeom>
          <a:noFill/>
          <a:ln/>
        </p:spPr>
        <p:txBody>
          <a:bodyPr wrap="square" lIns="0" tIns="0" rIns="0" bIns="0" rtlCol="0" anchor="t"/>
          <a:lstStyle/>
          <a:p>
            <a:pPr marL="0" indent="0">
              <a:buNone/>
            </a:pPr>
            <a:r>
              <a:rPr lang="en-US" sz="1000" dirty="0">
                <a:solidFill>
                  <a:srgbClr val="76665B"/>
                </a:solidFill>
                <a:latin typeface="Calibri" pitchFamily="34" charset="0"/>
                <a:ea typeface="Calibri" pitchFamily="34" charset="-122"/>
                <a:cs typeface="Calibri" pitchFamily="34" charset="-120"/>
              </a:rPr>
              <a:t>Kaffee mit Zusätzen · Java-Demo + Python-Übung</a:t>
            </a:r>
            <a:endParaRPr lang="en-US" sz="1000" dirty="0"/>
          </a:p>
        </p:txBody>
      </p:sp>
      <p:sp>
        <p:nvSpPr>
          <p:cNvPr id="5" name="Text 3"/>
          <p:cNvSpPr/>
          <p:nvPr/>
        </p:nvSpPr>
        <p:spPr>
          <a:xfrm>
            <a:off x="11082528" y="6455664"/>
            <a:ext cx="502920" cy="274320"/>
          </a:xfrm>
          <a:prstGeom prst="rect">
            <a:avLst/>
          </a:prstGeom>
          <a:noFill/>
          <a:ln/>
        </p:spPr>
        <p:txBody>
          <a:bodyPr wrap="square" lIns="0" tIns="0" rIns="0" bIns="0" rtlCol="0" anchor="t"/>
          <a:lstStyle/>
          <a:p>
            <a:pPr marL="0" indent="0" algn="r">
              <a:buNone/>
            </a:pPr>
            <a:r>
              <a:rPr lang="en-US" sz="1200" dirty="0">
                <a:solidFill>
                  <a:srgbClr val="76665B"/>
                </a:solidFill>
                <a:latin typeface="Calibri" pitchFamily="34" charset="0"/>
                <a:ea typeface="Calibri" pitchFamily="34" charset="-122"/>
                <a:cs typeface="Calibri" pitchFamily="34" charset="-120"/>
              </a:rPr>
              <a:t>11</a:t>
            </a:r>
            <a:endParaRPr lang="en-US" sz="1200" dirty="0"/>
          </a:p>
        </p:txBody>
      </p:sp>
      <p:sp>
        <p:nvSpPr>
          <p:cNvPr id="6" name="Shape 4"/>
          <p:cNvSpPr/>
          <p:nvPr/>
        </p:nvSpPr>
        <p:spPr>
          <a:xfrm>
            <a:off x="685800" y="1773936"/>
            <a:ext cx="3081528" cy="3319272"/>
          </a:xfrm>
          <a:prstGeom prst="rect">
            <a:avLst/>
          </a:prstGeom>
          <a:solidFill>
            <a:srgbClr val="45634D"/>
          </a:solidFill>
          <a:ln w="12700">
            <a:solidFill>
              <a:srgbClr val="45634D"/>
            </a:solidFill>
            <a:prstDash val="solid"/>
          </a:ln>
        </p:spPr>
        <p:txBody>
          <a:bodyPr/>
          <a:lstStyle/>
          <a:p>
            <a:endParaRPr lang="de-DE"/>
          </a:p>
        </p:txBody>
      </p:sp>
      <p:sp>
        <p:nvSpPr>
          <p:cNvPr id="7" name="Text 5"/>
          <p:cNvSpPr/>
          <p:nvPr/>
        </p:nvSpPr>
        <p:spPr>
          <a:xfrm>
            <a:off x="960120" y="2167128"/>
            <a:ext cx="2514600" cy="941832"/>
          </a:xfrm>
          <a:prstGeom prst="rect">
            <a:avLst/>
          </a:prstGeom>
          <a:noFill/>
          <a:ln/>
        </p:spPr>
        <p:txBody>
          <a:bodyPr wrap="square" lIns="0" tIns="0" rIns="0" bIns="0" rtlCol="0" anchor="t"/>
          <a:lstStyle/>
          <a:p>
            <a:pPr marL="0" indent="0">
              <a:buNone/>
            </a:pPr>
            <a:r>
              <a:rPr lang="en-US" sz="4800" b="1" dirty="0">
                <a:solidFill>
                  <a:srgbClr val="FFFFFF"/>
                </a:solidFill>
                <a:latin typeface="Calibri" pitchFamily="34" charset="0"/>
                <a:ea typeface="Calibri" pitchFamily="34" charset="-122"/>
                <a:cs typeface="Calibri" pitchFamily="34" charset="-120"/>
              </a:rPr>
              <a:t>15–20</a:t>
            </a:r>
            <a:endParaRPr lang="en-US" sz="4800" dirty="0"/>
          </a:p>
        </p:txBody>
      </p:sp>
      <p:sp>
        <p:nvSpPr>
          <p:cNvPr id="8" name="Text 6"/>
          <p:cNvSpPr/>
          <p:nvPr/>
        </p:nvSpPr>
        <p:spPr>
          <a:xfrm>
            <a:off x="978408" y="3218688"/>
            <a:ext cx="2468880" cy="475488"/>
          </a:xfrm>
          <a:prstGeom prst="rect">
            <a:avLst/>
          </a:prstGeom>
          <a:noFill/>
          <a:ln/>
        </p:spPr>
        <p:txBody>
          <a:bodyPr wrap="square" lIns="0" tIns="0" rIns="0" bIns="0" rtlCol="0" anchor="t"/>
          <a:lstStyle/>
          <a:p>
            <a:pPr marL="0" indent="0">
              <a:buNone/>
            </a:pPr>
            <a:r>
              <a:rPr lang="en-US" sz="2500" dirty="0">
                <a:solidFill>
                  <a:srgbClr val="FFFFFF"/>
                </a:solidFill>
                <a:latin typeface="Calibri" pitchFamily="34" charset="0"/>
                <a:ea typeface="Calibri" pitchFamily="34" charset="-122"/>
                <a:cs typeface="Calibri" pitchFamily="34" charset="-120"/>
              </a:rPr>
              <a:t>Minuten</a:t>
            </a:r>
            <a:endParaRPr lang="en-US" sz="2500" dirty="0"/>
          </a:p>
        </p:txBody>
      </p:sp>
      <p:sp>
        <p:nvSpPr>
          <p:cNvPr id="9" name="Text 7"/>
          <p:cNvSpPr/>
          <p:nvPr/>
        </p:nvSpPr>
        <p:spPr>
          <a:xfrm>
            <a:off x="978408" y="4005072"/>
            <a:ext cx="2468880" cy="777240"/>
          </a:xfrm>
          <a:prstGeom prst="rect">
            <a:avLst/>
          </a:prstGeom>
          <a:noFill/>
          <a:ln/>
        </p:spPr>
        <p:txBody>
          <a:bodyPr wrap="square" lIns="0" tIns="0" rIns="0" bIns="0" rtlCol="0" anchor="t"/>
          <a:lstStyle/>
          <a:p>
            <a:pPr marL="0" indent="0">
              <a:buNone/>
            </a:pPr>
            <a:r>
              <a:rPr lang="en-US" sz="2000" dirty="0">
                <a:solidFill>
                  <a:srgbClr val="FFFFFF"/>
                </a:solidFill>
                <a:latin typeface="Calibri" pitchFamily="34" charset="0"/>
                <a:ea typeface="Calibri" pitchFamily="34" charset="-122"/>
                <a:cs typeface="Calibri" pitchFamily="34" charset="-120"/>
              </a:rPr>
              <a:t>Ein neuer Dekorierer.</a:t>
            </a:r>
            <a:endParaRPr lang="en-US" sz="2000" dirty="0"/>
          </a:p>
          <a:p>
            <a:pPr marL="0" indent="0">
              <a:buNone/>
            </a:pPr>
            <a:r>
              <a:rPr lang="en-US" sz="2000" dirty="0">
                <a:solidFill>
                  <a:srgbClr val="FFFFFF"/>
                </a:solidFill>
                <a:latin typeface="Calibri" pitchFamily="34" charset="0"/>
                <a:ea typeface="Calibri" pitchFamily="34" charset="-122"/>
                <a:cs typeface="Calibri" pitchFamily="34" charset="-120"/>
              </a:rPr>
              <a:t>Zwei Methoden.</a:t>
            </a:r>
            <a:endParaRPr lang="en-US" sz="2000" dirty="0"/>
          </a:p>
        </p:txBody>
      </p:sp>
      <p:sp>
        <p:nvSpPr>
          <p:cNvPr id="10" name="Text 8"/>
          <p:cNvSpPr/>
          <p:nvPr/>
        </p:nvSpPr>
        <p:spPr>
          <a:xfrm>
            <a:off x="4261104" y="1856232"/>
            <a:ext cx="7040880" cy="548640"/>
          </a:xfrm>
          <a:prstGeom prst="rect">
            <a:avLst/>
          </a:prstGeom>
          <a:noFill/>
          <a:ln/>
        </p:spPr>
        <p:txBody>
          <a:bodyPr wrap="square" lIns="0" tIns="0" rIns="0" bIns="0" rtlCol="0" anchor="t"/>
          <a:lstStyle/>
          <a:p>
            <a:pPr marL="0" indent="0">
              <a:buNone/>
            </a:pPr>
            <a:r>
              <a:rPr lang="en-US" sz="2700" b="1" dirty="0">
                <a:solidFill>
                  <a:srgbClr val="30241F"/>
                </a:solidFill>
                <a:latin typeface="Calibri" pitchFamily="34" charset="0"/>
                <a:ea typeface="Calibri" pitchFamily="34" charset="-122"/>
                <a:cs typeface="Calibri" pitchFamily="34" charset="-120"/>
              </a:rPr>
              <a:t>Euer Auftrag</a:t>
            </a:r>
            <a:endParaRPr lang="en-US" sz="2700" dirty="0"/>
          </a:p>
        </p:txBody>
      </p:sp>
      <p:sp>
        <p:nvSpPr>
          <p:cNvPr id="11" name="Text 9"/>
          <p:cNvSpPr/>
          <p:nvPr/>
        </p:nvSpPr>
        <p:spPr>
          <a:xfrm>
            <a:off x="4261104" y="2624328"/>
            <a:ext cx="6949440" cy="914400"/>
          </a:xfrm>
          <a:prstGeom prst="rect">
            <a:avLst/>
          </a:prstGeom>
          <a:noFill/>
          <a:ln/>
        </p:spPr>
        <p:txBody>
          <a:bodyPr wrap="square" lIns="0" tIns="0" rIns="0" bIns="0" rtlCol="0" anchor="t"/>
          <a:lstStyle/>
          <a:p>
            <a:pPr marL="0" indent="0">
              <a:buNone/>
            </a:pPr>
            <a:r>
              <a:rPr lang="en-US" sz="2400" dirty="0">
                <a:solidFill>
                  <a:srgbClr val="30241F"/>
                </a:solidFill>
                <a:latin typeface="Calibri" pitchFamily="34" charset="0"/>
                <a:ea typeface="Calibri" pitchFamily="34" charset="-122"/>
                <a:cs typeface="Calibri" pitchFamily="34" charset="-120"/>
              </a:rPr>
              <a:t>Karamell erhöht den Preis um 0,40 Euro und</a:t>
            </a:r>
            <a:endParaRPr lang="en-US" sz="2400" dirty="0"/>
          </a:p>
          <a:p>
            <a:pPr marL="0" indent="0">
              <a:buNone/>
            </a:pPr>
            <a:r>
              <a:rPr lang="en-US" sz="2400" dirty="0">
                <a:solidFill>
                  <a:srgbClr val="30241F"/>
                </a:solidFill>
                <a:latin typeface="Calibri" pitchFamily="34" charset="0"/>
                <a:ea typeface="Calibri" pitchFamily="34" charset="-122"/>
                <a:cs typeface="Calibri" pitchFamily="34" charset="-120"/>
              </a:rPr>
              <a:t>ergänzt die Beschreibung um „, Karamell“.</a:t>
            </a:r>
            <a:endParaRPr lang="en-US" sz="2400" dirty="0"/>
          </a:p>
        </p:txBody>
      </p:sp>
      <p:sp>
        <p:nvSpPr>
          <p:cNvPr id="12" name="Text 10"/>
          <p:cNvSpPr/>
          <p:nvPr/>
        </p:nvSpPr>
        <p:spPr>
          <a:xfrm>
            <a:off x="4261104" y="3867912"/>
            <a:ext cx="6949440" cy="1536192"/>
          </a:xfrm>
          <a:prstGeom prst="rect">
            <a:avLst/>
          </a:prstGeom>
          <a:noFill/>
          <a:ln/>
        </p:spPr>
        <p:txBody>
          <a:bodyPr wrap="square" lIns="0" tIns="0" rIns="0" bIns="0" rtlCol="0" anchor="t"/>
          <a:lstStyle/>
          <a:p>
            <a:pPr marL="0" indent="0">
              <a:buNone/>
            </a:pPr>
            <a:r>
              <a:rPr lang="en-US" sz="2100" dirty="0">
                <a:solidFill>
                  <a:srgbClr val="30241F"/>
                </a:solidFill>
                <a:latin typeface="Calibri" pitchFamily="34" charset="0"/>
                <a:ea typeface="Calibri" pitchFamily="34" charset="-122"/>
                <a:cs typeface="Calibri" pitchFamily="34" charset="-120"/>
              </a:rPr>
              <a:t>1  Aufgabenblatt öffnen</a:t>
            </a:r>
            <a:endParaRPr lang="en-US" sz="2100" dirty="0"/>
          </a:p>
          <a:p>
            <a:pPr marL="0" indent="0">
              <a:buNone/>
            </a:pPr>
            <a:r>
              <a:rPr lang="en-US" sz="2100" dirty="0">
                <a:solidFill>
                  <a:srgbClr val="30241F"/>
                </a:solidFill>
                <a:latin typeface="Calibri" pitchFamily="34" charset="0"/>
                <a:ea typeface="Calibri" pitchFamily="34" charset="-122"/>
                <a:cs typeface="Calibri" pitchFamily="34" charset="-120"/>
              </a:rPr>
              <a:t>2  TODOs in starter.py ergänzen</a:t>
            </a:r>
            <a:endParaRPr lang="en-US" sz="2100" dirty="0"/>
          </a:p>
          <a:p>
            <a:pPr marL="0" indent="0">
              <a:buNone/>
            </a:pPr>
            <a:r>
              <a:rPr lang="en-US" sz="2100" dirty="0">
                <a:solidFill>
                  <a:srgbClr val="30241F"/>
                </a:solidFill>
                <a:latin typeface="Calibri" pitchFamily="34" charset="0"/>
                <a:ea typeface="Calibri" pitchFamily="34" charset="-122"/>
                <a:cs typeface="Calibri" pitchFamily="34" charset="-120"/>
              </a:rPr>
              <a:t>3  Ausgabe vergleichen und Objektkette erklären</a:t>
            </a:r>
            <a:endParaRPr lang="en-US" sz="2100" dirty="0"/>
          </a:p>
        </p:txBody>
      </p:sp>
      <p:sp>
        <p:nvSpPr>
          <p:cNvPr id="13" name="Shape 11"/>
          <p:cNvSpPr/>
          <p:nvPr/>
        </p:nvSpPr>
        <p:spPr>
          <a:xfrm>
            <a:off x="713232" y="5513832"/>
            <a:ext cx="10744200" cy="566928"/>
          </a:xfrm>
          <a:prstGeom prst="rect">
            <a:avLst/>
          </a:prstGeom>
          <a:solidFill>
            <a:srgbClr val="30241F"/>
          </a:solidFill>
          <a:ln w="12700">
            <a:solidFill>
              <a:srgbClr val="30241F"/>
            </a:solidFill>
            <a:prstDash val="solid"/>
          </a:ln>
        </p:spPr>
        <p:txBody>
          <a:bodyPr/>
          <a:lstStyle/>
          <a:p>
            <a:endParaRPr lang="de-DE"/>
          </a:p>
        </p:txBody>
      </p:sp>
      <p:sp>
        <p:nvSpPr>
          <p:cNvPr id="14" name="Text 12"/>
          <p:cNvSpPr/>
          <p:nvPr/>
        </p:nvSpPr>
        <p:spPr>
          <a:xfrm>
            <a:off x="923544" y="5696712"/>
            <a:ext cx="10323576" cy="201168"/>
          </a:xfrm>
          <a:prstGeom prst="rect">
            <a:avLst/>
          </a:prstGeom>
          <a:noFill/>
          <a:ln/>
        </p:spPr>
        <p:txBody>
          <a:bodyPr wrap="square" lIns="0" tIns="0" rIns="0" bIns="0" rtlCol="0" anchor="t"/>
          <a:lstStyle/>
          <a:p>
            <a:pPr marL="0" indent="0">
              <a:buNone/>
            </a:pPr>
            <a:r>
              <a:rPr lang="en-US" sz="1600" dirty="0">
                <a:solidFill>
                  <a:srgbClr val="F6F0E7"/>
                </a:solidFill>
                <a:latin typeface="Consolas" pitchFamily="34" charset="0"/>
                <a:ea typeface="Consolas" pitchFamily="34" charset="-122"/>
                <a:cs typeface="Consolas" pitchFamily="34" charset="-120"/>
              </a:rPr>
              <a:t>python uebung_python/starter.py</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6F0E7"/>
        </a:solidFill>
        <a:effectLst/>
      </p:bgPr>
    </p:bg>
    <p:spTree>
      <p:nvGrpSpPr>
        <p:cNvPr id="1" name=""/>
        <p:cNvGrpSpPr/>
        <p:nvPr/>
      </p:nvGrpSpPr>
      <p:grpSpPr>
        <a:xfrm>
          <a:off x="0" y="0"/>
          <a:ext cx="0" cy="0"/>
          <a:chOff x="0" y="0"/>
          <a:chExt cx="0" cy="0"/>
        </a:xfrm>
      </p:grpSpPr>
      <p:sp>
        <p:nvSpPr>
          <p:cNvPr id="2" name="Text 0"/>
          <p:cNvSpPr/>
          <p:nvPr/>
        </p:nvSpPr>
        <p:spPr>
          <a:xfrm>
            <a:off x="594360" y="228600"/>
            <a:ext cx="10058400" cy="256032"/>
          </a:xfrm>
          <a:prstGeom prst="rect">
            <a:avLst/>
          </a:prstGeom>
          <a:noFill/>
          <a:ln/>
        </p:spPr>
        <p:txBody>
          <a:bodyPr wrap="square" lIns="0" tIns="0" rIns="0" bIns="0" rtlCol="0" anchor="t"/>
          <a:lstStyle/>
          <a:p>
            <a:pPr marL="0" indent="0">
              <a:buNone/>
            </a:pPr>
            <a:r>
              <a:rPr lang="en-US" sz="1100" b="1" kern="0" spc="180" dirty="0">
                <a:solidFill>
                  <a:srgbClr val="76665B"/>
                </a:solidFill>
                <a:latin typeface="Calibri" pitchFamily="34" charset="0"/>
                <a:ea typeface="Calibri" pitchFamily="34" charset="-122"/>
                <a:cs typeface="Calibri" pitchFamily="34" charset="-120"/>
              </a:rPr>
              <a:t>05 / Startcode</a:t>
            </a:r>
            <a:endParaRPr lang="en-US" sz="1100" dirty="0"/>
          </a:p>
        </p:txBody>
      </p:sp>
      <p:sp>
        <p:nvSpPr>
          <p:cNvPr id="3" name="Text 1"/>
          <p:cNvSpPr/>
          <p:nvPr/>
        </p:nvSpPr>
        <p:spPr>
          <a:xfrm>
            <a:off x="594360" y="585216"/>
            <a:ext cx="10972800" cy="941832"/>
          </a:xfrm>
          <a:prstGeom prst="rect">
            <a:avLst/>
          </a:prstGeom>
          <a:noFill/>
          <a:ln/>
        </p:spPr>
        <p:txBody>
          <a:bodyPr wrap="square" lIns="0" tIns="0" rIns="0" bIns="0" rtlCol="0" anchor="t"/>
          <a:lstStyle/>
          <a:p>
            <a:pPr marL="0" indent="0">
              <a:buNone/>
            </a:pPr>
            <a:r>
              <a:rPr lang="en-US" sz="3600" b="1" dirty="0">
                <a:solidFill>
                  <a:srgbClr val="30241F"/>
                </a:solidFill>
                <a:latin typeface="Georgia" pitchFamily="34" charset="0"/>
                <a:ea typeface="Georgia" pitchFamily="34" charset="-122"/>
                <a:cs typeface="Georgia" pitchFamily="34" charset="-120"/>
              </a:rPr>
              <a:t>Karamell: Zwei Methoden ergänzen</a:t>
            </a:r>
            <a:endParaRPr lang="en-US" sz="3600" dirty="0"/>
          </a:p>
        </p:txBody>
      </p:sp>
      <p:sp>
        <p:nvSpPr>
          <p:cNvPr id="4" name="Text 2"/>
          <p:cNvSpPr/>
          <p:nvPr/>
        </p:nvSpPr>
        <p:spPr>
          <a:xfrm>
            <a:off x="594360" y="6510528"/>
            <a:ext cx="9144000" cy="201168"/>
          </a:xfrm>
          <a:prstGeom prst="rect">
            <a:avLst/>
          </a:prstGeom>
          <a:noFill/>
          <a:ln/>
        </p:spPr>
        <p:txBody>
          <a:bodyPr wrap="square" lIns="0" tIns="0" rIns="0" bIns="0" rtlCol="0" anchor="t"/>
          <a:lstStyle/>
          <a:p>
            <a:pPr marL="0" indent="0">
              <a:buNone/>
            </a:pPr>
            <a:r>
              <a:rPr lang="en-US" sz="1000" dirty="0">
                <a:solidFill>
                  <a:srgbClr val="76665B"/>
                </a:solidFill>
                <a:latin typeface="Calibri" pitchFamily="34" charset="0"/>
                <a:ea typeface="Calibri" pitchFamily="34" charset="-122"/>
                <a:cs typeface="Calibri" pitchFamily="34" charset="-120"/>
              </a:rPr>
              <a:t>Kaffee mit Zusätzen · Java-Demo + Python-Übung</a:t>
            </a:r>
            <a:endParaRPr lang="en-US" sz="1000" dirty="0"/>
          </a:p>
        </p:txBody>
      </p:sp>
      <p:sp>
        <p:nvSpPr>
          <p:cNvPr id="5" name="Text 3"/>
          <p:cNvSpPr/>
          <p:nvPr/>
        </p:nvSpPr>
        <p:spPr>
          <a:xfrm>
            <a:off x="11082528" y="6455664"/>
            <a:ext cx="502920" cy="274320"/>
          </a:xfrm>
          <a:prstGeom prst="rect">
            <a:avLst/>
          </a:prstGeom>
          <a:noFill/>
          <a:ln/>
        </p:spPr>
        <p:txBody>
          <a:bodyPr wrap="square" lIns="0" tIns="0" rIns="0" bIns="0" rtlCol="0" anchor="t"/>
          <a:lstStyle/>
          <a:p>
            <a:pPr marL="0" indent="0" algn="r">
              <a:buNone/>
            </a:pPr>
            <a:r>
              <a:rPr lang="en-US" sz="1200" dirty="0">
                <a:solidFill>
                  <a:srgbClr val="76665B"/>
                </a:solidFill>
                <a:latin typeface="Calibri" pitchFamily="34" charset="0"/>
                <a:ea typeface="Calibri" pitchFamily="34" charset="-122"/>
                <a:cs typeface="Calibri" pitchFamily="34" charset="-120"/>
              </a:rPr>
              <a:t>12</a:t>
            </a:r>
            <a:endParaRPr lang="en-US" sz="1200" dirty="0"/>
          </a:p>
        </p:txBody>
      </p:sp>
      <p:sp>
        <p:nvSpPr>
          <p:cNvPr id="6" name="Shape 4"/>
          <p:cNvSpPr/>
          <p:nvPr/>
        </p:nvSpPr>
        <p:spPr>
          <a:xfrm>
            <a:off x="685800" y="1764792"/>
            <a:ext cx="7406640" cy="3566160"/>
          </a:xfrm>
          <a:prstGeom prst="rect">
            <a:avLst/>
          </a:prstGeom>
          <a:solidFill>
            <a:srgbClr val="30241F"/>
          </a:solidFill>
          <a:ln w="12700">
            <a:solidFill>
              <a:srgbClr val="30241F"/>
            </a:solidFill>
            <a:prstDash val="solid"/>
          </a:ln>
        </p:spPr>
        <p:txBody>
          <a:bodyPr/>
          <a:lstStyle/>
          <a:p>
            <a:endParaRPr lang="de-DE"/>
          </a:p>
        </p:txBody>
      </p:sp>
      <p:sp>
        <p:nvSpPr>
          <p:cNvPr id="7" name="Text 5"/>
          <p:cNvSpPr/>
          <p:nvPr/>
        </p:nvSpPr>
        <p:spPr>
          <a:xfrm>
            <a:off x="896112" y="1947672"/>
            <a:ext cx="6986016" cy="3200400"/>
          </a:xfrm>
          <a:prstGeom prst="rect">
            <a:avLst/>
          </a:prstGeom>
          <a:noFill/>
          <a:ln/>
        </p:spPr>
        <p:txBody>
          <a:bodyPr wrap="square" lIns="0" tIns="0" rIns="0" bIns="0" rtlCol="0" anchor="t"/>
          <a:lstStyle/>
          <a:p>
            <a:pPr marL="0" indent="0">
              <a:buNone/>
            </a:pPr>
            <a:r>
              <a:rPr lang="en-US" sz="1700" dirty="0">
                <a:solidFill>
                  <a:srgbClr val="F6F0E7"/>
                </a:solidFill>
                <a:latin typeface="Consolas" pitchFamily="34" charset="0"/>
                <a:ea typeface="Consolas" pitchFamily="34" charset="-122"/>
                <a:cs typeface="Consolas" pitchFamily="34" charset="-120"/>
              </a:rPr>
              <a:t>class Karamell(GetraenkDekorierer):</a:t>
            </a:r>
            <a:endParaRPr lang="en-US" sz="1700" dirty="0"/>
          </a:p>
          <a:p>
            <a:pPr marL="0" indent="0">
              <a:buNone/>
            </a:pPr>
            <a:r>
              <a:rPr lang="en-US" sz="1700" dirty="0">
                <a:solidFill>
                  <a:srgbClr val="F6F0E7"/>
                </a:solidFill>
                <a:latin typeface="Consolas" pitchFamily="34" charset="0"/>
                <a:ea typeface="Consolas" pitchFamily="34" charset="-122"/>
                <a:cs typeface="Consolas" pitchFamily="34" charset="-120"/>
              </a:rPr>
              <a:t>    def get_preis(self) -&gt; Decimal:</a:t>
            </a:r>
            <a:endParaRPr lang="en-US" sz="1700" dirty="0"/>
          </a:p>
          <a:p>
            <a:pPr marL="0" indent="0">
              <a:buNone/>
            </a:pPr>
            <a:r>
              <a:rPr lang="en-US" sz="1700" dirty="0">
                <a:solidFill>
                  <a:srgbClr val="F6F0E7"/>
                </a:solidFill>
                <a:latin typeface="Consolas" pitchFamily="34" charset="0"/>
                <a:ea typeface="Consolas" pitchFamily="34" charset="-122"/>
                <a:cs typeface="Consolas" pitchFamily="34" charset="-120"/>
              </a:rPr>
              <a:t>        # TODO: inneren Preis + 0,40 Euro</a:t>
            </a:r>
            <a:endParaRPr lang="en-US" sz="1700" dirty="0"/>
          </a:p>
          <a:p>
            <a:pPr marL="0" indent="0">
              <a:buNone/>
            </a:pPr>
            <a:r>
              <a:rPr lang="en-US" sz="1700" dirty="0">
                <a:solidFill>
                  <a:srgbClr val="F6F0E7"/>
                </a:solidFill>
                <a:latin typeface="Consolas" pitchFamily="34" charset="0"/>
                <a:ea typeface="Consolas" pitchFamily="34" charset="-122"/>
                <a:cs typeface="Consolas" pitchFamily="34" charset="-120"/>
              </a:rPr>
              <a:t>        raise NotImplementedError</a:t>
            </a:r>
            <a:endParaRPr lang="en-US" sz="1700" dirty="0"/>
          </a:p>
          <a:p>
            <a:pPr marL="0" indent="0">
              <a:buNone/>
            </a:pPr>
            <a:endParaRPr lang="en-US" sz="1700" dirty="0"/>
          </a:p>
          <a:p>
            <a:pPr marL="0" indent="0">
              <a:buNone/>
            </a:pPr>
            <a:r>
              <a:rPr lang="en-US" sz="1700" dirty="0">
                <a:solidFill>
                  <a:srgbClr val="F6F0E7"/>
                </a:solidFill>
                <a:latin typeface="Consolas" pitchFamily="34" charset="0"/>
                <a:ea typeface="Consolas" pitchFamily="34" charset="-122"/>
                <a:cs typeface="Consolas" pitchFamily="34" charset="-120"/>
              </a:rPr>
              <a:t>    def get_beschreibung(self) -&gt; str:</a:t>
            </a:r>
            <a:endParaRPr lang="en-US" sz="1700" dirty="0"/>
          </a:p>
          <a:p>
            <a:pPr marL="0" indent="0">
              <a:buNone/>
            </a:pPr>
            <a:r>
              <a:rPr lang="en-US" sz="1700" dirty="0">
                <a:solidFill>
                  <a:srgbClr val="F6F0E7"/>
                </a:solidFill>
                <a:latin typeface="Consolas" pitchFamily="34" charset="0"/>
                <a:ea typeface="Consolas" pitchFamily="34" charset="-122"/>
                <a:cs typeface="Consolas" pitchFamily="34" charset="-120"/>
              </a:rPr>
              <a:t>        # TODO: inneren Text erweitern</a:t>
            </a:r>
            <a:endParaRPr lang="en-US" sz="1700" dirty="0"/>
          </a:p>
          <a:p>
            <a:pPr marL="0" indent="0">
              <a:buNone/>
            </a:pPr>
            <a:r>
              <a:rPr lang="en-US" sz="1700" dirty="0">
                <a:solidFill>
                  <a:srgbClr val="F6F0E7"/>
                </a:solidFill>
                <a:latin typeface="Consolas" pitchFamily="34" charset="0"/>
                <a:ea typeface="Consolas" pitchFamily="34" charset="-122"/>
                <a:cs typeface="Consolas" pitchFamily="34" charset="-120"/>
              </a:rPr>
              <a:t>        raise NotImplementedError</a:t>
            </a:r>
            <a:endParaRPr lang="en-US" sz="1700" dirty="0"/>
          </a:p>
        </p:txBody>
      </p:sp>
      <p:sp>
        <p:nvSpPr>
          <p:cNvPr id="8" name="Shape 6"/>
          <p:cNvSpPr/>
          <p:nvPr/>
        </p:nvSpPr>
        <p:spPr>
          <a:xfrm>
            <a:off x="8503920" y="1764792"/>
            <a:ext cx="2971800" cy="1143000"/>
          </a:xfrm>
          <a:prstGeom prst="rect">
            <a:avLst/>
          </a:prstGeom>
          <a:solidFill>
            <a:srgbClr val="E8D6C3"/>
          </a:solidFill>
          <a:ln w="12700">
            <a:solidFill>
              <a:srgbClr val="E8D6C3"/>
            </a:solidFill>
            <a:prstDash val="solid"/>
          </a:ln>
        </p:spPr>
        <p:txBody>
          <a:bodyPr/>
          <a:lstStyle/>
          <a:p>
            <a:endParaRPr lang="de-DE"/>
          </a:p>
        </p:txBody>
      </p:sp>
      <p:sp>
        <p:nvSpPr>
          <p:cNvPr id="9" name="Text 7"/>
          <p:cNvSpPr/>
          <p:nvPr/>
        </p:nvSpPr>
        <p:spPr>
          <a:xfrm>
            <a:off x="8668512" y="2011680"/>
            <a:ext cx="2642616" cy="384048"/>
          </a:xfrm>
          <a:prstGeom prst="rect">
            <a:avLst/>
          </a:prstGeom>
          <a:noFill/>
          <a:ln/>
        </p:spPr>
        <p:txBody>
          <a:bodyPr wrap="square" lIns="0" tIns="0" rIns="0" bIns="0" rtlCol="0" anchor="t"/>
          <a:lstStyle/>
          <a:p>
            <a:pPr marL="0" indent="0">
              <a:buNone/>
            </a:pPr>
            <a:r>
              <a:rPr lang="en-US" sz="1900" b="1" dirty="0">
                <a:solidFill>
                  <a:srgbClr val="30241F"/>
                </a:solidFill>
                <a:latin typeface="Consolas" pitchFamily="34" charset="0"/>
                <a:ea typeface="Consolas" pitchFamily="34" charset="-122"/>
                <a:cs typeface="Consolas" pitchFamily="34" charset="-120"/>
              </a:rPr>
              <a:t>self._getraenk</a:t>
            </a:r>
            <a:endParaRPr lang="en-US" sz="1900" dirty="0"/>
          </a:p>
        </p:txBody>
      </p:sp>
      <p:sp>
        <p:nvSpPr>
          <p:cNvPr id="10" name="Text 8"/>
          <p:cNvSpPr/>
          <p:nvPr/>
        </p:nvSpPr>
        <p:spPr>
          <a:xfrm>
            <a:off x="8531352" y="3355848"/>
            <a:ext cx="2834640" cy="868680"/>
          </a:xfrm>
          <a:prstGeom prst="rect">
            <a:avLst/>
          </a:prstGeom>
          <a:noFill/>
          <a:ln/>
        </p:spPr>
        <p:txBody>
          <a:bodyPr wrap="square" lIns="0" tIns="0" rIns="0" bIns="0" rtlCol="0" anchor="t"/>
          <a:lstStyle/>
          <a:p>
            <a:pPr marL="0" indent="0">
              <a:buNone/>
            </a:pPr>
            <a:r>
              <a:rPr lang="en-US" sz="2200" dirty="0">
                <a:solidFill>
                  <a:srgbClr val="30241F"/>
                </a:solidFill>
                <a:latin typeface="Calibri" pitchFamily="34" charset="0"/>
                <a:ea typeface="Calibri" pitchFamily="34" charset="-122"/>
                <a:cs typeface="Calibri" pitchFamily="34" charset="-120"/>
              </a:rPr>
              <a:t>Hier liegt das</a:t>
            </a:r>
            <a:endParaRPr lang="en-US" sz="2200" dirty="0"/>
          </a:p>
          <a:p>
            <a:pPr marL="0" indent="0">
              <a:buNone/>
            </a:pPr>
            <a:r>
              <a:rPr lang="en-US" sz="2200" dirty="0">
                <a:solidFill>
                  <a:srgbClr val="30241F"/>
                </a:solidFill>
                <a:latin typeface="Calibri" pitchFamily="34" charset="0"/>
                <a:ea typeface="Calibri" pitchFamily="34" charset="-122"/>
                <a:cs typeface="Calibri" pitchFamily="34" charset="-120"/>
              </a:rPr>
              <a:t>eingepackte Getränk.</a:t>
            </a:r>
            <a:endParaRPr lang="en-US" sz="2200" dirty="0"/>
          </a:p>
        </p:txBody>
      </p:sp>
      <p:sp>
        <p:nvSpPr>
          <p:cNvPr id="11" name="Text 9"/>
          <p:cNvSpPr/>
          <p:nvPr/>
        </p:nvSpPr>
        <p:spPr>
          <a:xfrm>
            <a:off x="8531352" y="4572000"/>
            <a:ext cx="2834640" cy="822960"/>
          </a:xfrm>
          <a:prstGeom prst="rect">
            <a:avLst/>
          </a:prstGeom>
          <a:noFill/>
          <a:ln/>
        </p:spPr>
        <p:txBody>
          <a:bodyPr wrap="square" lIns="0" tIns="0" rIns="0" bIns="0" rtlCol="0" anchor="t"/>
          <a:lstStyle/>
          <a:p>
            <a:pPr marL="0" indent="0">
              <a:buNone/>
            </a:pPr>
            <a:r>
              <a:rPr lang="en-US" sz="2200" b="1" dirty="0">
                <a:solidFill>
                  <a:srgbClr val="30241F"/>
                </a:solidFill>
                <a:latin typeface="Calibri" pitchFamily="34" charset="0"/>
                <a:ea typeface="Calibri" pitchFamily="34" charset="-122"/>
                <a:cs typeface="Calibri" pitchFamily="34" charset="-120"/>
              </a:rPr>
              <a:t>Nutze Milch als</a:t>
            </a:r>
            <a:endParaRPr lang="en-US" sz="2200" dirty="0"/>
          </a:p>
          <a:p>
            <a:pPr marL="0" indent="0">
              <a:buNone/>
            </a:pPr>
            <a:r>
              <a:rPr lang="en-US" sz="2200" b="1" dirty="0">
                <a:solidFill>
                  <a:srgbClr val="30241F"/>
                </a:solidFill>
                <a:latin typeface="Calibri" pitchFamily="34" charset="0"/>
                <a:ea typeface="Calibri" pitchFamily="34" charset="-122"/>
                <a:cs typeface="Calibri" pitchFamily="34" charset="-120"/>
              </a:rPr>
              <a:t>Orientierung.</a:t>
            </a:r>
            <a:endParaRPr lang="en-US" sz="2200" dirty="0"/>
          </a:p>
        </p:txBody>
      </p:sp>
      <p:sp>
        <p:nvSpPr>
          <p:cNvPr id="12" name="Text 10"/>
          <p:cNvSpPr/>
          <p:nvPr/>
        </p:nvSpPr>
        <p:spPr>
          <a:xfrm>
            <a:off x="758952" y="5724144"/>
            <a:ext cx="10607040" cy="384048"/>
          </a:xfrm>
          <a:prstGeom prst="rect">
            <a:avLst/>
          </a:prstGeom>
          <a:noFill/>
          <a:ln/>
        </p:spPr>
        <p:txBody>
          <a:bodyPr wrap="square" lIns="0" tIns="0" rIns="0" bIns="0" rtlCol="0" anchor="t"/>
          <a:lstStyle/>
          <a:p>
            <a:pPr marL="0" indent="0">
              <a:buNone/>
            </a:pPr>
            <a:r>
              <a:rPr lang="en-US" sz="2100" dirty="0">
                <a:solidFill>
                  <a:srgbClr val="76665B"/>
                </a:solidFill>
                <a:latin typeface="Calibri" pitchFamily="34" charset="0"/>
                <a:ea typeface="Calibri" pitchFamily="34" charset="-122"/>
                <a:cs typeface="Calibri" pitchFamily="34" charset="-120"/>
              </a:rPr>
              <a:t>Für Geldwerte: Decimal("0.40") verwenden.</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6F0E7"/>
        </a:solidFill>
        <a:effectLst/>
      </p:bgPr>
    </p:bg>
    <p:spTree>
      <p:nvGrpSpPr>
        <p:cNvPr id="1" name=""/>
        <p:cNvGrpSpPr/>
        <p:nvPr/>
      </p:nvGrpSpPr>
      <p:grpSpPr>
        <a:xfrm>
          <a:off x="0" y="0"/>
          <a:ext cx="0" cy="0"/>
          <a:chOff x="0" y="0"/>
          <a:chExt cx="0" cy="0"/>
        </a:xfrm>
      </p:grpSpPr>
      <p:sp>
        <p:nvSpPr>
          <p:cNvPr id="2" name="Text 0"/>
          <p:cNvSpPr/>
          <p:nvPr/>
        </p:nvSpPr>
        <p:spPr>
          <a:xfrm>
            <a:off x="594360" y="228600"/>
            <a:ext cx="10058400" cy="256032"/>
          </a:xfrm>
          <a:prstGeom prst="rect">
            <a:avLst/>
          </a:prstGeom>
          <a:noFill/>
          <a:ln/>
        </p:spPr>
        <p:txBody>
          <a:bodyPr wrap="square" lIns="0" tIns="0" rIns="0" bIns="0" rtlCol="0" anchor="t"/>
          <a:lstStyle/>
          <a:p>
            <a:pPr marL="0" indent="0">
              <a:buNone/>
            </a:pPr>
            <a:r>
              <a:rPr lang="en-US" sz="1100" b="1" kern="0" spc="180" dirty="0">
                <a:solidFill>
                  <a:srgbClr val="76665B"/>
                </a:solidFill>
                <a:latin typeface="Calibri" pitchFamily="34" charset="0"/>
                <a:ea typeface="Calibri" pitchFamily="34" charset="-122"/>
                <a:cs typeface="Calibri" pitchFamily="34" charset="-120"/>
              </a:rPr>
              <a:t>05 / Erwartete Ergebnisse</a:t>
            </a:r>
            <a:endParaRPr lang="en-US" sz="1100" dirty="0"/>
          </a:p>
        </p:txBody>
      </p:sp>
      <p:sp>
        <p:nvSpPr>
          <p:cNvPr id="3" name="Text 1"/>
          <p:cNvSpPr/>
          <p:nvPr/>
        </p:nvSpPr>
        <p:spPr>
          <a:xfrm>
            <a:off x="594360" y="585216"/>
            <a:ext cx="10972800" cy="941832"/>
          </a:xfrm>
          <a:prstGeom prst="rect">
            <a:avLst/>
          </a:prstGeom>
          <a:noFill/>
          <a:ln/>
        </p:spPr>
        <p:txBody>
          <a:bodyPr wrap="square" lIns="0" tIns="0" rIns="0" bIns="0" rtlCol="0" anchor="t"/>
          <a:lstStyle/>
          <a:p>
            <a:pPr marL="0" indent="0">
              <a:buNone/>
            </a:pPr>
            <a:r>
              <a:rPr lang="en-US" sz="3600" b="1" dirty="0">
                <a:solidFill>
                  <a:srgbClr val="30241F"/>
                </a:solidFill>
                <a:latin typeface="Georgia" pitchFamily="34" charset="0"/>
                <a:ea typeface="Georgia" pitchFamily="34" charset="-122"/>
                <a:cs typeface="Georgia" pitchFamily="34" charset="-120"/>
              </a:rPr>
              <a:t>So prüft ihr eure Lösung</a:t>
            </a:r>
            <a:endParaRPr lang="en-US" sz="3600" dirty="0"/>
          </a:p>
        </p:txBody>
      </p:sp>
      <p:sp>
        <p:nvSpPr>
          <p:cNvPr id="4" name="Text 2"/>
          <p:cNvSpPr/>
          <p:nvPr/>
        </p:nvSpPr>
        <p:spPr>
          <a:xfrm>
            <a:off x="594360" y="6510528"/>
            <a:ext cx="9144000" cy="201168"/>
          </a:xfrm>
          <a:prstGeom prst="rect">
            <a:avLst/>
          </a:prstGeom>
          <a:noFill/>
          <a:ln/>
        </p:spPr>
        <p:txBody>
          <a:bodyPr wrap="square" lIns="0" tIns="0" rIns="0" bIns="0" rtlCol="0" anchor="t"/>
          <a:lstStyle/>
          <a:p>
            <a:pPr marL="0" indent="0">
              <a:buNone/>
            </a:pPr>
            <a:r>
              <a:rPr lang="en-US" sz="1000" dirty="0">
                <a:solidFill>
                  <a:srgbClr val="76665B"/>
                </a:solidFill>
                <a:latin typeface="Calibri" pitchFamily="34" charset="0"/>
                <a:ea typeface="Calibri" pitchFamily="34" charset="-122"/>
                <a:cs typeface="Calibri" pitchFamily="34" charset="-120"/>
              </a:rPr>
              <a:t>Kaffee mit Zusätzen · Java-Demo + Python-Übung</a:t>
            </a:r>
            <a:endParaRPr lang="en-US" sz="1000" dirty="0"/>
          </a:p>
        </p:txBody>
      </p:sp>
      <p:sp>
        <p:nvSpPr>
          <p:cNvPr id="5" name="Text 3"/>
          <p:cNvSpPr/>
          <p:nvPr/>
        </p:nvSpPr>
        <p:spPr>
          <a:xfrm>
            <a:off x="11082528" y="6455664"/>
            <a:ext cx="502920" cy="274320"/>
          </a:xfrm>
          <a:prstGeom prst="rect">
            <a:avLst/>
          </a:prstGeom>
          <a:noFill/>
          <a:ln/>
        </p:spPr>
        <p:txBody>
          <a:bodyPr wrap="square" lIns="0" tIns="0" rIns="0" bIns="0" rtlCol="0" anchor="t"/>
          <a:lstStyle/>
          <a:p>
            <a:pPr marL="0" indent="0" algn="r">
              <a:buNone/>
            </a:pPr>
            <a:r>
              <a:rPr lang="en-US" sz="1200" dirty="0">
                <a:solidFill>
                  <a:srgbClr val="76665B"/>
                </a:solidFill>
                <a:latin typeface="Calibri" pitchFamily="34" charset="0"/>
                <a:ea typeface="Calibri" pitchFamily="34" charset="-122"/>
                <a:cs typeface="Calibri" pitchFamily="34" charset="-120"/>
              </a:rPr>
              <a:t>13</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1783080"/>
          <a:ext cx="10789920" cy="2785872"/>
        </p:xfrm>
        <a:graphic>
          <a:graphicData uri="http://schemas.openxmlformats.org/drawingml/2006/table">
            <a:tbl>
              <a:tblPr/>
              <a:tblGrid>
                <a:gridCol w="466344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658368">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Bestellung</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45634D"/>
                    </a:solidFill>
                  </a:tcPr>
                </a:tc>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Beschreibung</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45634D"/>
                    </a:solidFill>
                  </a:tcPr>
                </a:tc>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Preis</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45634D"/>
                    </a:solidFill>
                  </a:tcPr>
                </a:tc>
                <a:extLst>
                  <a:ext uri="{0D108BD9-81ED-4DB2-BD59-A6C34878D82A}">
                    <a16:rowId xmlns:a16="http://schemas.microsoft.com/office/drawing/2014/main" val="10000"/>
                  </a:ext>
                </a:extLst>
              </a:tr>
              <a:tr h="658368">
                <a:tc>
                  <a:txBody>
                    <a:bodyPr/>
                    <a:lstStyle/>
                    <a:p>
                      <a:pPr marL="0" indent="0">
                        <a:buNone/>
                      </a:pPr>
                      <a:r>
                        <a:rPr lang="en-US" sz="1700" dirty="0">
                          <a:solidFill>
                            <a:srgbClr val="30241F"/>
                          </a:solidFill>
                          <a:latin typeface="Calibri" pitchFamily="34" charset="0"/>
                          <a:ea typeface="Calibri" pitchFamily="34" charset="-122"/>
                          <a:cs typeface="Calibri" pitchFamily="34" charset="-120"/>
                        </a:rPr>
                        <a:t>Karamell(Espresso())</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FFFCF7"/>
                    </a:solidFill>
                  </a:tcPr>
                </a:tc>
                <a:tc>
                  <a:txBody>
                    <a:bodyPr/>
                    <a:lstStyle/>
                    <a:p>
                      <a:pPr marL="0" indent="0">
                        <a:buNone/>
                      </a:pPr>
                      <a:r>
                        <a:rPr lang="en-US" sz="1700" dirty="0">
                          <a:solidFill>
                            <a:srgbClr val="30241F"/>
                          </a:solidFill>
                          <a:latin typeface="Calibri" pitchFamily="34" charset="0"/>
                          <a:ea typeface="Calibri" pitchFamily="34" charset="-122"/>
                          <a:cs typeface="Calibri" pitchFamily="34" charset="-120"/>
                        </a:rPr>
                        <a:t>Espresso, Karamell</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FFFCF7"/>
                    </a:solidFill>
                  </a:tcPr>
                </a:tc>
                <a:tc>
                  <a:txBody>
                    <a:bodyPr/>
                    <a:lstStyle/>
                    <a:p>
                      <a:pPr marL="0" indent="0">
                        <a:buNone/>
                      </a:pPr>
                      <a:r>
                        <a:rPr lang="en-US" sz="1700" dirty="0">
                          <a:solidFill>
                            <a:srgbClr val="30241F"/>
                          </a:solidFill>
                          <a:latin typeface="Calibri" pitchFamily="34" charset="0"/>
                          <a:ea typeface="Calibri" pitchFamily="34" charset="-122"/>
                          <a:cs typeface="Calibri" pitchFamily="34" charset="-120"/>
                        </a:rPr>
                        <a:t>2,40 Euro</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FFFCF7"/>
                    </a:solidFill>
                  </a:tcPr>
                </a:tc>
                <a:extLst>
                  <a:ext uri="{0D108BD9-81ED-4DB2-BD59-A6C34878D82A}">
                    <a16:rowId xmlns:a16="http://schemas.microsoft.com/office/drawing/2014/main" val="10001"/>
                  </a:ext>
                </a:extLst>
              </a:tr>
              <a:tr h="658368">
                <a:tc>
                  <a:txBody>
                    <a:bodyPr/>
                    <a:lstStyle/>
                    <a:p>
                      <a:pPr marL="0" indent="0">
                        <a:buNone/>
                      </a:pPr>
                      <a:r>
                        <a:rPr lang="en-US" sz="1700" dirty="0">
                          <a:solidFill>
                            <a:srgbClr val="30241F"/>
                          </a:solidFill>
                          <a:latin typeface="Calibri" pitchFamily="34" charset="0"/>
                          <a:ea typeface="Calibri" pitchFamily="34" charset="-122"/>
                          <a:cs typeface="Calibri" pitchFamily="34" charset="-120"/>
                        </a:rPr>
                        <a:t>Karamell(Milch(Espresso()))</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FFFCF7"/>
                    </a:solidFill>
                  </a:tcPr>
                </a:tc>
                <a:tc>
                  <a:txBody>
                    <a:bodyPr/>
                    <a:lstStyle/>
                    <a:p>
                      <a:pPr marL="0" indent="0">
                        <a:buNone/>
                      </a:pPr>
                      <a:r>
                        <a:rPr lang="en-US" sz="1700" dirty="0">
                          <a:solidFill>
                            <a:srgbClr val="30241F"/>
                          </a:solidFill>
                          <a:latin typeface="Calibri" pitchFamily="34" charset="0"/>
                          <a:ea typeface="Calibri" pitchFamily="34" charset="-122"/>
                          <a:cs typeface="Calibri" pitchFamily="34" charset="-120"/>
                        </a:rPr>
                        <a:t>Espresso, Milch, Karamell</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FFFCF7"/>
                    </a:solidFill>
                  </a:tcPr>
                </a:tc>
                <a:tc>
                  <a:txBody>
                    <a:bodyPr/>
                    <a:lstStyle/>
                    <a:p>
                      <a:pPr marL="0" indent="0">
                        <a:buNone/>
                      </a:pPr>
                      <a:r>
                        <a:rPr lang="en-US" sz="1700" dirty="0">
                          <a:solidFill>
                            <a:srgbClr val="30241F"/>
                          </a:solidFill>
                          <a:latin typeface="Calibri" pitchFamily="34" charset="0"/>
                          <a:ea typeface="Calibri" pitchFamily="34" charset="-122"/>
                          <a:cs typeface="Calibri" pitchFamily="34" charset="-120"/>
                        </a:rPr>
                        <a:t>2,90 Euro</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FFFCF7"/>
                    </a:solidFill>
                  </a:tcPr>
                </a:tc>
                <a:extLst>
                  <a:ext uri="{0D108BD9-81ED-4DB2-BD59-A6C34878D82A}">
                    <a16:rowId xmlns:a16="http://schemas.microsoft.com/office/drawing/2014/main" val="10002"/>
                  </a:ext>
                </a:extLst>
              </a:tr>
              <a:tr h="658368">
                <a:tc>
                  <a:txBody>
                    <a:bodyPr/>
                    <a:lstStyle/>
                    <a:p>
                      <a:pPr marL="0" indent="0">
                        <a:buNone/>
                      </a:pPr>
                      <a:r>
                        <a:rPr lang="en-US" sz="1700" dirty="0">
                          <a:solidFill>
                            <a:srgbClr val="30241F"/>
                          </a:solidFill>
                          <a:latin typeface="Calibri" pitchFamily="34" charset="0"/>
                          <a:ea typeface="Calibri" pitchFamily="34" charset="-122"/>
                          <a:cs typeface="Calibri" pitchFamily="34" charset="-120"/>
                        </a:rPr>
                        <a:t>Karamell(Karamell(</a:t>
                      </a:r>
                      <a:endParaRPr lang="en-US" sz="1700" dirty="0">
                        <a:latin typeface="Calibri" charset="0"/>
                        <a:ea typeface="Calibri" charset="0"/>
                        <a:cs typeface="Calibri" charset="0"/>
                      </a:endParaRPr>
                    </a:p>
                    <a:p>
                      <a:pPr marL="0" indent="0">
                        <a:buNone/>
                      </a:pPr>
                      <a:r>
                        <a:rPr lang="en-US" sz="1700" dirty="0">
                          <a:solidFill>
                            <a:srgbClr val="30241F"/>
                          </a:solidFill>
                          <a:latin typeface="Calibri" pitchFamily="34" charset="0"/>
                          <a:ea typeface="Calibri" pitchFamily="34" charset="-122"/>
                          <a:cs typeface="Calibri" pitchFamily="34" charset="-120"/>
                        </a:rPr>
                        <a:t>    Milch(Espresso())))</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FFFCF7"/>
                    </a:solidFill>
                  </a:tcPr>
                </a:tc>
                <a:tc>
                  <a:txBody>
                    <a:bodyPr/>
                    <a:lstStyle/>
                    <a:p>
                      <a:pPr marL="0" indent="0">
                        <a:buNone/>
                      </a:pPr>
                      <a:r>
                        <a:rPr lang="en-US" sz="1700" dirty="0">
                          <a:solidFill>
                            <a:srgbClr val="30241F"/>
                          </a:solidFill>
                          <a:latin typeface="Calibri" pitchFamily="34" charset="0"/>
                          <a:ea typeface="Calibri" pitchFamily="34" charset="-122"/>
                          <a:cs typeface="Calibri" pitchFamily="34" charset="-120"/>
                        </a:rPr>
                        <a:t>Espresso, Milch,</a:t>
                      </a:r>
                      <a:endParaRPr lang="en-US" sz="1700" dirty="0">
                        <a:latin typeface="Calibri" charset="0"/>
                        <a:ea typeface="Calibri" charset="0"/>
                        <a:cs typeface="Calibri" charset="0"/>
                      </a:endParaRPr>
                    </a:p>
                    <a:p>
                      <a:pPr marL="0" indent="0">
                        <a:buNone/>
                      </a:pPr>
                      <a:r>
                        <a:rPr lang="en-US" sz="1700" dirty="0">
                          <a:solidFill>
                            <a:srgbClr val="30241F"/>
                          </a:solidFill>
                          <a:latin typeface="Calibri" pitchFamily="34" charset="0"/>
                          <a:ea typeface="Calibri" pitchFamily="34" charset="-122"/>
                          <a:cs typeface="Calibri" pitchFamily="34" charset="-120"/>
                        </a:rPr>
                        <a:t>Karamell, Karamell</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FFFCF7"/>
                    </a:solidFill>
                  </a:tcPr>
                </a:tc>
                <a:tc>
                  <a:txBody>
                    <a:bodyPr/>
                    <a:lstStyle/>
                    <a:p>
                      <a:pPr marL="0" indent="0">
                        <a:buNone/>
                      </a:pPr>
                      <a:r>
                        <a:rPr lang="en-US" sz="1700" dirty="0">
                          <a:solidFill>
                            <a:srgbClr val="30241F"/>
                          </a:solidFill>
                          <a:latin typeface="Calibri" pitchFamily="34" charset="0"/>
                          <a:ea typeface="Calibri" pitchFamily="34" charset="-122"/>
                          <a:cs typeface="Calibri" pitchFamily="34" charset="-120"/>
                        </a:rPr>
                        <a:t>3,30 Euro</a:t>
                      </a:r>
                      <a:endParaRPr lang="en-US" sz="1700" dirty="0">
                        <a:latin typeface="Calibri" charset="0"/>
                        <a:ea typeface="Calibri" charset="0"/>
                        <a:cs typeface="Calibri" charset="0"/>
                      </a:endParaRPr>
                    </a:p>
                  </a:txBody>
                  <a:tcPr marL="146304" marR="146304" marT="146304" marB="146304">
                    <a:lnL w="12700" cap="flat" cmpd="sng" algn="ctr">
                      <a:solidFill>
                        <a:srgbClr val="F6F0E7"/>
                      </a:solidFill>
                      <a:prstDash val="solid"/>
                      <a:round/>
                      <a:headEnd type="none" w="med" len="med"/>
                      <a:tailEnd type="none" w="med" len="med"/>
                    </a:lnL>
                    <a:lnR w="12700" cap="flat" cmpd="sng" algn="ctr">
                      <a:solidFill>
                        <a:srgbClr val="F6F0E7"/>
                      </a:solidFill>
                      <a:prstDash val="solid"/>
                      <a:round/>
                      <a:headEnd type="none" w="med" len="med"/>
                      <a:tailEnd type="none" w="med" len="med"/>
                    </a:lnR>
                    <a:lnT w="12700" cap="flat" cmpd="sng" algn="ctr">
                      <a:solidFill>
                        <a:srgbClr val="F6F0E7"/>
                      </a:solidFill>
                      <a:prstDash val="solid"/>
                      <a:round/>
                      <a:headEnd type="none" w="med" len="med"/>
                      <a:tailEnd type="none" w="med" len="med"/>
                    </a:lnT>
                    <a:lnB w="12700" cap="flat" cmpd="sng" algn="ctr">
                      <a:solidFill>
                        <a:srgbClr val="F6F0E7"/>
                      </a:solidFill>
                      <a:prstDash val="solid"/>
                      <a:round/>
                      <a:headEnd type="none" w="med" len="med"/>
                      <a:tailEnd type="none" w="med" len="med"/>
                    </a:lnB>
                    <a:solidFill>
                      <a:srgbClr val="FFFCF7"/>
                    </a:solidFill>
                  </a:tcPr>
                </a:tc>
                <a:extLst>
                  <a:ext uri="{0D108BD9-81ED-4DB2-BD59-A6C34878D82A}">
                    <a16:rowId xmlns:a16="http://schemas.microsoft.com/office/drawing/2014/main" val="10003"/>
                  </a:ext>
                </a:extLst>
              </a:tr>
            </a:tbl>
          </a:graphicData>
        </a:graphic>
      </p:graphicFrame>
      <p:sp>
        <p:nvSpPr>
          <p:cNvPr id="7" name="Shape 4"/>
          <p:cNvSpPr/>
          <p:nvPr/>
        </p:nvSpPr>
        <p:spPr>
          <a:xfrm>
            <a:off x="731520" y="5248656"/>
            <a:ext cx="10698480" cy="822960"/>
          </a:xfrm>
          <a:prstGeom prst="rect">
            <a:avLst/>
          </a:prstGeom>
          <a:solidFill>
            <a:srgbClr val="E8D6C3"/>
          </a:solidFill>
          <a:ln w="12700">
            <a:solidFill>
              <a:srgbClr val="E8D6C3"/>
            </a:solidFill>
            <a:prstDash val="solid"/>
          </a:ln>
        </p:spPr>
        <p:txBody>
          <a:bodyPr/>
          <a:lstStyle/>
          <a:p>
            <a:endParaRPr lang="de-DE"/>
          </a:p>
        </p:txBody>
      </p:sp>
      <p:sp>
        <p:nvSpPr>
          <p:cNvPr id="8" name="Text 5"/>
          <p:cNvSpPr/>
          <p:nvPr/>
        </p:nvSpPr>
        <p:spPr>
          <a:xfrm>
            <a:off x="987552" y="5449824"/>
            <a:ext cx="10149840" cy="502920"/>
          </a:xfrm>
          <a:prstGeom prst="rect">
            <a:avLst/>
          </a:prstGeom>
          <a:noFill/>
          <a:ln/>
        </p:spPr>
        <p:txBody>
          <a:bodyPr wrap="square" lIns="0" tIns="0" rIns="0" bIns="0" rtlCol="0" anchor="t"/>
          <a:lstStyle/>
          <a:p>
            <a:pPr marL="0" indent="0">
              <a:buNone/>
            </a:pPr>
            <a:r>
              <a:rPr lang="en-US" sz="2200" b="1" dirty="0">
                <a:solidFill>
                  <a:srgbClr val="30241F"/>
                </a:solidFill>
                <a:latin typeface="Calibri" pitchFamily="34" charset="0"/>
                <a:ea typeface="Calibri" pitchFamily="34" charset="-122"/>
                <a:cs typeface="Calibri" pitchFamily="34" charset="-120"/>
              </a:rPr>
              <a:t>Erklärt: Warum kann Karamell auch einen Dekorierer umschließen?</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6F0E7"/>
        </a:solidFill>
        <a:effectLst/>
      </p:bgPr>
    </p:bg>
    <p:spTree>
      <p:nvGrpSpPr>
        <p:cNvPr id="1" name=""/>
        <p:cNvGrpSpPr/>
        <p:nvPr/>
      </p:nvGrpSpPr>
      <p:grpSpPr>
        <a:xfrm>
          <a:off x="0" y="0"/>
          <a:ext cx="0" cy="0"/>
          <a:chOff x="0" y="0"/>
          <a:chExt cx="0" cy="0"/>
        </a:xfrm>
      </p:grpSpPr>
      <p:sp>
        <p:nvSpPr>
          <p:cNvPr id="2" name="Text 0"/>
          <p:cNvSpPr/>
          <p:nvPr/>
        </p:nvSpPr>
        <p:spPr>
          <a:xfrm>
            <a:off x="594360" y="228600"/>
            <a:ext cx="10058400" cy="256032"/>
          </a:xfrm>
          <a:prstGeom prst="rect">
            <a:avLst/>
          </a:prstGeom>
          <a:noFill/>
          <a:ln/>
        </p:spPr>
        <p:txBody>
          <a:bodyPr wrap="square" lIns="0" tIns="0" rIns="0" bIns="0" rtlCol="0" anchor="t"/>
          <a:lstStyle/>
          <a:p>
            <a:pPr marL="0" indent="0">
              <a:buNone/>
            </a:pPr>
            <a:r>
              <a:rPr lang="en-US" sz="1100" b="1" kern="0" spc="180" dirty="0">
                <a:solidFill>
                  <a:srgbClr val="76665B"/>
                </a:solidFill>
                <a:latin typeface="Calibri" pitchFamily="34" charset="0"/>
                <a:ea typeface="Calibri" pitchFamily="34" charset="-122"/>
                <a:cs typeface="Calibri" pitchFamily="34" charset="-120"/>
              </a:rPr>
              <a:t>06 / Nach der Bearbeitung</a:t>
            </a:r>
            <a:endParaRPr lang="en-US" sz="1100" dirty="0"/>
          </a:p>
        </p:txBody>
      </p:sp>
      <p:sp>
        <p:nvSpPr>
          <p:cNvPr id="3" name="Text 1"/>
          <p:cNvSpPr/>
          <p:nvPr/>
        </p:nvSpPr>
        <p:spPr>
          <a:xfrm>
            <a:off x="594360" y="585216"/>
            <a:ext cx="10972800" cy="941832"/>
          </a:xfrm>
          <a:prstGeom prst="rect">
            <a:avLst/>
          </a:prstGeom>
          <a:noFill/>
          <a:ln/>
        </p:spPr>
        <p:txBody>
          <a:bodyPr wrap="square" lIns="0" tIns="0" rIns="0" bIns="0" rtlCol="0" anchor="t"/>
          <a:lstStyle/>
          <a:p>
            <a:pPr marL="0" indent="0">
              <a:buNone/>
            </a:pPr>
            <a:r>
              <a:rPr lang="en-US" sz="3600" b="1" dirty="0">
                <a:solidFill>
                  <a:srgbClr val="30241F"/>
                </a:solidFill>
                <a:latin typeface="Georgia" pitchFamily="34" charset="0"/>
                <a:ea typeface="Georgia" pitchFamily="34" charset="-122"/>
                <a:cs typeface="Georgia" pitchFamily="34" charset="-120"/>
              </a:rPr>
              <a:t>Musterlösung: Delegieren und ergänzen</a:t>
            </a:r>
            <a:endParaRPr lang="en-US" sz="3600" dirty="0"/>
          </a:p>
        </p:txBody>
      </p:sp>
      <p:sp>
        <p:nvSpPr>
          <p:cNvPr id="4" name="Text 2"/>
          <p:cNvSpPr/>
          <p:nvPr/>
        </p:nvSpPr>
        <p:spPr>
          <a:xfrm>
            <a:off x="594360" y="6510528"/>
            <a:ext cx="9144000" cy="201168"/>
          </a:xfrm>
          <a:prstGeom prst="rect">
            <a:avLst/>
          </a:prstGeom>
          <a:noFill/>
          <a:ln/>
        </p:spPr>
        <p:txBody>
          <a:bodyPr wrap="square" lIns="0" tIns="0" rIns="0" bIns="0" rtlCol="0" anchor="t"/>
          <a:lstStyle/>
          <a:p>
            <a:pPr marL="0" indent="0">
              <a:buNone/>
            </a:pPr>
            <a:r>
              <a:rPr lang="en-US" sz="1000" dirty="0">
                <a:solidFill>
                  <a:srgbClr val="76665B"/>
                </a:solidFill>
                <a:latin typeface="Calibri" pitchFamily="34" charset="0"/>
                <a:ea typeface="Calibri" pitchFamily="34" charset="-122"/>
                <a:cs typeface="Calibri" pitchFamily="34" charset="-120"/>
              </a:rPr>
              <a:t>Kaffee mit Zusätzen · Java-Demo + Python-Übung</a:t>
            </a:r>
            <a:endParaRPr lang="en-US" sz="1000" dirty="0"/>
          </a:p>
        </p:txBody>
      </p:sp>
      <p:sp>
        <p:nvSpPr>
          <p:cNvPr id="5" name="Text 3"/>
          <p:cNvSpPr/>
          <p:nvPr/>
        </p:nvSpPr>
        <p:spPr>
          <a:xfrm>
            <a:off x="11082528" y="6455664"/>
            <a:ext cx="502920" cy="274320"/>
          </a:xfrm>
          <a:prstGeom prst="rect">
            <a:avLst/>
          </a:prstGeom>
          <a:noFill/>
          <a:ln/>
        </p:spPr>
        <p:txBody>
          <a:bodyPr wrap="square" lIns="0" tIns="0" rIns="0" bIns="0" rtlCol="0" anchor="t"/>
          <a:lstStyle/>
          <a:p>
            <a:pPr marL="0" indent="0" algn="r">
              <a:buNone/>
            </a:pPr>
            <a:r>
              <a:rPr lang="en-US" sz="1200" dirty="0">
                <a:solidFill>
                  <a:srgbClr val="76665B"/>
                </a:solidFill>
                <a:latin typeface="Calibri" pitchFamily="34" charset="0"/>
                <a:ea typeface="Calibri" pitchFamily="34" charset="-122"/>
                <a:cs typeface="Calibri" pitchFamily="34" charset="-120"/>
              </a:rPr>
              <a:t>14</a:t>
            </a:r>
            <a:endParaRPr lang="en-US" sz="1200" dirty="0"/>
          </a:p>
        </p:txBody>
      </p:sp>
      <p:sp>
        <p:nvSpPr>
          <p:cNvPr id="6" name="Shape 4"/>
          <p:cNvSpPr/>
          <p:nvPr/>
        </p:nvSpPr>
        <p:spPr>
          <a:xfrm>
            <a:off x="685800" y="1773936"/>
            <a:ext cx="10789920" cy="2871216"/>
          </a:xfrm>
          <a:prstGeom prst="rect">
            <a:avLst/>
          </a:prstGeom>
          <a:solidFill>
            <a:srgbClr val="30241F"/>
          </a:solidFill>
          <a:ln w="12700">
            <a:solidFill>
              <a:srgbClr val="30241F"/>
            </a:solidFill>
            <a:prstDash val="solid"/>
          </a:ln>
        </p:spPr>
        <p:txBody>
          <a:bodyPr/>
          <a:lstStyle/>
          <a:p>
            <a:endParaRPr lang="de-DE"/>
          </a:p>
        </p:txBody>
      </p:sp>
      <p:sp>
        <p:nvSpPr>
          <p:cNvPr id="7" name="Text 5"/>
          <p:cNvSpPr/>
          <p:nvPr/>
        </p:nvSpPr>
        <p:spPr>
          <a:xfrm>
            <a:off x="896112" y="1956816"/>
            <a:ext cx="10369296" cy="2505456"/>
          </a:xfrm>
          <a:prstGeom prst="rect">
            <a:avLst/>
          </a:prstGeom>
          <a:noFill/>
          <a:ln/>
        </p:spPr>
        <p:txBody>
          <a:bodyPr wrap="square" lIns="0" tIns="0" rIns="0" bIns="0" rtlCol="0" anchor="t"/>
          <a:lstStyle/>
          <a:p>
            <a:pPr marL="0" indent="0">
              <a:buNone/>
            </a:pPr>
            <a:r>
              <a:rPr lang="en-US" sz="1700" dirty="0">
                <a:solidFill>
                  <a:srgbClr val="F6F0E7"/>
                </a:solidFill>
                <a:latin typeface="Consolas" pitchFamily="34" charset="0"/>
                <a:ea typeface="Consolas" pitchFamily="34" charset="-122"/>
                <a:cs typeface="Consolas" pitchFamily="34" charset="-120"/>
              </a:rPr>
              <a:t>class Karamell(GetraenkDekorierer):</a:t>
            </a:r>
            <a:endParaRPr lang="en-US" sz="1700" dirty="0"/>
          </a:p>
          <a:p>
            <a:pPr marL="0" indent="0">
              <a:buNone/>
            </a:pPr>
            <a:r>
              <a:rPr lang="en-US" sz="1700" dirty="0">
                <a:solidFill>
                  <a:srgbClr val="F6F0E7"/>
                </a:solidFill>
                <a:latin typeface="Consolas" pitchFamily="34" charset="0"/>
                <a:ea typeface="Consolas" pitchFamily="34" charset="-122"/>
                <a:cs typeface="Consolas" pitchFamily="34" charset="-120"/>
              </a:rPr>
              <a:t>    def get_preis(self) -&gt; Decimal:</a:t>
            </a:r>
            <a:endParaRPr lang="en-US" sz="1700" dirty="0"/>
          </a:p>
          <a:p>
            <a:pPr marL="0" indent="0">
              <a:buNone/>
            </a:pPr>
            <a:r>
              <a:rPr lang="en-US" sz="1700" dirty="0">
                <a:solidFill>
                  <a:srgbClr val="F6F0E7"/>
                </a:solidFill>
                <a:latin typeface="Consolas" pitchFamily="34" charset="0"/>
                <a:ea typeface="Consolas" pitchFamily="34" charset="-122"/>
                <a:cs typeface="Consolas" pitchFamily="34" charset="-120"/>
              </a:rPr>
              <a:t>        return self._getraenk.get_preis() + Decimal("0.40")</a:t>
            </a:r>
            <a:endParaRPr lang="en-US" sz="1700" dirty="0"/>
          </a:p>
          <a:p>
            <a:pPr marL="0" indent="0">
              <a:buNone/>
            </a:pPr>
            <a:endParaRPr lang="en-US" sz="1700" dirty="0"/>
          </a:p>
          <a:p>
            <a:pPr marL="0" indent="0">
              <a:buNone/>
            </a:pPr>
            <a:r>
              <a:rPr lang="en-US" sz="1700" dirty="0">
                <a:solidFill>
                  <a:srgbClr val="F6F0E7"/>
                </a:solidFill>
                <a:latin typeface="Consolas" pitchFamily="34" charset="0"/>
                <a:ea typeface="Consolas" pitchFamily="34" charset="-122"/>
                <a:cs typeface="Consolas" pitchFamily="34" charset="-120"/>
              </a:rPr>
              <a:t>    def get_beschreibung(self) -&gt; str:</a:t>
            </a:r>
            <a:endParaRPr lang="en-US" sz="1700" dirty="0"/>
          </a:p>
          <a:p>
            <a:pPr marL="0" indent="0">
              <a:buNone/>
            </a:pPr>
            <a:r>
              <a:rPr lang="en-US" sz="1700" dirty="0">
                <a:solidFill>
                  <a:srgbClr val="F6F0E7"/>
                </a:solidFill>
                <a:latin typeface="Consolas" pitchFamily="34" charset="0"/>
                <a:ea typeface="Consolas" pitchFamily="34" charset="-122"/>
                <a:cs typeface="Consolas" pitchFamily="34" charset="-120"/>
              </a:rPr>
              <a:t>        return self._getraenk.get_beschreibung() + ", Karamell"</a:t>
            </a:r>
            <a:endParaRPr lang="en-US" sz="1700" dirty="0"/>
          </a:p>
        </p:txBody>
      </p:sp>
      <p:sp>
        <p:nvSpPr>
          <p:cNvPr id="8" name="Shape 6"/>
          <p:cNvSpPr/>
          <p:nvPr/>
        </p:nvSpPr>
        <p:spPr>
          <a:xfrm>
            <a:off x="777240" y="5148072"/>
            <a:ext cx="3182112" cy="713232"/>
          </a:xfrm>
          <a:prstGeom prst="rect">
            <a:avLst/>
          </a:prstGeom>
          <a:solidFill>
            <a:srgbClr val="E8D6C3"/>
          </a:solidFill>
          <a:ln w="12700">
            <a:solidFill>
              <a:srgbClr val="E8D6C3"/>
            </a:solidFill>
            <a:prstDash val="solid"/>
          </a:ln>
        </p:spPr>
        <p:txBody>
          <a:bodyPr/>
          <a:lstStyle/>
          <a:p>
            <a:endParaRPr lang="de-DE"/>
          </a:p>
        </p:txBody>
      </p:sp>
      <p:sp>
        <p:nvSpPr>
          <p:cNvPr id="9" name="Text 7"/>
          <p:cNvSpPr/>
          <p:nvPr/>
        </p:nvSpPr>
        <p:spPr>
          <a:xfrm>
            <a:off x="969264" y="5330952"/>
            <a:ext cx="2743200" cy="365760"/>
          </a:xfrm>
          <a:prstGeom prst="rect">
            <a:avLst/>
          </a:prstGeom>
          <a:noFill/>
          <a:ln/>
        </p:spPr>
        <p:txBody>
          <a:bodyPr wrap="square" lIns="0" tIns="0" rIns="0" bIns="0" rtlCol="0" anchor="t"/>
          <a:lstStyle/>
          <a:p>
            <a:pPr marL="0" indent="0">
              <a:buNone/>
            </a:pPr>
            <a:r>
              <a:rPr lang="en-US" sz="2200" b="1" dirty="0">
                <a:solidFill>
                  <a:srgbClr val="30241F"/>
                </a:solidFill>
                <a:latin typeface="Calibri" pitchFamily="34" charset="0"/>
                <a:ea typeface="Calibri" pitchFamily="34" charset="-122"/>
                <a:cs typeface="Calibri" pitchFamily="34" charset="-120"/>
              </a:rPr>
              <a:t>Karamell</a:t>
            </a:r>
            <a:endParaRPr lang="en-US" sz="2200" dirty="0"/>
          </a:p>
        </p:txBody>
      </p:sp>
      <p:sp>
        <p:nvSpPr>
          <p:cNvPr id="10" name="Shape 8"/>
          <p:cNvSpPr/>
          <p:nvPr/>
        </p:nvSpPr>
        <p:spPr>
          <a:xfrm>
            <a:off x="4005072" y="5504688"/>
            <a:ext cx="448056" cy="0"/>
          </a:xfrm>
          <a:prstGeom prst="line">
            <a:avLst/>
          </a:prstGeom>
          <a:noFill/>
          <a:ln w="22860">
            <a:solidFill>
              <a:srgbClr val="A75B2A"/>
            </a:solidFill>
            <a:prstDash val="solid"/>
            <a:headEnd type="none"/>
            <a:tailEnd type="triangle"/>
          </a:ln>
        </p:spPr>
        <p:txBody>
          <a:bodyPr/>
          <a:lstStyle/>
          <a:p>
            <a:endParaRPr lang="de-DE"/>
          </a:p>
        </p:txBody>
      </p:sp>
      <p:sp>
        <p:nvSpPr>
          <p:cNvPr id="11" name="Shape 9"/>
          <p:cNvSpPr/>
          <p:nvPr/>
        </p:nvSpPr>
        <p:spPr>
          <a:xfrm>
            <a:off x="4526280" y="5148072"/>
            <a:ext cx="3182112" cy="713232"/>
          </a:xfrm>
          <a:prstGeom prst="rect">
            <a:avLst/>
          </a:prstGeom>
          <a:solidFill>
            <a:srgbClr val="E8D6C3"/>
          </a:solidFill>
          <a:ln w="12700">
            <a:solidFill>
              <a:srgbClr val="E8D6C3"/>
            </a:solidFill>
            <a:prstDash val="solid"/>
          </a:ln>
        </p:spPr>
        <p:txBody>
          <a:bodyPr/>
          <a:lstStyle/>
          <a:p>
            <a:endParaRPr lang="de-DE"/>
          </a:p>
        </p:txBody>
      </p:sp>
      <p:sp>
        <p:nvSpPr>
          <p:cNvPr id="12" name="Text 10"/>
          <p:cNvSpPr/>
          <p:nvPr/>
        </p:nvSpPr>
        <p:spPr>
          <a:xfrm>
            <a:off x="4718304" y="5330952"/>
            <a:ext cx="2743200" cy="365760"/>
          </a:xfrm>
          <a:prstGeom prst="rect">
            <a:avLst/>
          </a:prstGeom>
          <a:noFill/>
          <a:ln/>
        </p:spPr>
        <p:txBody>
          <a:bodyPr wrap="square" lIns="0" tIns="0" rIns="0" bIns="0" rtlCol="0" anchor="t"/>
          <a:lstStyle/>
          <a:p>
            <a:pPr marL="0" indent="0">
              <a:buNone/>
            </a:pPr>
            <a:r>
              <a:rPr lang="en-US" sz="2200" b="1" dirty="0">
                <a:solidFill>
                  <a:srgbClr val="30241F"/>
                </a:solidFill>
                <a:latin typeface="Calibri" pitchFamily="34" charset="0"/>
                <a:ea typeface="Calibri" pitchFamily="34" charset="-122"/>
                <a:cs typeface="Calibri" pitchFamily="34" charset="-120"/>
              </a:rPr>
              <a:t>Milch</a:t>
            </a:r>
            <a:endParaRPr lang="en-US" sz="2200" dirty="0"/>
          </a:p>
        </p:txBody>
      </p:sp>
      <p:sp>
        <p:nvSpPr>
          <p:cNvPr id="13" name="Shape 11"/>
          <p:cNvSpPr/>
          <p:nvPr/>
        </p:nvSpPr>
        <p:spPr>
          <a:xfrm>
            <a:off x="7754112" y="5504688"/>
            <a:ext cx="448056" cy="0"/>
          </a:xfrm>
          <a:prstGeom prst="line">
            <a:avLst/>
          </a:prstGeom>
          <a:noFill/>
          <a:ln w="22860">
            <a:solidFill>
              <a:srgbClr val="A75B2A"/>
            </a:solidFill>
            <a:prstDash val="solid"/>
            <a:headEnd type="none"/>
            <a:tailEnd type="triangle"/>
          </a:ln>
        </p:spPr>
        <p:txBody>
          <a:bodyPr/>
          <a:lstStyle/>
          <a:p>
            <a:endParaRPr lang="de-DE"/>
          </a:p>
        </p:txBody>
      </p:sp>
      <p:sp>
        <p:nvSpPr>
          <p:cNvPr id="14" name="Shape 12"/>
          <p:cNvSpPr/>
          <p:nvPr/>
        </p:nvSpPr>
        <p:spPr>
          <a:xfrm>
            <a:off x="8275320" y="5148072"/>
            <a:ext cx="3182112" cy="713232"/>
          </a:xfrm>
          <a:prstGeom prst="rect">
            <a:avLst/>
          </a:prstGeom>
          <a:solidFill>
            <a:srgbClr val="45634D"/>
          </a:solidFill>
          <a:ln w="12700">
            <a:solidFill>
              <a:srgbClr val="45634D"/>
            </a:solidFill>
            <a:prstDash val="solid"/>
          </a:ln>
        </p:spPr>
        <p:txBody>
          <a:bodyPr/>
          <a:lstStyle/>
          <a:p>
            <a:endParaRPr lang="de-DE"/>
          </a:p>
        </p:txBody>
      </p:sp>
      <p:sp>
        <p:nvSpPr>
          <p:cNvPr id="15" name="Text 13"/>
          <p:cNvSpPr/>
          <p:nvPr/>
        </p:nvSpPr>
        <p:spPr>
          <a:xfrm>
            <a:off x="8467344" y="5330952"/>
            <a:ext cx="2743200" cy="365760"/>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Espresso</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6F0E7"/>
        </a:solidFill>
        <a:effectLst/>
      </p:bgPr>
    </p:bg>
    <p:spTree>
      <p:nvGrpSpPr>
        <p:cNvPr id="1" name=""/>
        <p:cNvGrpSpPr/>
        <p:nvPr/>
      </p:nvGrpSpPr>
      <p:grpSpPr>
        <a:xfrm>
          <a:off x="0" y="0"/>
          <a:ext cx="0" cy="0"/>
          <a:chOff x="0" y="0"/>
          <a:chExt cx="0" cy="0"/>
        </a:xfrm>
      </p:grpSpPr>
      <p:sp>
        <p:nvSpPr>
          <p:cNvPr id="2" name="Text 0"/>
          <p:cNvSpPr/>
          <p:nvPr/>
        </p:nvSpPr>
        <p:spPr>
          <a:xfrm>
            <a:off x="594360" y="228600"/>
            <a:ext cx="10058400" cy="256032"/>
          </a:xfrm>
          <a:prstGeom prst="rect">
            <a:avLst/>
          </a:prstGeom>
          <a:noFill/>
          <a:ln/>
        </p:spPr>
        <p:txBody>
          <a:bodyPr wrap="square" lIns="0" tIns="0" rIns="0" bIns="0" rtlCol="0" anchor="t"/>
          <a:lstStyle/>
          <a:p>
            <a:pPr marL="0" indent="0">
              <a:buNone/>
            </a:pPr>
            <a:r>
              <a:rPr lang="en-US" sz="1100" b="1" kern="0" spc="180" dirty="0">
                <a:solidFill>
                  <a:srgbClr val="76665B"/>
                </a:solidFill>
                <a:latin typeface="Calibri" pitchFamily="34" charset="0"/>
                <a:ea typeface="Calibri" pitchFamily="34" charset="-122"/>
                <a:cs typeface="Calibri" pitchFamily="34" charset="-120"/>
              </a:rPr>
              <a:t>06 / Nachschlagen</a:t>
            </a:r>
            <a:endParaRPr lang="en-US" sz="1100" dirty="0"/>
          </a:p>
        </p:txBody>
      </p:sp>
      <p:sp>
        <p:nvSpPr>
          <p:cNvPr id="3" name="Text 1"/>
          <p:cNvSpPr/>
          <p:nvPr/>
        </p:nvSpPr>
        <p:spPr>
          <a:xfrm>
            <a:off x="594360" y="585216"/>
            <a:ext cx="10972800" cy="941832"/>
          </a:xfrm>
          <a:prstGeom prst="rect">
            <a:avLst/>
          </a:prstGeom>
          <a:noFill/>
          <a:ln/>
        </p:spPr>
        <p:txBody>
          <a:bodyPr wrap="square" lIns="0" tIns="0" rIns="0" bIns="0" rtlCol="0" anchor="t"/>
          <a:lstStyle/>
          <a:p>
            <a:pPr marL="0" indent="0">
              <a:buNone/>
            </a:pPr>
            <a:r>
              <a:rPr lang="en-US" sz="3600" b="1" dirty="0">
                <a:solidFill>
                  <a:srgbClr val="30241F"/>
                </a:solidFill>
                <a:latin typeface="Georgia" pitchFamily="34" charset="0"/>
                <a:ea typeface="Georgia" pitchFamily="34" charset="-122"/>
                <a:cs typeface="Georgia" pitchFamily="34" charset="-120"/>
              </a:rPr>
              <a:t>Quellen und Material zum Wiederholen</a:t>
            </a:r>
            <a:endParaRPr lang="en-US" sz="3600" dirty="0"/>
          </a:p>
        </p:txBody>
      </p:sp>
      <p:sp>
        <p:nvSpPr>
          <p:cNvPr id="4" name="Text 2"/>
          <p:cNvSpPr/>
          <p:nvPr/>
        </p:nvSpPr>
        <p:spPr>
          <a:xfrm>
            <a:off x="594360" y="6510528"/>
            <a:ext cx="9144000" cy="201168"/>
          </a:xfrm>
          <a:prstGeom prst="rect">
            <a:avLst/>
          </a:prstGeom>
          <a:noFill/>
          <a:ln/>
        </p:spPr>
        <p:txBody>
          <a:bodyPr wrap="square" lIns="0" tIns="0" rIns="0" bIns="0" rtlCol="0" anchor="t"/>
          <a:lstStyle/>
          <a:p>
            <a:pPr marL="0" indent="0">
              <a:buNone/>
            </a:pPr>
            <a:r>
              <a:rPr lang="en-US" sz="1000" dirty="0">
                <a:solidFill>
                  <a:srgbClr val="76665B"/>
                </a:solidFill>
                <a:latin typeface="Calibri" pitchFamily="34" charset="0"/>
                <a:ea typeface="Calibri" pitchFamily="34" charset="-122"/>
                <a:cs typeface="Calibri" pitchFamily="34" charset="-120"/>
              </a:rPr>
              <a:t>Kaffee mit Zusätzen · Java-Demo + Python-Übung</a:t>
            </a:r>
            <a:endParaRPr lang="en-US" sz="1000" dirty="0"/>
          </a:p>
        </p:txBody>
      </p:sp>
      <p:sp>
        <p:nvSpPr>
          <p:cNvPr id="5" name="Text 3"/>
          <p:cNvSpPr/>
          <p:nvPr/>
        </p:nvSpPr>
        <p:spPr>
          <a:xfrm>
            <a:off x="11082528" y="6455664"/>
            <a:ext cx="502920" cy="274320"/>
          </a:xfrm>
          <a:prstGeom prst="rect">
            <a:avLst/>
          </a:prstGeom>
          <a:noFill/>
          <a:ln/>
        </p:spPr>
        <p:txBody>
          <a:bodyPr wrap="square" lIns="0" tIns="0" rIns="0" bIns="0" rtlCol="0" anchor="t"/>
          <a:lstStyle/>
          <a:p>
            <a:pPr marL="0" indent="0" algn="r">
              <a:buNone/>
            </a:pPr>
            <a:r>
              <a:rPr lang="en-US" sz="1200" dirty="0">
                <a:solidFill>
                  <a:srgbClr val="76665B"/>
                </a:solidFill>
                <a:latin typeface="Calibri" pitchFamily="34" charset="0"/>
                <a:ea typeface="Calibri" pitchFamily="34" charset="-122"/>
                <a:cs typeface="Calibri" pitchFamily="34" charset="-120"/>
              </a:rPr>
              <a:t>15</a:t>
            </a:r>
            <a:endParaRPr lang="en-US" sz="1200" dirty="0"/>
          </a:p>
        </p:txBody>
      </p:sp>
      <p:sp>
        <p:nvSpPr>
          <p:cNvPr id="6" name="Shape 4"/>
          <p:cNvSpPr/>
          <p:nvPr/>
        </p:nvSpPr>
        <p:spPr>
          <a:xfrm>
            <a:off x="685800" y="1700784"/>
            <a:ext cx="694944" cy="694944"/>
          </a:xfrm>
          <a:prstGeom prst="rect">
            <a:avLst/>
          </a:prstGeom>
          <a:solidFill>
            <a:srgbClr val="45634D"/>
          </a:solidFill>
          <a:ln w="12700">
            <a:solidFill>
              <a:srgbClr val="45634D"/>
            </a:solidFill>
            <a:prstDash val="solid"/>
          </a:ln>
        </p:spPr>
        <p:txBody>
          <a:bodyPr/>
          <a:lstStyle/>
          <a:p>
            <a:endParaRPr lang="de-DE"/>
          </a:p>
        </p:txBody>
      </p:sp>
      <p:sp>
        <p:nvSpPr>
          <p:cNvPr id="7" name="Text 5"/>
          <p:cNvSpPr/>
          <p:nvPr/>
        </p:nvSpPr>
        <p:spPr>
          <a:xfrm>
            <a:off x="813816" y="1865376"/>
            <a:ext cx="457200" cy="365760"/>
          </a:xfrm>
          <a:prstGeom prst="rect">
            <a:avLst/>
          </a:prstGeom>
          <a:noFill/>
          <a:ln/>
        </p:spPr>
        <p:txBody>
          <a:bodyPr wrap="square" lIns="0" tIns="0" rIns="0" bIns="0" rtlCol="0" anchor="t"/>
          <a:lstStyle/>
          <a:p>
            <a:pPr marL="0" indent="0">
              <a:buNone/>
            </a:pPr>
            <a:r>
              <a:rPr lang="en-US" sz="2300" b="1" dirty="0">
                <a:solidFill>
                  <a:srgbClr val="FFFFFF"/>
                </a:solidFill>
                <a:latin typeface="Calibri" pitchFamily="34" charset="0"/>
                <a:ea typeface="Calibri" pitchFamily="34" charset="-122"/>
                <a:cs typeface="Calibri" pitchFamily="34" charset="-120"/>
              </a:rPr>
              <a:t>01</a:t>
            </a:r>
            <a:endParaRPr lang="en-US" sz="2300" dirty="0"/>
          </a:p>
        </p:txBody>
      </p:sp>
      <p:sp>
        <p:nvSpPr>
          <p:cNvPr id="8" name="Text 6">
            <a:hlinkClick r:id="rId3"/>
          </p:cNvPr>
          <p:cNvSpPr/>
          <p:nvPr/>
        </p:nvSpPr>
        <p:spPr>
          <a:xfrm>
            <a:off x="1664208" y="1700784"/>
            <a:ext cx="9875520" cy="402336"/>
          </a:xfrm>
          <a:prstGeom prst="rect">
            <a:avLst/>
          </a:prstGeom>
          <a:noFill/>
          <a:ln/>
        </p:spPr>
        <p:txBody>
          <a:bodyPr wrap="square" lIns="0" tIns="0" rIns="0" bIns="0" rtlCol="0" anchor="t"/>
          <a:lstStyle/>
          <a:p>
            <a:pPr marL="0" indent="0">
              <a:buNone/>
            </a:pPr>
            <a:r>
              <a:rPr lang="en-US" sz="2400" b="1" u="sng" dirty="0">
                <a:solidFill>
                  <a:srgbClr val="30241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Philipp Hauer</a:t>
            </a:r>
            <a:endParaRPr lang="en-US" sz="2400" dirty="0"/>
          </a:p>
        </p:txBody>
      </p:sp>
      <p:sp>
        <p:nvSpPr>
          <p:cNvPr id="9" name="Text 7"/>
          <p:cNvSpPr/>
          <p:nvPr/>
        </p:nvSpPr>
        <p:spPr>
          <a:xfrm>
            <a:off x="1664208" y="2185416"/>
            <a:ext cx="9875520" cy="411480"/>
          </a:xfrm>
          <a:prstGeom prst="rect">
            <a:avLst/>
          </a:prstGeom>
          <a:noFill/>
          <a:ln/>
        </p:spPr>
        <p:txBody>
          <a:bodyPr wrap="square" lIns="0" tIns="0" rIns="0" bIns="0" rtlCol="0" anchor="t"/>
          <a:lstStyle/>
          <a:p>
            <a:pPr marL="0" indent="0">
              <a:buNone/>
            </a:pPr>
            <a:r>
              <a:rPr lang="en-US" sz="1800" dirty="0">
                <a:solidFill>
                  <a:srgbClr val="76665B"/>
                </a:solidFill>
                <a:latin typeface="Calibri" pitchFamily="34" charset="0"/>
                <a:ea typeface="Calibri" pitchFamily="34" charset="-122"/>
                <a:cs typeface="Calibri" pitchFamily="34" charset="-120"/>
              </a:rPr>
              <a:t>Aufbau, Vorteile, Nachteile und Einsatzfälle</a:t>
            </a:r>
            <a:endParaRPr lang="en-US" sz="1800" dirty="0"/>
          </a:p>
        </p:txBody>
      </p:sp>
      <p:sp>
        <p:nvSpPr>
          <p:cNvPr id="10" name="Shape 8"/>
          <p:cNvSpPr/>
          <p:nvPr/>
        </p:nvSpPr>
        <p:spPr>
          <a:xfrm>
            <a:off x="685800" y="2816352"/>
            <a:ext cx="694944" cy="694944"/>
          </a:xfrm>
          <a:prstGeom prst="rect">
            <a:avLst/>
          </a:prstGeom>
          <a:solidFill>
            <a:srgbClr val="45634D"/>
          </a:solidFill>
          <a:ln w="12700">
            <a:solidFill>
              <a:srgbClr val="45634D"/>
            </a:solidFill>
            <a:prstDash val="solid"/>
          </a:ln>
        </p:spPr>
        <p:txBody>
          <a:bodyPr/>
          <a:lstStyle/>
          <a:p>
            <a:endParaRPr lang="de-DE"/>
          </a:p>
        </p:txBody>
      </p:sp>
      <p:sp>
        <p:nvSpPr>
          <p:cNvPr id="11" name="Text 9"/>
          <p:cNvSpPr/>
          <p:nvPr/>
        </p:nvSpPr>
        <p:spPr>
          <a:xfrm>
            <a:off x="813816" y="2980944"/>
            <a:ext cx="457200" cy="365760"/>
          </a:xfrm>
          <a:prstGeom prst="rect">
            <a:avLst/>
          </a:prstGeom>
          <a:noFill/>
          <a:ln/>
        </p:spPr>
        <p:txBody>
          <a:bodyPr wrap="square" lIns="0" tIns="0" rIns="0" bIns="0" rtlCol="0" anchor="t"/>
          <a:lstStyle/>
          <a:p>
            <a:pPr marL="0" indent="0">
              <a:buNone/>
            </a:pPr>
            <a:r>
              <a:rPr lang="en-US" sz="2300" b="1" dirty="0">
                <a:solidFill>
                  <a:srgbClr val="FFFFFF"/>
                </a:solidFill>
                <a:latin typeface="Calibri" pitchFamily="34" charset="0"/>
                <a:ea typeface="Calibri" pitchFamily="34" charset="-122"/>
                <a:cs typeface="Calibri" pitchFamily="34" charset="-120"/>
              </a:rPr>
              <a:t>02</a:t>
            </a:r>
            <a:endParaRPr lang="en-US" sz="2300" dirty="0"/>
          </a:p>
        </p:txBody>
      </p:sp>
      <p:sp>
        <p:nvSpPr>
          <p:cNvPr id="12" name="Text 10">
            <a:hlinkClick r:id="rId4"/>
          </p:cNvPr>
          <p:cNvSpPr/>
          <p:nvPr/>
        </p:nvSpPr>
        <p:spPr>
          <a:xfrm>
            <a:off x="1664208" y="2816352"/>
            <a:ext cx="9875520" cy="402336"/>
          </a:xfrm>
          <a:prstGeom prst="rect">
            <a:avLst/>
          </a:prstGeom>
          <a:noFill/>
          <a:ln/>
        </p:spPr>
        <p:txBody>
          <a:bodyPr wrap="square" lIns="0" tIns="0" rIns="0" bIns="0" rtlCol="0" anchor="t"/>
          <a:lstStyle/>
          <a:p>
            <a:pPr marL="0" indent="0">
              <a:buNone/>
            </a:pPr>
            <a:r>
              <a:rPr lang="en-US" sz="2400" b="1" u="sng" dirty="0">
                <a:solidFill>
                  <a:srgbClr val="30241F"/>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Wikipedia: Decorator</a:t>
            </a:r>
            <a:endParaRPr lang="en-US" sz="2400" dirty="0"/>
          </a:p>
        </p:txBody>
      </p:sp>
      <p:sp>
        <p:nvSpPr>
          <p:cNvPr id="13" name="Text 11"/>
          <p:cNvSpPr/>
          <p:nvPr/>
        </p:nvSpPr>
        <p:spPr>
          <a:xfrm>
            <a:off x="1664208" y="3300984"/>
            <a:ext cx="9875520" cy="411480"/>
          </a:xfrm>
          <a:prstGeom prst="rect">
            <a:avLst/>
          </a:prstGeom>
          <a:noFill/>
          <a:ln/>
        </p:spPr>
        <p:txBody>
          <a:bodyPr wrap="square" lIns="0" tIns="0" rIns="0" bIns="0" rtlCol="0" anchor="t"/>
          <a:lstStyle/>
          <a:p>
            <a:pPr marL="0" indent="0">
              <a:buNone/>
            </a:pPr>
            <a:r>
              <a:rPr lang="en-US" sz="1800" dirty="0">
                <a:solidFill>
                  <a:srgbClr val="76665B"/>
                </a:solidFill>
                <a:latin typeface="Calibri" pitchFamily="34" charset="0"/>
                <a:ea typeface="Calibri" pitchFamily="34" charset="-122"/>
                <a:cs typeface="Calibri" pitchFamily="34" charset="-120"/>
              </a:rPr>
              <a:t>Begriffe, Struktur und Objektidentität</a:t>
            </a:r>
            <a:endParaRPr lang="en-US" sz="1800" dirty="0"/>
          </a:p>
        </p:txBody>
      </p:sp>
      <p:sp>
        <p:nvSpPr>
          <p:cNvPr id="14" name="Shape 12"/>
          <p:cNvSpPr/>
          <p:nvPr/>
        </p:nvSpPr>
        <p:spPr>
          <a:xfrm>
            <a:off x="685800" y="3931920"/>
            <a:ext cx="694944" cy="694944"/>
          </a:xfrm>
          <a:prstGeom prst="rect">
            <a:avLst/>
          </a:prstGeom>
          <a:solidFill>
            <a:srgbClr val="45634D"/>
          </a:solidFill>
          <a:ln w="12700">
            <a:solidFill>
              <a:srgbClr val="45634D"/>
            </a:solidFill>
            <a:prstDash val="solid"/>
          </a:ln>
        </p:spPr>
        <p:txBody>
          <a:bodyPr/>
          <a:lstStyle/>
          <a:p>
            <a:endParaRPr lang="de-DE"/>
          </a:p>
        </p:txBody>
      </p:sp>
      <p:sp>
        <p:nvSpPr>
          <p:cNvPr id="15" name="Text 13"/>
          <p:cNvSpPr/>
          <p:nvPr/>
        </p:nvSpPr>
        <p:spPr>
          <a:xfrm>
            <a:off x="813816" y="4096512"/>
            <a:ext cx="457200" cy="365760"/>
          </a:xfrm>
          <a:prstGeom prst="rect">
            <a:avLst/>
          </a:prstGeom>
          <a:noFill/>
          <a:ln/>
        </p:spPr>
        <p:txBody>
          <a:bodyPr wrap="square" lIns="0" tIns="0" rIns="0" bIns="0" rtlCol="0" anchor="t"/>
          <a:lstStyle/>
          <a:p>
            <a:pPr marL="0" indent="0">
              <a:buNone/>
            </a:pPr>
            <a:r>
              <a:rPr lang="en-US" sz="2300" b="1" dirty="0">
                <a:solidFill>
                  <a:srgbClr val="FFFFFF"/>
                </a:solidFill>
                <a:latin typeface="Calibri" pitchFamily="34" charset="0"/>
                <a:ea typeface="Calibri" pitchFamily="34" charset="-122"/>
                <a:cs typeface="Calibri" pitchFamily="34" charset="-120"/>
              </a:rPr>
              <a:t>03</a:t>
            </a:r>
            <a:endParaRPr lang="en-US" sz="2300" dirty="0"/>
          </a:p>
        </p:txBody>
      </p:sp>
      <p:sp>
        <p:nvSpPr>
          <p:cNvPr id="16" name="Text 14">
            <a:hlinkClick r:id="rId5"/>
          </p:cNvPr>
          <p:cNvSpPr/>
          <p:nvPr/>
        </p:nvSpPr>
        <p:spPr>
          <a:xfrm>
            <a:off x="1664208" y="3931920"/>
            <a:ext cx="9875520" cy="402336"/>
          </a:xfrm>
          <a:prstGeom prst="rect">
            <a:avLst/>
          </a:prstGeom>
          <a:noFill/>
          <a:ln/>
        </p:spPr>
        <p:txBody>
          <a:bodyPr wrap="square" lIns="0" tIns="0" rIns="0" bIns="0" rtlCol="0" anchor="t"/>
          <a:lstStyle/>
          <a:p>
            <a:pPr marL="0" indent="0">
              <a:buNone/>
            </a:pPr>
            <a:r>
              <a:rPr lang="en-US" sz="2400" b="1" u="sng" dirty="0">
                <a:solidFill>
                  <a:srgbClr val="30241F"/>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Refactoring.Guru: Decorator in Java</a:t>
            </a:r>
            <a:endParaRPr lang="en-US" sz="2400" dirty="0"/>
          </a:p>
        </p:txBody>
      </p:sp>
      <p:sp>
        <p:nvSpPr>
          <p:cNvPr id="17" name="Text 15"/>
          <p:cNvSpPr/>
          <p:nvPr/>
        </p:nvSpPr>
        <p:spPr>
          <a:xfrm>
            <a:off x="1664208" y="4416552"/>
            <a:ext cx="9875520" cy="411480"/>
          </a:xfrm>
          <a:prstGeom prst="rect">
            <a:avLst/>
          </a:prstGeom>
          <a:noFill/>
          <a:ln/>
        </p:spPr>
        <p:txBody>
          <a:bodyPr wrap="square" lIns="0" tIns="0" rIns="0" bIns="0" rtlCol="0" anchor="t"/>
          <a:lstStyle/>
          <a:p>
            <a:pPr marL="0" indent="0">
              <a:buNone/>
            </a:pPr>
            <a:r>
              <a:rPr lang="en-US" sz="1800" dirty="0">
                <a:solidFill>
                  <a:srgbClr val="76665B"/>
                </a:solidFill>
                <a:latin typeface="Calibri" pitchFamily="34" charset="0"/>
                <a:ea typeface="Calibri" pitchFamily="34" charset="-122"/>
                <a:cs typeface="Calibri" pitchFamily="34" charset="-120"/>
              </a:rPr>
              <a:t>Wrapper kombinieren: Verschlüsselung und Komprimierung</a:t>
            </a:r>
            <a:endParaRPr lang="en-US" sz="1800" dirty="0"/>
          </a:p>
        </p:txBody>
      </p:sp>
      <p:sp>
        <p:nvSpPr>
          <p:cNvPr id="18" name="Shape 16"/>
          <p:cNvSpPr/>
          <p:nvPr/>
        </p:nvSpPr>
        <p:spPr>
          <a:xfrm>
            <a:off x="731520" y="5303520"/>
            <a:ext cx="10698480" cy="822960"/>
          </a:xfrm>
          <a:prstGeom prst="rect">
            <a:avLst/>
          </a:prstGeom>
          <a:solidFill>
            <a:srgbClr val="E8D6C3"/>
          </a:solidFill>
          <a:ln w="12700">
            <a:solidFill>
              <a:srgbClr val="E8D6C3"/>
            </a:solidFill>
            <a:prstDash val="solid"/>
          </a:ln>
        </p:spPr>
        <p:txBody>
          <a:bodyPr/>
          <a:lstStyle/>
          <a:p>
            <a:endParaRPr lang="de-DE"/>
          </a:p>
        </p:txBody>
      </p:sp>
      <p:sp>
        <p:nvSpPr>
          <p:cNvPr id="19" name="Text 17">
            <a:hlinkClick r:id="rId6"/>
          </p:cNvPr>
          <p:cNvSpPr/>
          <p:nvPr/>
        </p:nvSpPr>
        <p:spPr>
          <a:xfrm>
            <a:off x="969264" y="5486400"/>
            <a:ext cx="10195560" cy="466344"/>
          </a:xfrm>
          <a:prstGeom prst="rect">
            <a:avLst/>
          </a:prstGeom>
          <a:noFill/>
          <a:ln/>
        </p:spPr>
        <p:txBody>
          <a:bodyPr wrap="square" lIns="0" tIns="0" rIns="0" bIns="0" rtlCol="0" anchor="t"/>
          <a:lstStyle/>
          <a:p>
            <a:pPr marL="0" indent="0">
              <a:buNone/>
            </a:pPr>
            <a:r>
              <a:rPr lang="en-US" sz="2100" u="sng" dirty="0">
                <a:solidFill>
                  <a:srgbClr val="30241F"/>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Repository: Java-Code, UML, Vor- und Nachteile sowie Python-Übung</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30241F"/>
        </a:solidFill>
        <a:effectLst/>
      </p:bgPr>
    </p:bg>
    <p:spTree>
      <p:nvGrpSpPr>
        <p:cNvPr id="1" name=""/>
        <p:cNvGrpSpPr/>
        <p:nvPr/>
      </p:nvGrpSpPr>
      <p:grpSpPr>
        <a:xfrm>
          <a:off x="0" y="0"/>
          <a:ext cx="0" cy="0"/>
          <a:chOff x="0" y="0"/>
          <a:chExt cx="0" cy="0"/>
        </a:xfrm>
      </p:grpSpPr>
      <p:sp>
        <p:nvSpPr>
          <p:cNvPr id="2" name="Text 0"/>
          <p:cNvSpPr/>
          <p:nvPr/>
        </p:nvSpPr>
        <p:spPr>
          <a:xfrm>
            <a:off x="594360" y="6510528"/>
            <a:ext cx="9144000" cy="201168"/>
          </a:xfrm>
          <a:prstGeom prst="rect">
            <a:avLst/>
          </a:prstGeom>
          <a:noFill/>
          <a:ln/>
        </p:spPr>
        <p:txBody>
          <a:bodyPr wrap="square" lIns="0" tIns="0" rIns="0" bIns="0" rtlCol="0" anchor="t"/>
          <a:lstStyle/>
          <a:p>
            <a:pPr marL="0" indent="0">
              <a:buNone/>
            </a:pPr>
            <a:r>
              <a:rPr lang="en-US" sz="1000" dirty="0">
                <a:solidFill>
                  <a:srgbClr val="E8D6C3"/>
                </a:solidFill>
                <a:latin typeface="Calibri" pitchFamily="34" charset="0"/>
                <a:ea typeface="Calibri" pitchFamily="34" charset="-122"/>
                <a:cs typeface="Calibri" pitchFamily="34" charset="-120"/>
              </a:rPr>
              <a:t>Kaffee mit Zusätzen · Java-Demo + Python-Übung</a:t>
            </a:r>
            <a:endParaRPr lang="en-US" sz="1000" dirty="0"/>
          </a:p>
        </p:txBody>
      </p:sp>
      <p:sp>
        <p:nvSpPr>
          <p:cNvPr id="3" name="Text 1"/>
          <p:cNvSpPr/>
          <p:nvPr/>
        </p:nvSpPr>
        <p:spPr>
          <a:xfrm>
            <a:off x="11082528" y="6455664"/>
            <a:ext cx="502920" cy="274320"/>
          </a:xfrm>
          <a:prstGeom prst="rect">
            <a:avLst/>
          </a:prstGeom>
          <a:noFill/>
          <a:ln/>
        </p:spPr>
        <p:txBody>
          <a:bodyPr wrap="square" lIns="0" tIns="0" rIns="0" bIns="0" rtlCol="0" anchor="t"/>
          <a:lstStyle/>
          <a:p>
            <a:pPr marL="0" indent="0" algn="r">
              <a:buNone/>
            </a:pPr>
            <a:r>
              <a:rPr lang="en-US" sz="1200" dirty="0">
                <a:solidFill>
                  <a:srgbClr val="E8D6C3"/>
                </a:solidFill>
                <a:latin typeface="Calibri" pitchFamily="34" charset="0"/>
                <a:ea typeface="Calibri" pitchFamily="34" charset="-122"/>
                <a:cs typeface="Calibri" pitchFamily="34" charset="-120"/>
              </a:rPr>
              <a:t>16</a:t>
            </a:r>
            <a:endParaRPr lang="en-US" sz="1200" dirty="0"/>
          </a:p>
        </p:txBody>
      </p:sp>
      <p:sp>
        <p:nvSpPr>
          <p:cNvPr id="4" name="Text 2"/>
          <p:cNvSpPr/>
          <p:nvPr/>
        </p:nvSpPr>
        <p:spPr>
          <a:xfrm>
            <a:off x="713232" y="713232"/>
            <a:ext cx="7315200" cy="256032"/>
          </a:xfrm>
          <a:prstGeom prst="rect">
            <a:avLst/>
          </a:prstGeom>
          <a:noFill/>
          <a:ln/>
        </p:spPr>
        <p:txBody>
          <a:bodyPr wrap="square" lIns="0" tIns="0" rIns="0" bIns="0" rtlCol="0" anchor="t"/>
          <a:lstStyle/>
          <a:p>
            <a:pPr marL="0" indent="0">
              <a:buNone/>
            </a:pPr>
            <a:r>
              <a:rPr lang="en-US" sz="1100" b="1" kern="0" spc="180" dirty="0">
                <a:solidFill>
                  <a:srgbClr val="E8D6C3"/>
                </a:solidFill>
                <a:latin typeface="Calibri" pitchFamily="34" charset="0"/>
                <a:ea typeface="Calibri" pitchFamily="34" charset="-122"/>
                <a:cs typeface="Calibri" pitchFamily="34" charset="-120"/>
              </a:rPr>
              <a:t>ZUM MITNEHMEN</a:t>
            </a:r>
            <a:endParaRPr lang="en-US" sz="1100" dirty="0"/>
          </a:p>
        </p:txBody>
      </p:sp>
      <p:sp>
        <p:nvSpPr>
          <p:cNvPr id="5" name="Text 3"/>
          <p:cNvSpPr/>
          <p:nvPr/>
        </p:nvSpPr>
        <p:spPr>
          <a:xfrm>
            <a:off x="713232" y="1417320"/>
            <a:ext cx="6949440" cy="2862072"/>
          </a:xfrm>
          <a:prstGeom prst="rect">
            <a:avLst/>
          </a:prstGeom>
          <a:noFill/>
          <a:ln/>
        </p:spPr>
        <p:txBody>
          <a:bodyPr wrap="square" lIns="0" tIns="0" rIns="0" bIns="0" rtlCol="0" anchor="t"/>
          <a:lstStyle/>
          <a:p>
            <a:pPr marL="0" indent="0">
              <a:buNone/>
            </a:pPr>
            <a:r>
              <a:rPr lang="en-US" sz="4400" b="1" dirty="0">
                <a:solidFill>
                  <a:srgbClr val="F6F0E7"/>
                </a:solidFill>
                <a:latin typeface="Georgia" pitchFamily="34" charset="0"/>
                <a:ea typeface="Georgia" pitchFamily="34" charset="-122"/>
                <a:cs typeface="Georgia" pitchFamily="34" charset="-120"/>
              </a:rPr>
              <a:t>Einpacken.</a:t>
            </a:r>
            <a:endParaRPr lang="en-US" sz="4400" dirty="0"/>
          </a:p>
          <a:p>
            <a:pPr marL="0" indent="0">
              <a:buNone/>
            </a:pPr>
            <a:r>
              <a:rPr lang="en-US" sz="4400" b="1" dirty="0">
                <a:solidFill>
                  <a:srgbClr val="F6F0E7"/>
                </a:solidFill>
                <a:latin typeface="Georgia" pitchFamily="34" charset="0"/>
                <a:ea typeface="Georgia" pitchFamily="34" charset="-122"/>
                <a:cs typeface="Georgia" pitchFamily="34" charset="-120"/>
              </a:rPr>
              <a:t>Weiterleiten.</a:t>
            </a:r>
            <a:endParaRPr lang="en-US" sz="4400" dirty="0"/>
          </a:p>
          <a:p>
            <a:pPr marL="0" indent="0">
              <a:buNone/>
            </a:pPr>
            <a:r>
              <a:rPr lang="en-US" sz="4400" b="1" dirty="0">
                <a:solidFill>
                  <a:srgbClr val="F6F0E7"/>
                </a:solidFill>
                <a:latin typeface="Georgia" pitchFamily="34" charset="0"/>
                <a:ea typeface="Georgia" pitchFamily="34" charset="-122"/>
                <a:cs typeface="Georgia" pitchFamily="34" charset="-120"/>
              </a:rPr>
              <a:t>Ergänzen.</a:t>
            </a:r>
            <a:endParaRPr lang="en-US" sz="4400" dirty="0"/>
          </a:p>
        </p:txBody>
      </p:sp>
      <p:sp>
        <p:nvSpPr>
          <p:cNvPr id="6" name="Text 4"/>
          <p:cNvSpPr/>
          <p:nvPr/>
        </p:nvSpPr>
        <p:spPr>
          <a:xfrm>
            <a:off x="749808" y="4892040"/>
            <a:ext cx="7360920" cy="1005840"/>
          </a:xfrm>
          <a:prstGeom prst="rect">
            <a:avLst/>
          </a:prstGeom>
          <a:noFill/>
          <a:ln/>
        </p:spPr>
        <p:txBody>
          <a:bodyPr wrap="square" lIns="0" tIns="0" rIns="0" bIns="0" rtlCol="0" anchor="t"/>
          <a:lstStyle/>
          <a:p>
            <a:pPr marL="0" indent="0">
              <a:buNone/>
            </a:pPr>
            <a:r>
              <a:rPr lang="en-US" sz="2500" dirty="0">
                <a:solidFill>
                  <a:srgbClr val="E8D6C3"/>
                </a:solidFill>
                <a:latin typeface="Calibri" pitchFamily="34" charset="0"/>
                <a:ea typeface="Calibri" pitchFamily="34" charset="-122"/>
                <a:cs typeface="Calibri" pitchFamily="34" charset="-120"/>
              </a:rPr>
              <a:t>Welche zusätzliche Funktion würdet ihr</a:t>
            </a:r>
            <a:endParaRPr lang="en-US" sz="2500" dirty="0"/>
          </a:p>
          <a:p>
            <a:pPr marL="0" indent="0">
              <a:buNone/>
            </a:pPr>
            <a:r>
              <a:rPr lang="en-US" sz="2500" dirty="0">
                <a:solidFill>
                  <a:srgbClr val="E8D6C3"/>
                </a:solidFill>
                <a:latin typeface="Calibri" pitchFamily="34" charset="0"/>
                <a:ea typeface="Calibri" pitchFamily="34" charset="-122"/>
                <a:cs typeface="Calibri" pitchFamily="34" charset="-120"/>
              </a:rPr>
              <a:t>als nächsten Dekorierer umsetzen?</a:t>
            </a:r>
            <a:endParaRPr lang="en-US" sz="2500" dirty="0"/>
          </a:p>
        </p:txBody>
      </p:sp>
      <p:sp>
        <p:nvSpPr>
          <p:cNvPr id="7" name="Shape 5"/>
          <p:cNvSpPr/>
          <p:nvPr/>
        </p:nvSpPr>
        <p:spPr>
          <a:xfrm>
            <a:off x="9921240" y="3145536"/>
            <a:ext cx="822960" cy="969264"/>
          </a:xfrm>
          <a:prstGeom prst="ellipse">
            <a:avLst/>
          </a:prstGeom>
          <a:solidFill>
            <a:srgbClr val="30241F">
              <a:alpha val="0"/>
            </a:srgbClr>
          </a:solidFill>
          <a:ln w="63500">
            <a:solidFill>
              <a:srgbClr val="E8D6C3"/>
            </a:solidFill>
            <a:prstDash val="solid"/>
          </a:ln>
        </p:spPr>
        <p:txBody>
          <a:bodyPr/>
          <a:lstStyle/>
          <a:p>
            <a:endParaRPr lang="de-DE"/>
          </a:p>
        </p:txBody>
      </p:sp>
      <p:sp>
        <p:nvSpPr>
          <p:cNvPr id="8" name="Shape 6"/>
          <p:cNvSpPr/>
          <p:nvPr/>
        </p:nvSpPr>
        <p:spPr>
          <a:xfrm>
            <a:off x="8412480" y="2743200"/>
            <a:ext cx="1737360" cy="1554480"/>
          </a:xfrm>
          <a:prstGeom prst="rect">
            <a:avLst/>
          </a:prstGeom>
          <a:solidFill>
            <a:srgbClr val="E8D6C3"/>
          </a:solidFill>
          <a:ln w="12700">
            <a:solidFill>
              <a:srgbClr val="E8D6C3"/>
            </a:solidFill>
            <a:prstDash val="solid"/>
          </a:ln>
        </p:spPr>
        <p:txBody>
          <a:bodyPr/>
          <a:lstStyle/>
          <a:p>
            <a:endParaRPr lang="de-DE"/>
          </a:p>
        </p:txBody>
      </p:sp>
      <p:sp>
        <p:nvSpPr>
          <p:cNvPr id="9" name="Shape 7"/>
          <p:cNvSpPr/>
          <p:nvPr/>
        </p:nvSpPr>
        <p:spPr>
          <a:xfrm>
            <a:off x="8558784" y="2944368"/>
            <a:ext cx="1444752" cy="228600"/>
          </a:xfrm>
          <a:prstGeom prst="rect">
            <a:avLst/>
          </a:prstGeom>
          <a:solidFill>
            <a:srgbClr val="A75B2A"/>
          </a:solidFill>
          <a:ln w="12700">
            <a:solidFill>
              <a:srgbClr val="A75B2A"/>
            </a:solidFill>
            <a:prstDash val="solid"/>
          </a:ln>
        </p:spPr>
        <p:txBody>
          <a:bodyPr/>
          <a:lstStyle/>
          <a:p>
            <a:endParaRPr lang="de-DE"/>
          </a:p>
        </p:txBody>
      </p:sp>
      <p:sp>
        <p:nvSpPr>
          <p:cNvPr id="10" name="Shape 8"/>
          <p:cNvSpPr/>
          <p:nvPr/>
        </p:nvSpPr>
        <p:spPr>
          <a:xfrm>
            <a:off x="8247888" y="4443984"/>
            <a:ext cx="2103120" cy="73152"/>
          </a:xfrm>
          <a:prstGeom prst="rect">
            <a:avLst/>
          </a:prstGeom>
          <a:solidFill>
            <a:srgbClr val="A75B2A"/>
          </a:solidFill>
          <a:ln w="12700">
            <a:solidFill>
              <a:srgbClr val="A75B2A"/>
            </a:solidFill>
            <a:prstDash val="solid"/>
          </a:ln>
        </p:spPr>
        <p:txBody>
          <a:bodyPr/>
          <a:lstStyle/>
          <a:p>
            <a:endParaRPr lang="de-DE"/>
          </a:p>
        </p:txBody>
      </p:sp>
      <p:sp>
        <p:nvSpPr>
          <p:cNvPr id="11" name="Shape 9"/>
          <p:cNvSpPr/>
          <p:nvPr/>
        </p:nvSpPr>
        <p:spPr>
          <a:xfrm rot="5400000">
            <a:off x="8595360" y="2029968"/>
            <a:ext cx="365760" cy="457200"/>
          </a:xfrm>
          <a:prstGeom prst="arc">
            <a:avLst/>
          </a:prstGeom>
          <a:noFill/>
          <a:ln w="25400">
            <a:solidFill>
              <a:srgbClr val="E8D6C3"/>
            </a:solidFill>
            <a:prstDash val="solid"/>
          </a:ln>
        </p:spPr>
        <p:txBody>
          <a:bodyPr/>
          <a:lstStyle/>
          <a:p>
            <a:endParaRPr lang="de-DE"/>
          </a:p>
        </p:txBody>
      </p:sp>
      <p:sp>
        <p:nvSpPr>
          <p:cNvPr id="12" name="Shape 10"/>
          <p:cNvSpPr/>
          <p:nvPr/>
        </p:nvSpPr>
        <p:spPr>
          <a:xfrm rot="5400000">
            <a:off x="9098280" y="2029968"/>
            <a:ext cx="365760" cy="457200"/>
          </a:xfrm>
          <a:prstGeom prst="arc">
            <a:avLst/>
          </a:prstGeom>
          <a:noFill/>
          <a:ln w="25400">
            <a:solidFill>
              <a:srgbClr val="E8D6C3"/>
            </a:solidFill>
            <a:prstDash val="solid"/>
          </a:ln>
        </p:spPr>
        <p:txBody>
          <a:bodyPr/>
          <a:lstStyle/>
          <a:p>
            <a:endParaRPr lang="de-DE"/>
          </a:p>
        </p:txBody>
      </p:sp>
      <p:sp>
        <p:nvSpPr>
          <p:cNvPr id="13" name="Shape 11"/>
          <p:cNvSpPr/>
          <p:nvPr/>
        </p:nvSpPr>
        <p:spPr>
          <a:xfrm rot="5400000">
            <a:off x="9601200" y="2029968"/>
            <a:ext cx="365760" cy="457200"/>
          </a:xfrm>
          <a:prstGeom prst="arc">
            <a:avLst/>
          </a:prstGeom>
          <a:noFill/>
          <a:ln w="25400">
            <a:solidFill>
              <a:srgbClr val="E8D6C3"/>
            </a:solidFill>
            <a:prstDash val="solid"/>
          </a:ln>
        </p:spPr>
        <p:txBody>
          <a:bodyPr/>
          <a:lstStyle/>
          <a:p>
            <a:endParaRPr lang="de-D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2d1c7476-f302-47ca-97a0-972f32671471}" enabled="1" method="Standard" siteId="{72e15514-5be9-46a8-8b0b-af9b1b77b3b8}" contentBits="0" removed="0"/>
</clbl:labelList>
</file>

<file path=docProps/app.xml><?xml version="1.0" encoding="utf-8"?>
<Properties xmlns="http://schemas.openxmlformats.org/officeDocument/2006/extended-properties" xmlns:vt="http://schemas.openxmlformats.org/officeDocument/2006/docPropsVTypes">
  <TotalTime>0</TotalTime>
  <Words>1683</Words>
  <Application>Microsoft Office PowerPoint</Application>
  <PresentationFormat>Breitbild</PresentationFormat>
  <Paragraphs>273</Paragraphs>
  <Slides>17</Slides>
  <Notes>17</Notes>
  <HiddenSlides>1</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17</vt:i4>
      </vt:variant>
    </vt:vector>
  </HeadingPairs>
  <TitlesOfParts>
    <vt:vector size="22" baseType="lpstr">
      <vt:lpstr>Arial</vt:lpstr>
      <vt:lpstr>Calibri</vt:lpstr>
      <vt:lpstr>Consolas</vt:lpstr>
      <vt:lpstr>Georgia</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Decorator-Muster – Kaffee mit Zusätzen</dc:title>
  <dc:subject>Java-Demo und Python-Klassenübung</dc:subject>
  <dc:creator>Decorator-Lernprojekt</dc:creator>
  <cp:keywords/>
  <dc:description>generated using python-pptx</dc:description>
  <cp:lastModifiedBy>NAMSLER, NICO</cp:lastModifiedBy>
  <cp:revision>5</cp:revision>
  <dcterms:created xsi:type="dcterms:W3CDTF">2013-01-27T09:14:16Z</dcterms:created>
  <dcterms:modified xsi:type="dcterms:W3CDTF">2026-10-28T10:08:11Z</dcterms:modified>
  <cp:category/>
</cp:coreProperties>
</file>